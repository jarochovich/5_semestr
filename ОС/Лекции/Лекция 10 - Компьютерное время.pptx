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322" r:id="rId3"/>
    <p:sldId id="2176" r:id="rId4"/>
    <p:sldId id="2371" r:id="rId5"/>
    <p:sldId id="2372" r:id="rId6"/>
    <p:sldId id="2373" r:id="rId7"/>
    <p:sldId id="2374" r:id="rId8"/>
    <p:sldId id="2375" r:id="rId9"/>
    <p:sldId id="2376" r:id="rId10"/>
    <p:sldId id="2377" r:id="rId11"/>
    <p:sldId id="2379" r:id="rId12"/>
    <p:sldId id="2378" r:id="rId13"/>
    <p:sldId id="2385" r:id="rId14"/>
    <p:sldId id="2380" r:id="rId15"/>
    <p:sldId id="2381" r:id="rId16"/>
    <p:sldId id="2382" r:id="rId17"/>
    <p:sldId id="2384" r:id="rId18"/>
    <p:sldId id="2386" r:id="rId19"/>
    <p:sldId id="2387" r:id="rId20"/>
    <p:sldId id="2388" r:id="rId21"/>
    <p:sldId id="2389" r:id="rId22"/>
    <p:sldId id="2390" r:id="rId23"/>
    <p:sldId id="2391" r:id="rId24"/>
    <p:sldId id="2392" r:id="rId25"/>
    <p:sldId id="2393" r:id="rId26"/>
    <p:sldId id="2394" r:id="rId27"/>
    <p:sldId id="2395" r:id="rId28"/>
    <p:sldId id="2396" r:id="rId29"/>
    <p:sldId id="2397" r:id="rId30"/>
    <p:sldId id="2398" r:id="rId31"/>
    <p:sldId id="2399" r:id="rId32"/>
    <p:sldId id="2400" r:id="rId33"/>
    <p:sldId id="2401" r:id="rId34"/>
    <p:sldId id="2402" r:id="rId35"/>
    <p:sldId id="2403" r:id="rId36"/>
    <p:sldId id="2404" r:id="rId37"/>
    <p:sldId id="2405" r:id="rId38"/>
    <p:sldId id="2406" r:id="rId39"/>
    <p:sldId id="2407" r:id="rId40"/>
    <p:sldId id="2408" r:id="rId41"/>
    <p:sldId id="2409" r:id="rId42"/>
    <p:sldId id="2411" r:id="rId43"/>
    <p:sldId id="2410" r:id="rId44"/>
    <p:sldId id="2412" r:id="rId45"/>
    <p:sldId id="2413" r:id="rId46"/>
    <p:sldId id="2414" r:id="rId47"/>
    <p:sldId id="2429" r:id="rId48"/>
    <p:sldId id="2433" r:id="rId49"/>
    <p:sldId id="2434" r:id="rId50"/>
    <p:sldId id="2425" r:id="rId51"/>
    <p:sldId id="2435" r:id="rId52"/>
    <p:sldId id="2436" r:id="rId53"/>
    <p:sldId id="2437" r:id="rId54"/>
    <p:sldId id="2438" r:id="rId55"/>
    <p:sldId id="2439" r:id="rId56"/>
    <p:sldId id="2440" r:id="rId57"/>
    <p:sldId id="2441" r:id="rId58"/>
    <p:sldId id="2442" r:id="rId59"/>
    <p:sldId id="2431" r:id="rId60"/>
    <p:sldId id="2415" r:id="rId61"/>
    <p:sldId id="2416" r:id="rId62"/>
    <p:sldId id="2430" r:id="rId63"/>
    <p:sldId id="2420" r:id="rId64"/>
    <p:sldId id="2419" r:id="rId65"/>
    <p:sldId id="2443" r:id="rId66"/>
    <p:sldId id="2417" r:id="rId67"/>
    <p:sldId id="2418" r:id="rId68"/>
    <p:sldId id="2444" r:id="rId69"/>
    <p:sldId id="2421" r:id="rId70"/>
    <p:sldId id="2422" r:id="rId71"/>
    <p:sldId id="2445" r:id="rId72"/>
    <p:sldId id="2447" r:id="rId73"/>
    <p:sldId id="2426" r:id="rId74"/>
    <p:sldId id="2450" r:id="rId75"/>
    <p:sldId id="2446" r:id="rId76"/>
    <p:sldId id="2452" r:id="rId77"/>
    <p:sldId id="2453" r:id="rId78"/>
    <p:sldId id="2454" r:id="rId79"/>
    <p:sldId id="2455" r:id="rId80"/>
    <p:sldId id="2451" r:id="rId81"/>
    <p:sldId id="2448" r:id="rId82"/>
    <p:sldId id="2449" r:id="rId83"/>
    <p:sldId id="2423" r:id="rId84"/>
    <p:sldId id="2473" r:id="rId85"/>
    <p:sldId id="2457" r:id="rId86"/>
    <p:sldId id="2458" r:id="rId87"/>
    <p:sldId id="2459" r:id="rId88"/>
    <p:sldId id="2460" r:id="rId89"/>
    <p:sldId id="2461" r:id="rId90"/>
    <p:sldId id="2462" r:id="rId91"/>
    <p:sldId id="2463" r:id="rId92"/>
    <p:sldId id="2464" r:id="rId93"/>
    <p:sldId id="2465" r:id="rId94"/>
    <p:sldId id="2466" r:id="rId95"/>
    <p:sldId id="2467" r:id="rId96"/>
    <p:sldId id="2468" r:id="rId97"/>
    <p:sldId id="2469" r:id="rId98"/>
    <p:sldId id="2470" r:id="rId99"/>
    <p:sldId id="2471" r:id="rId100"/>
    <p:sldId id="2472" r:id="rId101"/>
    <p:sldId id="2369" r:id="rId10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176"/>
            <p14:sldId id="2371"/>
            <p14:sldId id="2372"/>
            <p14:sldId id="2373"/>
            <p14:sldId id="2374"/>
            <p14:sldId id="2375"/>
            <p14:sldId id="2376"/>
            <p14:sldId id="2377"/>
            <p14:sldId id="2379"/>
            <p14:sldId id="2378"/>
            <p14:sldId id="2385"/>
            <p14:sldId id="2380"/>
            <p14:sldId id="2381"/>
            <p14:sldId id="2382"/>
            <p14:sldId id="2384"/>
            <p14:sldId id="2386"/>
            <p14:sldId id="2387"/>
            <p14:sldId id="2388"/>
            <p14:sldId id="2389"/>
            <p14:sldId id="2390"/>
            <p14:sldId id="2391"/>
            <p14:sldId id="2392"/>
            <p14:sldId id="2393"/>
            <p14:sldId id="2394"/>
            <p14:sldId id="2395"/>
            <p14:sldId id="2396"/>
            <p14:sldId id="2397"/>
            <p14:sldId id="2398"/>
            <p14:sldId id="2399"/>
            <p14:sldId id="2400"/>
            <p14:sldId id="2401"/>
            <p14:sldId id="2402"/>
            <p14:sldId id="2403"/>
            <p14:sldId id="2404"/>
            <p14:sldId id="2405"/>
            <p14:sldId id="2406"/>
            <p14:sldId id="2407"/>
            <p14:sldId id="2408"/>
            <p14:sldId id="2409"/>
            <p14:sldId id="2411"/>
            <p14:sldId id="2410"/>
            <p14:sldId id="2412"/>
            <p14:sldId id="2413"/>
            <p14:sldId id="2414"/>
            <p14:sldId id="2429"/>
            <p14:sldId id="2433"/>
            <p14:sldId id="2434"/>
            <p14:sldId id="2425"/>
            <p14:sldId id="2435"/>
            <p14:sldId id="2436"/>
            <p14:sldId id="2437"/>
            <p14:sldId id="2438"/>
            <p14:sldId id="2439"/>
            <p14:sldId id="2440"/>
            <p14:sldId id="2441"/>
            <p14:sldId id="2442"/>
            <p14:sldId id="2431"/>
            <p14:sldId id="2415"/>
            <p14:sldId id="2416"/>
            <p14:sldId id="2430"/>
            <p14:sldId id="2420"/>
            <p14:sldId id="2419"/>
            <p14:sldId id="2443"/>
            <p14:sldId id="2417"/>
            <p14:sldId id="2418"/>
            <p14:sldId id="2444"/>
            <p14:sldId id="2421"/>
            <p14:sldId id="2422"/>
            <p14:sldId id="2445"/>
            <p14:sldId id="2447"/>
            <p14:sldId id="2426"/>
            <p14:sldId id="2450"/>
            <p14:sldId id="2446"/>
            <p14:sldId id="2452"/>
            <p14:sldId id="2453"/>
            <p14:sldId id="2454"/>
            <p14:sldId id="2455"/>
            <p14:sldId id="2451"/>
            <p14:sldId id="2448"/>
            <p14:sldId id="2449"/>
            <p14:sldId id="2423"/>
            <p14:sldId id="2473"/>
            <p14:sldId id="2457"/>
            <p14:sldId id="2458"/>
            <p14:sldId id="2459"/>
            <p14:sldId id="2460"/>
            <p14:sldId id="2461"/>
            <p14:sldId id="2462"/>
            <p14:sldId id="2463"/>
            <p14:sldId id="2464"/>
            <p14:sldId id="2465"/>
            <p14:sldId id="2466"/>
            <p14:sldId id="2467"/>
            <p14:sldId id="2468"/>
            <p14:sldId id="2469"/>
            <p14:sldId id="2470"/>
            <p14:sldId id="2471"/>
            <p14:sldId id="2472"/>
            <p14:sldId id="2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53" autoAdjust="0"/>
  </p:normalViewPr>
  <p:slideViewPr>
    <p:cSldViewPr snapToGrid="0">
      <p:cViewPr varScale="1">
        <p:scale>
          <a:sx n="72" d="100"/>
          <a:sy n="72" d="100"/>
        </p:scale>
        <p:origin x="10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8572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https://pubs.opengroup.org/onlinepubs/9799919799/functions/clock_getres.html</a:t>
            </a:r>
            <a:endParaRPr lang="ru-RU" dirty="0"/>
          </a:p>
          <a:p>
            <a:r>
              <a:rPr lang="en-US" dirty="0"/>
              <a:t>https://pubs.opengroup.org/onlinepubs/9799919799/functions/timer_create.html</a:t>
            </a:r>
            <a:endParaRPr lang="ru-RU" dirty="0"/>
          </a:p>
          <a:p>
            <a:r>
              <a:rPr lang="en-US" dirty="0"/>
              <a:t>https://pubs.opengroup.org/onlinepubs/9799919799/functions/timer_delete.html</a:t>
            </a:r>
            <a:endParaRPr lang="ru-RU" dirty="0"/>
          </a:p>
          <a:p>
            <a:r>
              <a:rPr lang="en-US" dirty="0"/>
              <a:t>https://pubs.opengroup.org/onlinepubs/9799919799/functions/timer_getoverrun.html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2971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systemti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win32/api/minwinbase/ns-minwinbase-systemtime" TargetMode="External"/><Relationship Id="rId4" Type="http://schemas.openxmlformats.org/officeDocument/2006/relationships/hyperlink" Target="https://learn.microsoft.com/en-us/windows/win32/api/sysinfoapi/nf-sysinfoapi-setsystemtime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setlocaltime" TargetMode="External"/><Relationship Id="rId2" Type="http://schemas.openxmlformats.org/officeDocument/2006/relationships/hyperlink" Target="https://learn.microsoft.com/en-us/windows/win32/api/sysinfoapi/nf-sysinfoapi-getlocaltime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desktop/api/FileAPI/nf-fileapi-getfiletime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FileAPI/nf-fileapi-comparefiletime" TargetMode="External"/><Relationship Id="rId2" Type="http://schemas.openxmlformats.org/officeDocument/2006/relationships/hyperlink" Target="https://learn.microsoft.com/en-us/windows/desktop/api/FileAPI/nf-fileapi-setfiletime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win32/api/timezoneapi/nf-timezoneapi-systemtimetofileti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minwinbase/ns-minwinbase-systemtime" TargetMode="External"/><Relationship Id="rId5" Type="http://schemas.openxmlformats.org/officeDocument/2006/relationships/hyperlink" Target="https://learn.microsoft.com/en-us/windows/win32/api/timezoneapi/nf-timezoneapi-filetimetosystemtime" TargetMode="External"/><Relationship Id="rId4" Type="http://schemas.openxmlformats.org/officeDocument/2006/relationships/hyperlink" Target="https://learn.microsoft.com/en-us/windows/win32/api/sysinfoapi/nf-sysinfoapi-getsystemtimeasfiletime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tickcount64" TargetMode="External"/><Relationship Id="rId2" Type="http://schemas.openxmlformats.org/officeDocument/2006/relationships/hyperlink" Target="https://learn.microsoft.com/en-us/windows/win32/api/sysinfoapi/nf-sysinfoapi-gettickcount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desktop/api/realtimeapiset/nf-realtimeapiset-queryunbiasedinterrupttime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interrupttimeprecise" TargetMode="External"/><Relationship Id="rId2" Type="http://schemas.openxmlformats.org/officeDocument/2006/relationships/hyperlink" Target="https://learn.microsoft.com/en-us/windows/desktop/api/realtimeapiset/nf-realtimeapiset-queryinterrupttim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desktop/api/realtimeapiset/nf-realtimeapiset-queryunbiasedinterrupttimeprecise" TargetMode="External"/><Relationship Id="rId4" Type="http://schemas.openxmlformats.org/officeDocument/2006/relationships/hyperlink" Target="https://learn.microsoft.com/en-us/windows/win32/api/realtimeapiset/nf-realtimeapiset-queryunbiasedinterrupttime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processcycletime" TargetMode="External"/><Relationship Id="rId2" Type="http://schemas.openxmlformats.org/officeDocument/2006/relationships/hyperlink" Target="https://learn.microsoft.com/en-us/windows/win32/api/processthreadsapi/nf-processthreadsapi-getprocesstim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windows/win32/api/realtimeapiset/nf-realtimeapiset-querythreadcycletime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tim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s.opengroup.org/onlinepubs/9799919799/functions/gmtime.html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gmtime.html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mktime.html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asctime.html" TargetMode="External"/><Relationship Id="rId2" Type="http://schemas.openxmlformats.org/officeDocument/2006/relationships/hyperlink" Target="https://pubs.opengroup.org/onlinepubs/9799919799/functions/ctime.html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strftime.html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createwaitabletimerexw" TargetMode="External"/><Relationship Id="rId7" Type="http://schemas.openxmlformats.org/officeDocument/2006/relationships/hyperlink" Target="https://learn.microsoft.com/en-us/windows/win32/api/handleapi/nf-handleapi-closehandle" TargetMode="External"/><Relationship Id="rId2" Type="http://schemas.openxmlformats.org/officeDocument/2006/relationships/hyperlink" Target="https://learn.microsoft.com/en-us/windows/win32/api/synchapi/nf-synchapi-createwaitabletimer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synchapi/nf-synchapi-cancelwaitabletimer" TargetMode="External"/><Relationship Id="rId5" Type="http://schemas.openxmlformats.org/officeDocument/2006/relationships/hyperlink" Target="https://learn.microsoft.com/en-us/windows/win32/api/synchapi/nf-synchapi-setwaitabletimer" TargetMode="External"/><Relationship Id="rId4" Type="http://schemas.openxmlformats.org/officeDocument/2006/relationships/hyperlink" Target="https://learn.microsoft.com/en-us/windows/win32/api/synchapi/nf-synchapi-openwaitabletimerw" TargetMode="Externa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Эталоны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Нелинейность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пояса. Локальное время 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Аппаратная поддержка часов в современных ЭВМ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для работы со временем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Ожидающие таймеры</a:t>
            </a: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упоминали различные ресурсы системы за которые сражаются все участники нашей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сколько бы мы не говорили об одном из них – мы никогда не делали прямого акцента и как вы уже могли понять из названия нашей лекции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видим его когда используем систему, мы сравниваем результаты работы нашей системы используя 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что такое время? И как современные ЭВМ представляют себе его? Что такое 1 секунда для компьютера?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Вот давайте и попробуем узнать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201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3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Естественно сначала познакомимся с тем что такое время в целом и какова его история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метрологии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физическая величина, одна из семи основных величин Международной системы величин (ISQ), а единица измерения времени «секунда» – одна из семи основных единиц в Международной системе единиц (СИ)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характеризуется своей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однонаправленностью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одномерностью, наличием ряда свойств симметрии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7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Первые часы или были связаны с солнцем, или основывались на физических процессах известной длительности (горение свечи, вытекание воды). По принципу водяных часов работают и песочные часы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Механические часы подсчитывали количество колебаний маятника или балансира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электрических часах маятник раскачивался электромагнитом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Электронные часы отображают время посредством светодиодных или ЖКИ-индикаторов.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электронные часы встроены почти в любую технику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5600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07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973F079-2185-13A7-86BD-0662DC58E27C}"/>
              </a:ext>
            </a:extLst>
          </p:cNvPr>
          <p:cNvGrpSpPr/>
          <p:nvPr/>
        </p:nvGrpSpPr>
        <p:grpSpPr>
          <a:xfrm>
            <a:off x="330708" y="2842570"/>
            <a:ext cx="11530584" cy="2142125"/>
            <a:chOff x="477012" y="2842570"/>
            <a:chExt cx="11530584" cy="2142125"/>
          </a:xfrm>
        </p:grpSpPr>
        <p:pic>
          <p:nvPicPr>
            <p:cNvPr id="2" name="Рисунок 3">
              <a:extLst>
                <a:ext uri="{FF2B5EF4-FFF2-40B4-BE49-F238E27FC236}">
                  <a16:creationId xmlns:a16="http://schemas.microsoft.com/office/drawing/2014/main" id="{A0345301-4E14-675D-E4AB-EA06C310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8837" y="2842570"/>
              <a:ext cx="1047750" cy="2095500"/>
            </a:xfrm>
            <a:prstGeom prst="rect">
              <a:avLst/>
            </a:prstGeom>
          </p:spPr>
        </p:pic>
        <p:pic>
          <p:nvPicPr>
            <p:cNvPr id="4" name="Рисунок 4">
              <a:extLst>
                <a:ext uri="{FF2B5EF4-FFF2-40B4-BE49-F238E27FC236}">
                  <a16:creationId xmlns:a16="http://schemas.microsoft.com/office/drawing/2014/main" id="{DB0AA1C1-D7A2-3BC2-6367-986A4976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12" y="3165875"/>
              <a:ext cx="1902505" cy="1772196"/>
            </a:xfrm>
            <a:prstGeom prst="rect">
              <a:avLst/>
            </a:prstGeom>
          </p:spPr>
        </p:pic>
        <p:pic>
          <p:nvPicPr>
            <p:cNvPr id="5" name="Рисунок 5">
              <a:extLst>
                <a:ext uri="{FF2B5EF4-FFF2-40B4-BE49-F238E27FC236}">
                  <a16:creationId xmlns:a16="http://schemas.microsoft.com/office/drawing/2014/main" id="{E166C398-5EF1-40D5-3AE9-A13F64F5A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3898" y="2842570"/>
              <a:ext cx="1587839" cy="2099045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155BC215-98DF-0AC4-F0C2-B529703C6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104" y="2865881"/>
              <a:ext cx="1051186" cy="2095501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DA00A966-9EBA-E938-52DC-87E0AA744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048" y="2842570"/>
              <a:ext cx="1064559" cy="20955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9BE6E0-DD66-5738-D38B-9553D01F4703}"/>
                </a:ext>
              </a:extLst>
            </p:cNvPr>
            <p:cNvSpPr txBox="1"/>
            <p:nvPr/>
          </p:nvSpPr>
          <p:spPr>
            <a:xfrm>
              <a:off x="10733967" y="2842570"/>
              <a:ext cx="1273629" cy="2142125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lIns="182880" tIns="146304" rIns="182880" bIns="146304" rtlCol="0">
              <a:spAutoFit/>
            </a:bodyPr>
            <a:lstStyle>
              <a:defPPr>
                <a:defRPr lang="en-US"/>
              </a:defPPr>
              <a:lvl1pPr marL="0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371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32742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9113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65484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3185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9822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64597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730969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</a:pP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Здесь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могли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быть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Ваши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часы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конечно всё хорошо, но хоть все эти процессы имели известный промежуток своего выполнения, так ли эквивалентны между собой были свечи или песок в двух разных часах?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целом мы понимаем, что время как физическая величина определяется периодическими процессами в некой системе отсчёта, шкала времени которой может быть как неравномерной (процесс вращения Земли вокруг Солнца или человеческий пульс), так и равномерной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древности точное время определялось путём астрономических наблюдений. Но в XX веке развитие науки привело к тому, что техническими средствами стало возможно обеспечить измерение времени с большей точностью, чем из астрономических наблюдений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305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20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1964 году Международный комитет мер и весов в качестве эталона времени принял атомные цезиевые часы. Теперь сигналы точного времени, передаваемые по радио, соответствуют «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атомному времени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Ежедневное вращение Земли нерегулярно и постоянно замедляется, поэтому атомные часы представляют собой гораздо более стабильную временную базу. Основанный на них стандарт UTC почти в миллион раз точнее астрономического среднего времени по Гринвичу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Эталон секунды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9 192 631 770 периодов излучения, соответствующего переходу между двумя сверхтонкими уровнями основного состояния атома цезия-133 при отсутствии возмущения внешними полями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1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Окей, атомное время это круто, но всё  так просто. Подобная шкала измерения времени к сожалению не единственна</a:t>
            </a:r>
          </a:p>
          <a:p>
            <a:pPr marL="0" indent="0">
              <a:buNone/>
            </a:pP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ephemeris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(ET) – равномерная шкала времени, основанная на определении секунды, введённом в 1952 году на 8-м съезде Международного астрономического союза, которое не зависит от изменяющейся скорости вращения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1956 году Генеральной конференцией по мерам и весам (CGPM) это определение было рекомендовано к использованию, а в 1960 году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секунда была принята за основную единицу времени в Международной системе единиц СИ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404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69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1984 года шкала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ЕТ заменена двумя шкалами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DT: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TDT, равное по масштабу ET, отнесено к центру масс Земли и служит независимым аргументом видимых геоцентрических эфемерид, в том числе при определении эфемерид ИСЗ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TDB, которое учитывает движение центра масс Солнца вокруг центра масс всей Солнечной системы (барицентра Солнечной системы). Отнесено к барицентру Солнечной системы и является аргументом дифференциальных уравнений всех гравитационных теорий движения тел Солнечной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07277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период 1991-2006 гг. из-за сложностей и несогласованностей базовых определений шкалы TDB и TDT были переопределены и заменены, соответственно,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(TCG)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(TCB), которые и применяются в настоящее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шкалы отражают темп времени, скорректированного в соответствии с общей теорией относительности к часам, покоящимся относительно соответствующей нуль-точки вне гравитационного колодца Земли и Солнечной системы, соответственно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6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учёта этого обстоятельства определена также шкала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Terrestrial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Time, TT), заменяющая TDT и выводимая как такое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TCG, чтобы TT давала среднюю длительность секунды, совпадающую с секундой атомного времени TAI, а также переопределена шкала Барицентрического динамического времени (TDB) как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TCB с аналогичными свойствами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фиксированную разницу в точках отсчёта: TT опережает TAI на 32,184 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43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(ТТ)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современный астрономический стандарт, разработанный Международным астрономическим союзом для определения времени астрономических наблюдений, сделанных с поверхности Земли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является наследником динамического времени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отличается от шкалы времени, используемого для повседневного применения (UTC)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Единица времени TT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секунды в системе СИ, основанные на стандарте цезиевых атомных часов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198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(TAI)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время, в основу измерения которого положены электромагнитные излучения, излучаемые атомами или молекулами при переходе из одного энергетического состояния в другое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Масштаб системы TAI принят равным масштабу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(ЕТ), то есть атомные часы есть физическое воспроизведение шкалы 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Точность воспроизведения до 2⋅10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Неудобно для астрономических вычислений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908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UT (Universal Time)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шкала времени, основанная на вращении Земли. Всемирное время является современной заменой среднего времени по Гринвичу (GMT), которое сейчас иногда некорректно используется в качестве синонима для всемирного координированного времени (UTC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введено 1 января 1925 года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версии всемирного времени основаны на вращении Земли относительно далёких небесных объектов (звёзд и квазаров)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несколько версий всемирного времени. Приведем здесь только две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2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основная версия всемирного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концептуально это местное среднее солнечное время на долготе 0°, но измерения среднего Солнца трудноосуществимы, поэтому UT1 вычисляется пропорционально углу вращения Земли относительно квазаров, а точнее, относительно международной небесной системы координат (ICRS)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88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координированное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атомная шкала времени, аппроксимирующая UT1.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международный стандарт, на котором базируется время часовых поясов. В UTC в качестве единицы времени используется секунда СИ, поэтому UTC идёт синхронно с международным атомным временем (TAI)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в сутках UTC 86 400 секунд СИ, но для поддержания расхождения UTC и UT1 не более чем 0,9 с, при необходимости, 30 июня или 31 декабря добавляется секунда координации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3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высокоточный стандарт атомного координатного времени, основанный на воображаемом прохождении собственного времени на геоиде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средневзвешенное значение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времени, которое показывают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более 450 атомных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более чем 80 национальных лабораториях по всему миру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непрерывная шкала времени, без дополнительных секунд, и это основная реализация земного времени (с фиксированным смещением эпохи)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основа всемирного координированного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(UTC), которое используется для гражданского времени на всей поверхности Земли и имеет дополнительные 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2194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37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отклоняется от TAI на несколько целых секунд. По состоянию на 1 января 2017 года, когда была введена в силу еще одна дополнительная секунда, UTC в настоящее время отстает от TAI ровно на 37 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37 секунд являются результатом первоначальной разницы в 10 секунд в начале 1972 года плюс 27 дополнительных секунд по UTC с 1972 года.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можно получить с использованием традиционных средств указания дней, перенесенных из неоднородных стандартов времени, основанных на вращении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частности, используются как юлианские дни, так и григорианский календарь. TAI в этой форме был синхронизирован со Всемирным временем в начале 1958 года, и с тех пор они разошлись, главным образом из-за замедления вращения Земли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46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TAI, UTC представляет собой прерывистую шкалу времени. Иногда его корректируют на дополнительные секунды. Между этими корректировками он состоит из сегментов, которые сопоставлены с атомным временем постоянным смещением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момента своего создания в 1961 году по декабрь 1971 года корректировки производились регулярно с долями дополнительных секунд, так что UTC приближалось к UT2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Впоследствии эти корректировки производились только за целые секунды, чтобы приблизиться к UT1. Это было компромиссное соглашение, позволяющее обеспечить публичную трансляцию временной шкалы. Менее частые корректировки с точностью до целой секунды означали, что шкала времени будет более стабильной и ее будет легче синхронизировать на международном уровне. Тот факт, что он продолжает приближаться к UT1, означает, что такие задачи, как навигация, требующие источника всемирного времени, по-прежнему хорошо выполняются общественным вещанием UTC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84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3971545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ΔT – это разница между идеальным равномерно текущим временем и «временем», определённым по вращению Земли (которое замедляется, причём неравномерно)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Причины замедления вращения Земли: приливное трение, последствия таяния материкового ледникового щита (распрямление и поднятие коры в приполярных областях) и другие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00799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Разница между земным и </a:t>
                      </a:r>
                      <a:r>
                        <a:rPr lang="ru-RU" sz="3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эфемеридным</a:t>
                      </a: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B35DC985-E21C-ED32-5B3A-DC8300EF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71" y="1319427"/>
            <a:ext cx="6775451" cy="50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концепция понимания времени в социальных науках и философии. Этот термин в 1937 году предложили эмигрировавший в США из России социолог Питирим Сорокин и профессор Колумбийского университета Роберт Мертон. Сегодня их исследования стали классикой социологии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отличается от астрономического. В его основе лежат не циклы движения планет и звёзд, а изменения в обществе, происходящие по воле человека. То есть измеряется оно не единицами продолжительности (минута, час, год), а такими абстрактными мерами, как эпоха, поколение, жизнь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619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29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отражает не то, сколько длится событие, а то, как ощущается его продолжительность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полуторачасовая лекция может казаться нам невыносимо долгой, а вся прожитая до этого момента жизнь – мгновением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Из‑за этого социальное время часто соотносят с психологическим – индивидуальным восприятием длительности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социальное время, как считают исследователи, – это ещё и «время общества» – реакция на поток происходящих событий в границах какой‑то страны, сообщества или семьи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17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Прогресс приводит к тому, что плотность событий на один промежуток астрономического времени значительно возрастает. Однако само время при этом течёт точно так же. Чем больше событий происходит, тем больше информации поступает в мозг человека, в результате растёт нагрузка на него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Человек постоянно находится в режиме многозадачности и необходимости соблюдать дедлайны. Перерывы в восприятии информации сокращаются или вообще сходят на нет. Мы вынуждены отказываться от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времязатратных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мероприятий в пользу тех, что экономят минуты и часы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64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Ускорение социального времени рождает один из парадоксов современности: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развитие общества и технологий по идее должно было освободить для нас некоторое количество времени, но при этом ощущение его нехватки растёт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Современный человек вынужден всё делать на бегу и под непрерывной бомбардировкой огромных объёмов данных. Особая роль здесь принадлежит информационному шуму – большинство сообщений из внешнего мира для нас не важны или имеют малую значимость, поэтому мозгу приходится их фильтровать. Нам нужно принимать решения, совершать действия и делать это максимально быстро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30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делать?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Успокойтесь: успеть всё на свете нереально, и в чём‑то опоздать – это нормально. В выходные обойдитесь без дедлайнов, отдохните от нехватки времени. Постарайтесь меньше заглядывать в интернет. Сходите погулять – именно погулять, а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пофотографироваться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Instagram. Займитесь хобби: например, поиграйте на гитаре или поучитесь этому, если давно хотели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Найдите способ эффективно распределять время в будни. Например, можно научиться концентрироваться на главном. Да и в целом попробуйте отказываться от всего лишнего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Поменьше читайте новости и ленты социальных сетей. У вас своя жизнь, сосредоточьтесь на ней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Применяйте техники тайм‑менеджмента и повышения продуктивности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186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можно понять из всех этих шкал - невозможно измерять время на протяжении больших длительностей времени так же просто, как измеряется расстояние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(UT) является шкалой времени, основанной на суточном вращении Земли, которое не вполне равномерно на относительно коротких интервалах времени (от дней до столетий), и поэтому любые измерения времени, основанные на такой шкале, не могут иметь точность лучше, чем 10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−8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согласования всемирного координированного времени (UTC) со средним солнечным временем UT1 в его шкалу иногда добавляется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 координации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91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396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24 февраля 1582 года Папа Римский Григорий XIII издал буллу о переходе на новый, астрономически более верный календарь, который стали именовать «григорианским» в отличие от прежнего, «юлианского», введенного еще в 45 году до нашей эры Юлием Цезарем. Новый календарь вступил в действие 4 октября 1582 года и сразу на момент принятия сдвинул на 10 дней текущую дату из-за накопившихся ошибок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Указание перейти на новый календарь сразу приняли к исполнению только католические страны: Италия, Испания, Португалия, Франция. Германские княжества перешли на новый стиль в 1700 году, Англия – в 1752-м, Россия – в 1918-м, Югославия и Греция – в 1925-м, а Вьетнам – только в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1967-м году. Поэтому 1918 год был самым коротким в истории России. Он составлял всего 352 дня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004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891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1712 году в Швеции в целях корректировки календаря, в феврале, помимо 29-го, также назначили и 30-е число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1929 году в СССР предлагалось ввести советский революционный календарь, где каждая неделя имела бы пять дней (пятидневки) и каждый месяц длился бы 30 дней, или ровно шесть недель. Оставшиеся 5 или 6 дней становились так называемыми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безмесячными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каникулами»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300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Объявление о дополнительной секунде осуществляется Международной службой вращения Земли. Теоретически возможно также и вычитание одной секунды, если средние солнечные сутки окажутся короче календарных, при этом после времени 23:59:58 будет следовать 00:00:00 (23:59:59 опускается). На практике отрицательные дополнительные секунды никогда не объявлялись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вращение Земли постепенно замедляется, разница между средними солнечными сутками и сутками в СИ (составляющими ровно 24 часа) в среднем растёт. Как следствие, в будущем дополнительные секунды надо будет вводить всё чаще и чаще, в каждом следующем веке надо будет вводить примерно на 64 секунды больше, чем в предыдущем. Так, в XXII веке надо будет вводить в среднем по две секунды в год, а через 2000 лет – примерно раз в месяц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817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4551DBDA-7A84-12EF-3EF8-BAFF881BCD69}"/>
              </a:ext>
            </a:extLst>
          </p:cNvPr>
          <p:cNvSpPr>
            <a:spLocks noGrp="1"/>
          </p:cNvSpPr>
          <p:nvPr/>
        </p:nvSpPr>
        <p:spPr>
          <a:xfrm>
            <a:off x="879348" y="1619726"/>
            <a:ext cx="11544299" cy="508158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lang="en-US" sz="2000" b="0" kern="1200" spc="-5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90513" marR="0" indent="-290513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§"/>
              <a:tabLst/>
              <a:defRPr lang="en-US" sz="2000" b="0" kern="1200" spc="-5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66928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75000"/>
              <a:buFont typeface="Courier New" panose="02070309020205020404" pitchFamily="49" charset="0"/>
              <a:buChar char="o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859536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6175" marR="0" indent="-28257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Segoe UI" panose="020B0502040204020203" pitchFamily="34" charset="0"/>
              <a:buChar char="▫"/>
              <a:tabLst/>
              <a:defRPr lang="en-US" sz="2000" b="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146175" indent="-284163" algn="l" defTabSz="932742" rtl="0" eaLnBrk="1" latinLnBrk="0" hangingPunct="1">
              <a:spcBef>
                <a:spcPct val="20000"/>
              </a:spcBef>
              <a:spcAft>
                <a:spcPts val="600"/>
              </a:spcAft>
              <a:buFont typeface="Segoe UI" panose="020B0502040204020203" pitchFamily="34" charset="0"/>
              <a:buChar char="▫"/>
              <a:defRPr lang="en-CA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положительной дополнительной секунды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отрицательной дополнительной секунды</a:t>
            </a:r>
          </a:p>
        </p:txBody>
      </p:sp>
      <p:pic>
        <p:nvPicPr>
          <p:cNvPr id="8" name="Рисунок 3">
            <a:extLst>
              <a:ext uri="{FF2B5EF4-FFF2-40B4-BE49-F238E27FC236}">
                <a16:creationId xmlns:a16="http://schemas.microsoft.com/office/drawing/2014/main" id="{3E9153B2-BBE6-06CA-8E53-AEC16D766D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2264396"/>
            <a:ext cx="6678386" cy="1779814"/>
          </a:xfrm>
          <a:prstGeom prst="rect">
            <a:avLst/>
          </a:prstGeom>
        </p:spPr>
      </p:pic>
      <p:pic>
        <p:nvPicPr>
          <p:cNvPr id="9" name="Рисунок 4">
            <a:extLst>
              <a:ext uri="{FF2B5EF4-FFF2-40B4-BE49-F238E27FC236}">
                <a16:creationId xmlns:a16="http://schemas.microsoft.com/office/drawing/2014/main" id="{1F957BEE-FDBD-7639-66B6-353F8D5F7C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4947507"/>
            <a:ext cx="6678386" cy="1841305"/>
          </a:xfrm>
          <a:prstGeom prst="rect">
            <a:avLst/>
          </a:prstGeom>
        </p:spPr>
      </p:pic>
      <p:pic>
        <p:nvPicPr>
          <p:cNvPr id="10" name="Рисунок 5">
            <a:extLst>
              <a:ext uri="{FF2B5EF4-FFF2-40B4-BE49-F238E27FC236}">
                <a16:creationId xmlns:a16="http://schemas.microsoft.com/office/drawing/2014/main" id="{621A4E2D-C85E-A3A7-334A-77C9E1999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75" y="2264396"/>
            <a:ext cx="2601977" cy="40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Автономные часы, в том числе часы-календари, игнорируют дополнительную секунду, так как она вводится не по календарному признаку, и заранее запрограммировать расписание невозможно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Иначе обстоят дела с устройствами, имеющими внешнюю синхронизацию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Распространённый протокол синхронизации времени NTP содержит средства информирования о наступающей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Спутники системы GPS передают уведомление о наступающей секундной коррекции, но большинство GPS-приёмников работают по протоколу NMEA, который передаёт информацию только об уже наступившей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устройство, имеющее внешнюю синхронизацию, может либо учитывать наступление дополнительной секунды, либо синхронизировать собственные часы уже после корректировки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093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Календарь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система счисления больших промежутков времени, основанная на периодичности движения небесных тел: Солнца – в солнечных календарях, Луны – в лунных календарях и одновременно Солнца и Луны в лунно-солнечных календарях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Универсальный и идеальный календарь построить невозможно, так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движется вокруг солнца по эллиптической орбите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имеет крупный спутник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Скорость вращения земли непостоянна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Период обращения вокруг солнца не кратен периоду вращения вокруг собственной оси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Пока луна совершает полный оборот вокруг земли, земля смещается по своей орбите вокруг солнца, возникает неоднозначность, что считать полным оборотом луны вокруг земли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43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158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народ использовал свои способы датировки исторических событий. Некоторые пытались вести отсчёт лет от сотворения мира, от легендарного основания Рима, от вступления на трон первого царя, с начала правления каждой следующей династии и т. п.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Также, например, свой календарь основывала каждая мировая религия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Перевод из одного летосчисления в другое представляет определённые трудности из-за различной продолжительности года и из-за различной даты начала года в разных системах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336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Юлианский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установил среднюю продолжительность года в 365,25 суток: обычные годы длились 365 дней, один раз в четыре года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високосный 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366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Развитием юлианского календаря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григорианский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(новый стиль). Он введён при папе римском Григории XIII 15 октября 1582 года взамен юлианского календаря (старого стиля). Реформа, которую провёл Григорий XIII и признали в большинстве католических стран, состояла из двух частей: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1) Была устранена ошибка в 10 дней, накопившаяся со времён I Вселенского собора (325 год), на котором были установлены правила вычисления христианской Пасхи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2) На будущее же была введена поправка, обеспечивающая более точное соответствие с солнечным исчислением, которая заключается в том, что из каждых 400 лет должны были быть исключены три високосных года. Таким образом, ошибка в один день накапливается лишь через 3333 года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88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Определить является ли год високосным можно по следующим правилам: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номер года заканчивается не на два нуля, то он считается високосным тогда, когда номер года кратен четырём (например, 1996, 2004, 2008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год заканчивается на два нуля, то он високосный только тогда, когда число сотен в нём также кратно четырём (например, 1600, 2000, 2400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всех остальных случаях год считается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(например, 1900 и 2100 годы)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329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Сутки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приблизительно равная периоду обращения Земли вокруг своей оси. Обычно под сутками подразумевают астрономическое понятие солнечные сутки. В обиходе сутки часто называют днём. Они длятся 24 часа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Неделя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времени, большая, чем день, и меньшая месяца. Семидневная неделя не является константой, но в большинстве современных календарей, включая Григорианский календарь, неделя включает 7 дней, что делает её самой большой общепринятой единицей времени, содержащей точное количество дней. Неделя не имеет прямой астрономической основы, она широко используется как единица времени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373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Месяц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связанная с обращением Луны вокруг Земли. Лунные месяцы являются основой многих календарей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удобство счёта требует целого числа дней в месяце, а различные периоды обращения луны составляют 27,2-29,6 суток и в целых сутках исчислены быть не могут, календари издавна стремились компенсировать неточность переменной продолжительностью месяцев и/или введением дополнительных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и юлианском календаре используется фиксированная длина месяца, не связанная со сменой фаз Луны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326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условная единица измерения времени, которая исторически означала однократный цикл сезонов (весна, лето, осень, зима). В большинстве стран календарная продолжительность года равна 365 или 366 дням. В настоящее время год употребляется также в качестве временной характеристики обращения планет вокруг звёзд в планетарных системах, в частности Земли вокруг Солнца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Календарный год в григорианском и юлианском календарях равен 365 суток 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годы, и 366 суток в високосные годы. Средняя же продолжительность года составляет 365,2425 суток для григорианского и 365,25 суток для юлианского календарей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650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Век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равная 100 годам. Десять веков составляют тысячелетие. Согласно григорианскому календарю, I век н. э. начался 1 января 1 года и закончился 31 декабря 100 года. II век начался в 101 году, III век — в 201 году и т. д. Последний год века начинается с номера этого века (например, 2000 год – последний год XX века)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календаре нет «нулевого века»: после I века до н. э. начался I век н. э.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26E834C2-9CB8-AB8D-9563-335AB2DE2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36" y="5029166"/>
            <a:ext cx="8550377" cy="10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99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Понятие часовой пояс имеет два основных значения: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Географический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условная полоса на земной поверхности шириной ровно 15° (±7,5° относительно среднего меридиана). Средним меридианом нулевого часового пояса считается гринвичский меридиан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Административный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участок земной поверхности, на котором в соответствии с некоторым законом установлено определённое официальное время. Как правило, в понятие  административного часового пояса включается ещё и совпадение даты – в этом случае, например, пояса UTC−10:00 и UTC+14:00 будут считаться различными, хотя в них действует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одинаковое время суток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1195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319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A650A7D2-4AA7-DD44-F1B7-22263DCCA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253" y="1565968"/>
            <a:ext cx="8973494" cy="51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11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Формирование часовых поясов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(часовых зон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zones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связано со стремлением, с одной стороны, учитывать вращение Земли вокруг своей оси, а с другой стороны, определить территории (временные зоны) с примерно одинаковым местным солнечным временем таким образом, чтобы различия по времени между ними были кратны одному часу.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было достигнуто решение, что должно быть 24 административных часовых пояса и каждый из них должен более или менее совпадать с географическим часовым поясом. За точку отсчёта был принят гринвичский меридиан – нулевой меридиан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 относительно нулевого меридиана выражаются как положительное (к востоку) и отрицательное (к западу) смещение от UTC. Для территорий часового пояса, где используется перевод часов на летнее время, смещение относительно UTC на летний период меняется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486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– одно из общеизвестных названий для UTC+0 часового пояса. Используется как стандартное время. Нет отклонения от Гринвича (UTC+00)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(местное)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служит для того, чтобы солнечный день приходился приблизительно на один и тот же промежуток времени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Переход на Летнее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(DST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Daylight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Saving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Summer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Time) – сезонный перевод стрелки часов на один час вперёд, который ежегодно производили в последнее воскресенье марта, чтобы получить дополнительный час в светлое время суток, для экономии электроэнергии (на освещение и прочее)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Возврат к зимнему времени проводился в последнее воскресение октября. В разных странах даты перехода могут отличаться.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в Беларуси на 3 часа больше UTC. Перехода на летнее время нет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08:30 UTC+03 = 05:30 UTC+00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511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597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для часовых поясов имеет буквенное обозначение.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Европе: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Greenwich Mean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GMT +00:00	BST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Western European Time	WET +00:00	WEST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European Time	CET +01:00	CEST +02:00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European Time	EET +02:00	EEST +03:00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Moscow Time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MSK +03:00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США: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Standard Time 	EST -05:00	EDT -04:00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Standard Time 	CST -06:00	CDT -05:00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Mountain Standard Time 	MST -07:00	MDT -06:00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Pacific Standard Time 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PST -08:00	PDT -07:00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Alaska Standard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AKST -09:00	AKDT -08:00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Hawaii-Aleutian Standard 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HST -10:00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307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когда мы слегка познакомились с тем как устроено исчисление времени в нашем мире, рассмотрим, а что же там всё таки в ЭВМ?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(называемые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играют важную и разноплановую роль в работе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любой многозадачной системы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считая множества других задач, они отслеживают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суток и предотвращают монополизацию центрального процессора одним 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Программное обеспечение часов может быть представлено в виде драйвера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устройства, хотя часы не относятся ни к блочным, таким как диск, ни к символьным,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как мышь, устройствам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74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15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компьютерах обычно применяются два типа часов, которые совсем не похожи на 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часы, которыми люди пользуются в повседневной жизни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Простейшие часы подключаются к электрической сети с напряжением 110 или 220 В и выдают прерывания каждый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цикл изменения напряжения с частотой 50 или 60 Гц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Ранее в основном применялись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такие часы, но сейчас они используются довольно редко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0554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032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Другая разновидность часов создается из трех компонентов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кварцевого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генератора, счетчика и регистра хранения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из кристалла кварца правильно вырезать пластину и подвести к ней напряжение, то ее можно заставить генерировать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стабильный периодический сигнал, как правило, в диапазоне от нескольких сотен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мегагерц до нескольких гигагерц в зависимости от выбранного кристалла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помощью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электронных схем этот опорный сигнал можно умножить на небольшое целое число,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частоты до нескольких гигагерц или даже выше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любом компьютере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найти как минимум одну такую схему, которая обеспечивает различные компьютерные электронные схемы синхросигналом. Этот сигнал поступает в счетчик, заставляя его производить обратный отсчет до нуля. Когда значение счетчика становится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нулевым, он выдает прерывание на центральный процессор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916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38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5594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C4D92BA-689D-99EF-D7AE-F0463FCE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2149181"/>
            <a:ext cx="8973802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60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66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43CA1FF-6136-FE06-E190-71D63C9B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090" y="1537430"/>
            <a:ext cx="8821820" cy="175305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E0947-52B1-3E6C-E619-46601E3D8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93" y="4351841"/>
            <a:ext cx="6936215" cy="2267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3503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программируемых часов обычно бывает несколько режимов работы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 однократного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часы копируют значение регистра хранения в счетчик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уменьшают это значение при получении каждого импульса с кварцевого генератора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счетчика станет нулевым, часы выдают прерывание и останавливаются до тех пор, пока не будут запущены вновь программным способом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прямоугольного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обнуления значения счетчика и выдачи прерывания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 автоматически копируют значение регистра хранения в счетчик, и весь процесс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повторяется снова до бесконечности. Периодические прерывания называются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тактом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ticks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6113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205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текущее время не пропадало при отключении компьютера от источника питания, у многих компьютеров имеются резервные часы, запитанные от батарейки,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выполненные на микросхеме с пониженным энергопотреблением, используемой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цифровых часах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часов, питающихся от батарейки, может быть считано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компьютера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резервных часов программа может запросить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пользователя ввод текущих даты и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также стандартный способ,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применяемый в сетевых машинах, при котором текущее время берется у удаленной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главной машины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115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152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56275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Действие аппаратной составляющей часов ограничивается выдачей прерываний через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известные интервалы времени. Все остальное, касающееся времени, должно быть сделано программным обеспечением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драйвером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Конкретные обязанности драйвера часов варьируются в зависимости от используемой операционной системы, но чаще всего в них включается практически всё из следующего списка: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Ведение показаний времени суток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Предотвращение работы процессов дольше позволенного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Обработка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alarm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выданного процессами пользователей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5. Предоставление сторожевых программируемых таймеров для компонентов самой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6. Ведение аналитического, мониторингового и статистического сбора информации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1165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04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Осуществление главной функции часов – ведения показаний времени суток (которое также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фактическим временем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не представляет особых трудностей. Нужно всего лишь увеличивать значение счетчика с каждым тактом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стоит отметить один момент, а что значит это значение счётчика?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время системных часов храниться в виде количества секунд с какого-то определенного момента во времени – 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830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различные эпохи, но одной из самых известных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Unix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Согласно этой эпохе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представляют какую-либо дату как количество секунд прошедших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01.01.1970 00:00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:00 UTC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именно это значение и именуется эпохой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Unix)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программах для хранения Unix-времени используется целочисленный знаковый тип. 32-битные числа со знаком могут ссылаться на моменты времени от пятницы 13 декабря 1901 года 20:45:52 до вторника 19 января 2038 года 03:14:07 включительно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94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308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также и другие эпохи: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01.01.1601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 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NTFS, Windows 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01.01.1900 00:00:00 UTC – NTP, RISC 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01.01.1980 00:00:00 UTC – FAT16, FAT32,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exFAT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01.01.2000 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Y2K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PostgreSQL)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Некоторые из эпох могут использовать количество наносекунд вместо секунд, а есть и те которые используют количество недель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реализации своей системы вы имеете возможность придумать свою эпоху и использовать её в качестве стартовой точки для обозначения точки во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240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85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часов заключается в предотвращении излишне продолжительной работы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запуске процесса планировщик запускает его счетчик кванта времени в тактах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прерывании от часов драйвер часов уменьшает значение счетчика кванта времени на единицу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достигает нуля, драйвер часов вызывает планировщик для возобновления работы другого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938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490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Третья функция часов –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точно это можно сделать за счет запуска второго таймера, не имеющего отношения к главному таймеру системы, при каждом запуске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процесс останавливается, значение таймера может быть считано и по нему можно будет судить о продолжительности работы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все работало должным образом, значение второго таймера должно быть сохранено при выдаче прерывания и после этого восстановлено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032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096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Персональные компьютеры для измерения времени используют или системный таймер (меньшая точность) или часы реального времени (большая точность)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таймер играет более значительную роль для отслеживания хода времени ядром. Независимо от аппаратной платформы, идея, которая лежит в основе системного таймера, одна и та же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механизма управления прерываниями, которые возникают периодически с постоянной частотой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948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438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таймеры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таймеры, к которым обращается операционная система для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отслеживания времени дня (даты) и обработки запланированных, зависящих от времени событий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персональных компьютерах на данный момент для разных задач используют несколько системных таймеров, каждый из которых имеет собственный набор атрибутов, что делает работу 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ними сложной и запутанной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Таковыми могут быть одни из следующих: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HPET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Local APIC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TSC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ACPI PM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34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325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аппаратной платформы x86 исторически главным системным таймером был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программируемый интервальный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 PIT существует на всех машинах платформы PC и по сей день. Co времен операционной системы DOS он использовался для управления прерываниями. Ядро программирует таймер PIT при загрузке, для того чтобы периодически генерировать прерывание IRQ 0 с частотой HZ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таймер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простое устройство с ограниченными возможностями, но, тем не менее, хорошо выполняющее свою работу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по схеме обычного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декрементора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9065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9326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HPET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(High Precision Event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событий высокой точности)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тип таймера, используемый в PC-совместимых компьютерах. Совместно разработан Intel и Microsoft, и стал внедряться в чипсеты с 2005 года. Ранее назывался Intel как мультимедийный таймер. Название HPET было выбрано для исключения путаницы с программными таймерами, появившимися в Windows 3.0, которые также назывались Multimedia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Timers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старые операционные системы не поддерживают HPET и могут использовать только старые таймеры (наподобие RTC)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3664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77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 HPET состоит из независимых возрастающих счётчиков (от 3 до 32 в блоке) с фиксированной частотой счёта. Каждый счётчик состоит из компаратора и регистра с пороговым значением. Всего может быть до 8 блоков HPET. Каждый компаратор может вызывать прерывание в тот момент, когда счётчик достигает заранее заданного значения в регистре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таймер может быть настроен в режим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единичного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срабатывания или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режим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режиме единичного срабатывания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one-shot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таймер вызывает прерывание единожды (в момент достижения значения в регистре), в периодическом режиме после прерывания таймер начинает отсчёт заново, генерируя прерывания через заданные интервалы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2686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072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APIC‑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APIC Timer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встроенный в каждое ядро процессора таймер, являющийся частью расширенного программируемого контроллера прерываний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APIC, Advanced Programmable Interrupt Controller)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Его ключевая особенность – локальность: у каждого ядра свой независимый таймер, работающий на частоте системной шины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 работы счётчик декрементируется на каждом такте шины; при достижении нуля генерируется локальное прерывание, которое обрабатывается тем же ядром CPU. В периодическом режиме счётчик автоматически перезагружается, и цикл повторяется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977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1542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Основные функции APIC‑таймера – квантование времени для планировщика ОС (переключение задач), обслуживание программных таймеров, синхронизация работы ядер через межпроцессорные прерывания и точное измерение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APIC‑таймер широко используется в современных ОС (Linux, Windows, FreeBSD) как основной источник времени для планировщика, а также во встроенных системах с жёсткими требованиями к точности и в виртуализации (гипервизоры эмулируют его для гостевых ОС)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является заменой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89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0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 реального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(ЧРВ, RTC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Real Time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электронная схема, предназначенная для учёта хронометрических данных (текущее время, дата, день недели и др.), представляет собой систему из автономного источника питания и учитывающего устройства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часы реального времени встречаются 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вычислительных машинах, хотя на самом деле ЧРВ присутствуют практически во всех электронных устройствах, которые должны хранить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Название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real-time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 используется в английском языке для различения от тактовых генераторов (которые в английском языке называются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»). Тактовые генераторы не ведут счёт в «человеческих» единицах исчисления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0515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2551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Применение специализированной схемы для ЧРВ позволяет добиться более низкого энергопотребления, освобождения центрального процессора для критичных по времени задач, обеспечить более высокую точность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Большинство ЧРВ использует кварцевый резонатор, но некоторые используют частоту питающей сети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используется кварцевый резонатор на частоте 32768 Гц. Та же частота используется в кварцевых часах. Такая частота обеспечивает 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циклов в секунду, что очень удобно для простых двоичных счётчиков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9080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9928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в регистрах часов реального времени хранится преимущественно в формате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BCD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Binary‑Coded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Decimal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Принцип: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десятичная цифра (0–9) кодируется отдельно 4‑битным двоичным числом (тетрадой)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«14:37:29» хранится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часы: 0001 0100 (1 и 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минуты: 0011 0111 (3 и 7)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секунды: 0010 1001 (2 и 9)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256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053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Счетчик меток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(TSC)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64-битный регистр, присутствующий во всех процессорах x86, начиная с Pentium. Он подсчитывает количество циклов процессора с момента его сброса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Инструкция RDTSC возвращает TSC в EDX:EAX. В режиме x86-64 RDTSC также очищает старшие 32 бита RAX и RDX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отметок времени когда-то был отличным способом получения программами информации о синхронизации процессора с высоким разрешением и низкими издержками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169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6087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появлением многоядерных/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гиперпотоковых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процессоров, систем с несколькими процессорами и спящих операционных систем нельзя полагаться на TSC в предоставлении точных результатов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если не уделять особого внимания исправлению возможных недостатков: скорости такта и все ядра (процессоры) имеют одинаковые значения в своих регистрах хранения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Нет никаких гарантий, что счетчики временных меток нескольких процессоров на одной материнской плате будут синхронизированы. Следовательно, программа может получить надежные результаты, только ограничившись выполнением на одном конкретном процессоре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Даже в этом случае скорость ЦП может измениться из-за мер по энергосбережению, принятых ОС или BIOS, или система может перейти в режим гибернации, а затем возобновить работу со сбросом TSC. В последних случаях, чтобы оставаться актуальной, программа должна периодически перекалибровывать счетчик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680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45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включении ПК ЧРВ предоставляют начальное время для ОС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инициализирует системные часы, опираясь на ЧРВ, и выбирает основной аппаратный таймер (обычно Local APIC или HPET) для отсчёта времени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Аппаратный таймер (например, Local APIC) генерирует прерывания с заданным периодом. На каждом прерывании ОС: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Увеличивает счётчик «тиков» системных часов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Проверяет, не истёк ли срок программных таймеров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Планирует переключение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9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07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коррекции дрейфа ОС периодически сверяет системные часы с ЧРВ и другими источниками (HPET, TSC).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переходе в спящий режим ЧРВ продолжают идти, а аппаратные таймеры могут отключаться; при пробуждении ОС снова синхронизируется с ЧРВ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Соответственно, ЧРВ задают «абсолютное» время системы, а аппаратные таймеры обеспечивают измерение интервалов и генерацию прерываний для работы планировщика, синхронизации и временных функций ОС. Совместная работа этих компонентов гарантирует точность и стабильность учёта времени в компьютере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839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093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783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D3F159-BA35-2489-28DE-6745F2A8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14856"/>
            <a:ext cx="661416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28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что же там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работы со временем?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Начнём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в данной ОС существует несколько понятий времени, а именно: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977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2831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текущие дата и время суток. Система отслеживает время, чтобы приложения имели оперативный доступ к точным данным о времени. Системное время базируется на всемирном координированном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системное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SetSystemTime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Данная функция преобразовывает значение системного таймера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виду описанному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структурой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7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4268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система внутренне использует время на основе UTC, ваши приложения обычно отображают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дату и время суток для вашего часового пояса. Поэтому, чтобы обеспечить корректные результаты, вы должны учитывать, ожидает ли функция получения времени на основе UTC или локального времени, а также возвращает ли функция время на основе UTC или локальное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локальное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GetLocalTime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SetLocalTime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22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113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 – это 64‑битное значение, которое отражает количество интервалов по 100 наносекунд, прошедших с 00:00 1 января 1601 года по всемирному координированному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фиксирует время файлов, когда приложения создают файлы, обращаются к ним или записывают в них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временные метки для указанного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копирует время создания файла, время последнего обращения к нему и время последней записи в отдельные структуры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498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0431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установить временные метки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Эта функция позволяет изменить время создания файла, время последнего обращения к нему и время последней записи – без изменения содержимого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Сравнить время разных файлов можно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CompareFileTime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сопоставляет два временных значения файлов и возвращает: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значение, указывающее, какое из времён более позднее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 (ноль), если времена равны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22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4319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 планируете изменять временные метки файлов, вы можете преобразовать дату и время в формат времени файла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SystemTimeToFileTime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вы можете получить системное время в структуре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вызвав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GetSystemTimeAsFileTime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сделать время файла удобным для отображения пользователю,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FileTimeToSystemTime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преобразует время файла и копирует из него в структуру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следующие данные: месяц, день, год, время суток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9671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1043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количество времени в миллисекундах, прошедшее с момента последнего запуска системы. Этот формат в первую очередь предназначен для обеспечения обратной совместимости с 16-разрядной версией Windows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обеспечить успешное выполнение приложений, предназначенных для 16-разрядной версии Windows,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текущее время Windows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современных приложений стоит использовать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GetTickCount64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GetTickCount64 ограничены разрешением системного таймера – примерно 10–16 миллисекунд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возвращаемое ими значение прошедшего времени учитывает также периоды, когда система находилась в режимах сна или гибернации (то есть счёт не останавливается во время энергосберегающих состояний)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5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056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вам нужен таймер с более высоким разрешением,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мультимедиа или таймер с высоким разрешением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Время, затраченное функцией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включает только время, которое система проводит в рабочем состоянии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311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997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время с момента последнего запуска системы в интервале 100 наносекунд. Счетчик времени прерываний начинается с нуля при запуске системы и увеличивается при каждом прерывании часов на длину такта часов. Точная длина тактов часов зависит от базового оборудования и может отличаться в разных системах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системного времени, счётчик времени прерываний не подвержен корректировкам со стороны пользователей или службы времени Windows. Это делает его более предпочтительным для измерения коротких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приложению требуется ещё более высокая точность, чем обеспечивает счётчик времени прерываний, следует использовать таймер с высоким разрешением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high‑resolution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004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4847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позволяют получить значение счётчика времени прерываний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Несмещённое время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прерываний означает, что учитывается только время, в течение которого система находится в рабочем состоянии, – таким образом, отсчёт времени прерываний не «смещается» («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 за счёт времени, которое система проводит в режимах сна или гибернации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861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6158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можно обратиться к системе за информацией о времени работы потоков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имеются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GetProcessTimes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QueryProcessCycleTime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(также имеется аналог для отдельного потока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QueryThreadCycleTime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Первая функция возвращает следующую информацию: время создания процесса, время завершения процесса, количество времени которое процесс провёл в режиме ядра и пользователя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эти значения возвращаются в формате файлового времени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возвращает количество тактов процессора, использованных всеми потоками процесса. Это значение включает такты, затраченные как в пользовательском режиме, так и в режиме ядра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6230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же там 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POSIX?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Календарное время включает в себя год, месяц, день месяца и текущее время суток. Для хранения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В POSIX-системах календарное время хранится как количество секунд, прошедшее от «начала эпохи», причём для простоты считается, что каждый 4-й год всегда високосный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в POSIX-системах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эквивалентен типу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Диапазона значений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(32 бита) достаточно для представления дат, лежащих в отрезке длиной примерно 136 лет. Поскольку отрицательные числа используются для представления дат до 1970 года, переполнение текущего представления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может произойти в 2038 году, если, конечно, до этого момента представление не будет изменено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9310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удобного представления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определённый следующим образом: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0863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02AD8AD-18DC-5A43-25F2-EDB1BA81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24" y="2732175"/>
            <a:ext cx="7462151" cy="35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стандарте ANSI C также определяется набор функций для манипулирования с календарным временем. Прототипы этих функций определены в заголовочном файле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получить текущее системное календарное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возвращает текущее календарное время. Кроме того, если указатель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tloc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ненулевой, функция записывает текущее время по указанному адресу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преобразовывают дату из секундного представления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структурное представление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899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0327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представление, выражающее универсальное координированное время (UTC), т. е. время Гринвичского меридиана без перехода на летнее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 в определённом пользователем или системой часовом поясе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 функции возвращают указатель на статическую область памяти, которая переписывается при каждом вызове функций работы с календарным временем. Поэтому при необходимости эту структуру нужно скопировать в другое место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107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241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mktime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местного часового пояса в развёрнутом структурном формате в секундное представление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игнорирует содержимое полей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wday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yday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isdst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перевычисляет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их, используя оставшиеся поля структуры. Если значение какого-либо поля структуры находится за пределами допустимых значений, оно нормализуется, например, 40 октября становится 9 ноября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247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394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конвертируют календарное время в символьную строку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преобразует календарное время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вида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"Tue Nov 7 11:32:11 2000\n“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Дни недели сокращаются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Sun’, ‘Mon’, ‘Tue’, ‘Wed’, ‘Thu’, ‘Fri’, ‘Sat’.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месяца сокращается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Jan’, ‘Feb’, ‘Mar’, ‘Apr’, ‘May’, ‘Jun’, ‘Jul’, ‘Aug’, ‘Sep’, ‘Oct’, ‘Nov’, ‘Dec’.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Возвращаемое значение указывает на статическую область памяти, которая переписывается при вызовах функций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ctime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asctime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преобразовывает развёрнутое структурное представление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timeptr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того же самого формата, что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endParaRPr lang="pt-B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3815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9412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strftime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получать строковое представление времени согласно заданной форматной строке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форматирует время в развёрнутом структурном представлении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соответствии со спецификацией формата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format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помещает результат в символьный массив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размера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Обычные символы копируются из форматной строки в строку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без преобразования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Спецификаторы формата начинаются со знака ’%’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833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5665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Tuesday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November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и время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11:32:11 2000)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%d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месяца (например, 07)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%H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24-часовой шкале (от 00 до 23)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12-часовой шкале (от 01 до 12)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%j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день года (от 001)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месяц года (от 01)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619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4950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 в часе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%p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индикатор AM/PM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 в минуте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%U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воскресенья)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недели (0 — воскресенье)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понедельника)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(например, 11:32:11)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в веке (00-99)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(например,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%Z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часового пояса (если определено) (например, MSK)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%%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символ %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6559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801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Традиционные обычные таймеры UNIX в Linux, 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не отвечают требованиям большинства приложений реального времени. Таймеры POSIX.1b имеют следующие преимущества по сравнению с обычными таймерами UNIX: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может иметь несколько таймеров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Лучшая точность таймеров. Таймеры могут использовать значения с точностью до наносекунд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Уведомление о завершении работы таймера может быть сделано либо с помощью любого произвольного сигнала (реального времени) или с помощью потоков. Для уведомления о завершении работы таймера в обычных таймерах UNIX есть лишь ограниченный набор сигналов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Таймеры POSIX.1b предоставляют поддержку различных часов, таких как CLOCK_REALTIME, CLOCK_MONOTONIC, и так далее, которые могут иметь различные источники с различным разрешением. Обычный таймер UNIX, с другой стороны, связан с системными часами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0089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1523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 таймеров POSIX.1b представляет собой набор часов, которые используются как привязка ко времени. Linux обеспечивает поддержку следующих часов: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общесистемные часы реального времени, видимые для всех процессов, работающих в системе. Часы измеряют количество времени в секундах и наносекундах с начала эпохи. Разрешение часов равно 1/HZ секунд. Таким образом, если HZ равно 100, то разрешение часов составляет 10 мс. Если HZ равно 1000, то разрешение часов составляет 1 мс. Так как это время базируются на времени настенных часов, оно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время непрерывной работы системы, видимое всем процессам в системе. В Linux оно измеряется как количество времени в секундах и наносекундах после загрузки системы. Его разрешение равно 1/HZ с. Это время не может быть изменено каким-либо процессом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часы, измеряющие время работы процесса. Время текущего процесса, потраченное на выполнение в системе, измеряется в секундах и наносекундах. Разрешение равно 1/HZ. Это время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CLOCK_THREAD_CPUTIME_ID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То же, что и 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но для текущего поток.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22223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2723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указания абсолютного времени ожидания.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относительного времени ожидания и периодических задач. Поскольку время этих часов не может быть изменено, периодическим задачам не нужно беспокоиться о преждевременном или задержанном пробуждении, которое могло бы произойти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Двое других часов могут использоваться для целей учёта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HZ – частота системного таймера (обычно, 100, 250, 1000), параметр ядра. Чтобы узнать значение HZ в вашей системе, посмотрите файл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kernel-source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include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param.h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4134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8276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6233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table">
            <a:extLst>
              <a:ext uri="{FF2B5EF4-FFF2-40B4-BE49-F238E27FC236}">
                <a16:creationId xmlns:a16="http://schemas.microsoft.com/office/drawing/2014/main" id="{1B90965C-9D55-F45D-6014-522E835F2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8837" y="1730131"/>
            <a:ext cx="10474325" cy="43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81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стоит упомянуть такой объект синхронизации основанный на времени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Ожидающий таймер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Два состояния: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сигнальное – наступление заданного момента времени;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несигнальное (активное и пассивное состояние) – ждет  наступления заданного момента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5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A7C7457-DFE0-5629-31B1-9B587081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870" y="4342911"/>
            <a:ext cx="5805288" cy="23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481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Объект таймера ожидания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объект синхронизации, состояние которого по достижении указанного срока устанавливается в значение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Существует два типа таймеров ожидания, которые можно создать: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сброс вручную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Таймер любого типа также может быть периодическим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сброса вручную: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установить новое время выполнения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синхронизации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	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тех пор, пока поток не завершит операцию ожидания в объекте таймера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который повторно активируется каждый раз, когда истечет указанный период, пока таймер не будет сброшен или отменен. Периодический таймер – это либо периодический таймер сброса вручную, либо периодический таймер синхронизации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356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1700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использует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CreateWaitableTimerEx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создания объекта таймера. Поток создания указывает, является ли таймер таймером сброса вручную или таймером синхронизации. Создающий поток может указать имя объекта таймера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в других процессах могут открывать дескриптор для существующего таймера, указывая его имя в вызове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Любой поток с дескриптором объекта таймера может использовать одну из функций ожидания для ожидания, пока состояние таймера будет задано как сигнальное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вызывает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активации таймера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может использовать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CancelWaitableTimer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установки таймера в неактивное состояние. Чтобы сбросить таймер,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Завершив работу с объектом таймера,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закрыть дескриптор для объекта таймера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0591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5978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4947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30388</TotalTime>
  <Words>8532</Words>
  <Application>Microsoft Office PowerPoint</Application>
  <PresentationFormat>Widescreen</PresentationFormat>
  <Paragraphs>475</Paragraphs>
  <Slides>101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1373</cp:revision>
  <cp:lastPrinted>2025-11-01T06:17:20Z</cp:lastPrinted>
  <dcterms:created xsi:type="dcterms:W3CDTF">2024-09-04T11:03:42Z</dcterms:created>
  <dcterms:modified xsi:type="dcterms:W3CDTF">2025-11-16T14:20:32Z</dcterms:modified>
</cp:coreProperties>
</file>