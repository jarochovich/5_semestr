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322" r:id="rId3"/>
    <p:sldId id="2435" r:id="rId4"/>
    <p:sldId id="2783" r:id="rId5"/>
    <p:sldId id="2784" r:id="rId6"/>
    <p:sldId id="2785" r:id="rId7"/>
    <p:sldId id="2786" r:id="rId8"/>
    <p:sldId id="2787" r:id="rId9"/>
    <p:sldId id="2788" r:id="rId10"/>
    <p:sldId id="2789" r:id="rId11"/>
    <p:sldId id="2790" r:id="rId12"/>
    <p:sldId id="2791" r:id="rId13"/>
    <p:sldId id="2792" r:id="rId14"/>
    <p:sldId id="2793" r:id="rId15"/>
    <p:sldId id="2794" r:id="rId16"/>
    <p:sldId id="2795" r:id="rId17"/>
    <p:sldId id="2796" r:id="rId18"/>
    <p:sldId id="2797" r:id="rId19"/>
    <p:sldId id="2798" r:id="rId20"/>
    <p:sldId id="2799" r:id="rId21"/>
    <p:sldId id="2800" r:id="rId22"/>
    <p:sldId id="2802" r:id="rId23"/>
    <p:sldId id="2801" r:id="rId24"/>
    <p:sldId id="2803" r:id="rId25"/>
    <p:sldId id="2804" r:id="rId26"/>
    <p:sldId id="2805" r:id="rId27"/>
    <p:sldId id="2806" r:id="rId28"/>
    <p:sldId id="2807" r:id="rId29"/>
    <p:sldId id="2808" r:id="rId30"/>
    <p:sldId id="2809" r:id="rId31"/>
    <p:sldId id="2810" r:id="rId32"/>
    <p:sldId id="2811" r:id="rId33"/>
    <p:sldId id="2812" r:id="rId34"/>
    <p:sldId id="2814" r:id="rId35"/>
    <p:sldId id="2815" r:id="rId36"/>
    <p:sldId id="2816" r:id="rId37"/>
    <p:sldId id="2817" r:id="rId38"/>
    <p:sldId id="2819" r:id="rId39"/>
    <p:sldId id="2820" r:id="rId40"/>
    <p:sldId id="2821" r:id="rId41"/>
    <p:sldId id="2822" r:id="rId42"/>
    <p:sldId id="458" r:id="rId43"/>
    <p:sldId id="476" r:id="rId44"/>
    <p:sldId id="472" r:id="rId45"/>
    <p:sldId id="477" r:id="rId46"/>
    <p:sldId id="474" r:id="rId47"/>
    <p:sldId id="475" r:id="rId48"/>
    <p:sldId id="479" r:id="rId49"/>
    <p:sldId id="489" r:id="rId50"/>
    <p:sldId id="487" r:id="rId51"/>
    <p:sldId id="488" r:id="rId52"/>
    <p:sldId id="480" r:id="rId53"/>
    <p:sldId id="490" r:id="rId54"/>
    <p:sldId id="491" r:id="rId55"/>
    <p:sldId id="492" r:id="rId56"/>
    <p:sldId id="493" r:id="rId57"/>
    <p:sldId id="2782" r:id="rId5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435"/>
            <p14:sldId id="2783"/>
            <p14:sldId id="2784"/>
            <p14:sldId id="2785"/>
            <p14:sldId id="2786"/>
            <p14:sldId id="2787"/>
            <p14:sldId id="2788"/>
            <p14:sldId id="2789"/>
            <p14:sldId id="2790"/>
            <p14:sldId id="2791"/>
            <p14:sldId id="2792"/>
            <p14:sldId id="2793"/>
            <p14:sldId id="2794"/>
            <p14:sldId id="2795"/>
            <p14:sldId id="2796"/>
            <p14:sldId id="2797"/>
            <p14:sldId id="2798"/>
            <p14:sldId id="2799"/>
            <p14:sldId id="2800"/>
            <p14:sldId id="2802"/>
            <p14:sldId id="2801"/>
            <p14:sldId id="2803"/>
            <p14:sldId id="2804"/>
            <p14:sldId id="2805"/>
            <p14:sldId id="2806"/>
            <p14:sldId id="2807"/>
            <p14:sldId id="2808"/>
            <p14:sldId id="2809"/>
            <p14:sldId id="2810"/>
            <p14:sldId id="2811"/>
            <p14:sldId id="2812"/>
            <p14:sldId id="2814"/>
            <p14:sldId id="2815"/>
            <p14:sldId id="2816"/>
            <p14:sldId id="2817"/>
            <p14:sldId id="2819"/>
            <p14:sldId id="2820"/>
            <p14:sldId id="2821"/>
            <p14:sldId id="2822"/>
            <p14:sldId id="458"/>
            <p14:sldId id="476"/>
            <p14:sldId id="472"/>
            <p14:sldId id="477"/>
            <p14:sldId id="474"/>
            <p14:sldId id="475"/>
            <p14:sldId id="479"/>
            <p14:sldId id="489"/>
            <p14:sldId id="487"/>
            <p14:sldId id="488"/>
            <p14:sldId id="480"/>
            <p14:sldId id="490"/>
            <p14:sldId id="491"/>
            <p14:sldId id="492"/>
            <p14:sldId id="493"/>
            <p14:sldId id="27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12/22/2025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earn.microsoft.com/en-us/windows/win32/api/fileapi/nf-fileapi-createfile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pubs.opengroup.org/onlinepubs/9799919799/functions/open.html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learn.microsoft.com/en-us/windows/desktop/api/handleapi/nf-handleapi-closehandl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pubs.opengroup.org/onlinepubs/9799919799/functions/close.html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learn.microsoft.com/en-us/windows/desktop/api/fileapi/nf-fileapi-readfil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s://pubs.opengroup.org/onlinepubs/9799919799/functions/read.html#tag_17_476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earn.microsoft.com/en-us/windows/desktop/api/fileapi/nf-fileapi-writefil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pubs.opengroup.org/onlinepubs/9799919799/functions/write.html#tag_17_699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learn.microsoft.com/en-us/windows/win32/api/fileapi/nf-fileapi-setfilepointere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pubs.opengroup.org/onlinepubs/9799919799/functions/lseek.html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hyperlink" Target="https://pubs.opengroup.org/onlinepubs/9799919799/functions/fstata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fileapi/nf-fileapi-setfileattributesa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learn.microsoft.com/en-us/windows/win32/api/fileapi/nf-fileapi-getfileattributesa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s://learn.microsoft.com/en-us/windows/win32/api/fileapi/nf-fileapi-unlockfile" TargetMode="External"/><Relationship Id="rId2" Type="http://schemas.openxmlformats.org/officeDocument/2006/relationships/hyperlink" Target="https://pubs.opengroup.org/onlinepubs/9799919799/functions/fcntl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learn.microsoft.com/en-us/windows/win32/api/fileapi/nf-fileapi-lockfile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learn.microsoft.com/en-us/windows/win32/api/fileapi/nf-fileapi-flushfilebuff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hyperlink" Target="https://pubs.opengroup.org/onlinepubs/9799919799/functions/fsync.html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learn.microsoft.com/en-us/windows/win32/api/winbase/nf-winbase-movefil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learn.microsoft.com/en-us/windows/win32/api/winbase/nf-winbase-copyfile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learn.microsoft.com/en-us/windows/win32/api/winbase/nf-winbase-replacefile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learn.microsoft.com/en-us/windows/win32/api/winbase/nf-winbase-getfileinformationbyhandleex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learn.microsoft.com/en-us/windows/win32/api/winbase/nf-winbase-createdirector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hyperlink" Target="https://pubs.opengroup.org/onlinepubs/9799919799/functions/mkdir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learn.microsoft.com/en-us/windows/win32/api/fileapi/nf-fileapi-removedirectory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hyperlink" Target="https://pubs.opengroup.org/onlinepubs/9799919799/functions/rmdir.html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learn.microsoft.com/en-us/windows/win32/api/winbase/nf-winbase-movefile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hyperlink" Target="https://learn.microsoft.com/en-us/windows/desktop/api/FileAPI/nf-fileapi-findfirstchangenotification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desktop/api/FileAPI/nf-fileapi-findclosechangenotification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s://learn.microsoft.com/en-us/windows/desktop/api/FileAPI/nf-fileapi-findnextchangenotification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hyperlink" Target="https://www.man7.org/linux/man-pages/man2/inotify_init.2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an7.org/linux/man-pages/man2/inotify_rm_watch.2.html" TargetMode="External"/><Relationship Id="rId5" Type="http://schemas.openxmlformats.org/officeDocument/2006/relationships/image" Target="../media/image35.png"/><Relationship Id="rId4" Type="http://schemas.openxmlformats.org/officeDocument/2006/relationships/hyperlink" Target="https://www.man7.org/linux/man-pages/man2/inotify_add_watch.2.html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8086" y="3635622"/>
            <a:ext cx="5155828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Операции над файлами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3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Файловые операции и способы их организации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Открытие файла, обмен данными с файлом, блокировки файлов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Стандартные файлы ввода-вывода, перенаправление вывода.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Временные файлы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Разрешения на доступ к каталогам и файлам: объекты и субъекты доступа, механизм контроля доступа, разрешения NTFS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Понятие файла, проецируемого в память. Создание, открытие, использование и удаление проекции файла.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8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Файловая система ОС предоставляет пользователям набор операций для работы с файлами, оформленный в виде системных вызовов, таких, например, как </a:t>
            </a:r>
            <a:r>
              <a:rPr lang="en-US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creat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(создать файл)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Чаще всего с одним и тем же файлом пользователь выполняет не одну операцию, а последовательность операций. Например, при работе текстового редактора с файлом, в котором содержится некоторый документ, пользователь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считывает несколько страниц текста, редактирует эти данные и записывает их на место считанных, а затем считывает страницы из другой области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файла и т. п.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большого количества операций чтения и записи пользователь завершает работу с данным файлом и переходит к другому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531752"/>
              </p:ext>
            </p:extLst>
          </p:nvPr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9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088989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Какие бы операции над файлом ни выполнялись операционной системой,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creat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delete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они непременно включают ряд универсальных действий, повторяемых в неизменном виде при выполнении любой операции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символьному имени файла ищутся его характеристики, которые хранятся в файловой системе на диске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Характеристики файла копируются в оперативную память, так как только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 программный код может их использовать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На основании характеристик файла проверяются права пользователя на выполнение запрошенной операции (чтение, запись, удаление, просмотр атрибутов файла)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Очищается область памяти, отведенная под временное хранение характеристик файла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47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Помимо таких универсальных действий, каждая операция с файлом включает ряд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специфических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этой операции действий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считывание данных файла присуще только операции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(читать из файла), а запись новых данных в файл происходит только при выполнении операции </a:t>
            </a:r>
            <a:r>
              <a:rPr lang="ru-RU" b="1" i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(записать в файл)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Пусть имеется некая последовательность операций с одним и тем же файлом X, например: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...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Операционная система может выполнить эту последовательность двумя способами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215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Первый подход состоит в последовательном выполнении для каждой операции всех относящихся к ней действий, как универсальных, так и специфических (а)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есть когда из прикладной программы поступает системный вызов на выполнение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ФС ее выполняет, отсылает ответ, а затем удаляет из своих внутренних таблиц всю информацию о выполненной операции и «с чистого листа» приступает к выполнению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68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соответствии со вторым подходом универсальные действия выполняются лишь в начале и в конце последовательности операций, а для каждой промежуточной операции выполняются только специфические действия (б)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есть если первой была выполнена операция чтения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(X), то при выполнении следующей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(X) вовсе не требуется снова производить поиск и перенос в оперативную память адреса файла и других его характеристик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Действительно, эта информация уже была найдена во время выполнения предыдущей операции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(X ), достаточно просто ее сохранить для повторного использования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14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50259E7-AD52-6198-7EE5-1EFBB4E4F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8616"/>
            <a:ext cx="12192000" cy="307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5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первом случае файловую систему относят к типу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ФС без запоминания состояния операций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stateless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). ФС такого типа не хранит никакой информации о предыдущих операциях, все операции выполняются абсолютно независимо друг от друга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втором случае ФС запоминает информацию, относящуюся к универсальным действиям, полученную ею при выполнении самой первой операции с тем, чтобы использовать ее для выполнения всех последующих операций с файлом, вплоть до самой последней. Такие ФС относят к типу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ФС с запоминаниям состояния операций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stateful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091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Преимуществом первого способа является его большая устойчивость к сбоям в работе системы, так как каждая операция является самодостаточной и не зависит от результата предыдущей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Поэтому первый способ иногда применяется в распределенных сетевых файловых системах (например, в Network File System, NFS компании Sun), когда сбои из-за потерь пакетов или отказов одного из сетевых узлов более вероятны, чем при локальном доступе к файлам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Однако большинство файловых систем поддерживает второй способ организации, при котором файловая система сохраняет информацию о предыдущих операциях, как более экономичный и быстрый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666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втором способе в файловой системе вводится два специальных системных вызова: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(открытие файла)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(закрытие файла)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открытия файла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выполняется перед началом любой последовательности операций с файлом, а вызов закрытия файла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после окончания работы с файлом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Основной задачей вызова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является преобразование символьного имени файла в его уникальное числовое имя, копирование характеристик файла из дисковой области в буфер оперативной памяти и проверка прав пользователя на выполнение запрошенной операции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освобождает буфер с характеристиками файла и делает невозможным продолжение операций с файлом без его повторного открытия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ФС с запоминанием и без запоминания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состояния операций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014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() в ОС Unix работает с двумя аргументами: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Символьным именем открываемого файла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Параметром, задающим режим открытия файла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Режим открытия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говорит системе, какие операции будут выполняться с файлом в последовательности операций до закрытия файла по системному вызову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например, только чтение, только запись или чтение и запись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835817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82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открытии файла ОС сначала выполняет преобразование первого аргумента системного вызова, то есть символьного имени файла, в его уникальное числовое имя, которым в традиционных файловых системах Unix является номер индексного дескриптора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номеру индексного дескриптора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файловая система находит нужную запись на диске и копирует из нее характеристики файла в оперативную память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3741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хранения копии индексного дескриптора используются буферные области системного виртуального пространства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Характеристики индексного дескриптора, перенесенные в оперативную память, помещаются в структуру так называемого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виртуального дескриптора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virtual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включает поля индексного дескриптора файла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также несколько перечисленных далее дополнительных полей, полезных при выполнении операций с файлом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01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Состояние индексного дескриптора в памяти, отражающее: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заблокирован ли файл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ждет ли снятия блокировки с файла какой-либо процесс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отличается ли представление характеристик файла в памяти от своей дисковой копии в результате изменения содержимого индексного дескриптора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отличается ли представление файла в памяти от своей дисковой копии в результате изменения содержимого файла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является ли файл точкой монтирования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Логический номер устройства файловой системы, содержащей файл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Номер индексного дескриптора. В дисковом индексном дескрипторе это поле отсутствует, так как номер определяется положением дескриптора относительно начала области индексных дескрипторов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ссылок на данную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81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одним и тем же файлом в какой-то период времени могут работать различные процессы, но операционная система не создает для каждого процесса отдельную копию структуры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а для каждого файла, с которым в данный момент работает хотя бы один процесс, хранит ровно одну копию виртуального дескриптора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очередном открытии файла ОС проверяет, имеется ли в системной памяти структура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открываемого файла (по номеру логического устройства и номеру индексного дескриптора, которые определяются при преобразовании символьного имени), и если имеется, то счетчик ссылок на нее увеличивается на единицу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очередном закрытии этого файла счетчик ссылок уменьшается на единицу, и если он становится равным 0, то буфер, хранящий данную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считается свободным.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147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Использование единственной копии характеристик файла и некоторых характеристик файловых операций (например, признака блокировки), общих для всех работающих с файлом процессов, экономит системную память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Тем не менее существуют характеристики, индивидуальные для каждого процесса, выполняющего некоторую последовательность операций с определенным файлом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их хранения в Unix используется структура типа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которая так же, как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хранится в системной области памяти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836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открытии процессом файла ОС проверяет права пользовательского процесса на выполнение запрошенной операции с файлом, и если проверка прошла успешно, создает в системной области памяти новую структуру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описывающую как сам открытый файл, так и операции, которые процесс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собирается производить с файлом (например, чтение)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23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il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содержит следующие поля: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Признак режима открытия (только для чтения, для чтения и записи и т. п.)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Указатель на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vnode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Текущее смещение в файле (переменная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при операциях чтения/записи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ссылок на данную структуру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Указатель на структуру, содержащую права процесса, открывшего файл (эта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структура находится в дескрипторе процесса)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Указатели на предыдущую и последующую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связывающие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такие структуры в двойной список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577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Переменная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хранящаяся в структуре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позволяет ОС запомнить текущее положение условного указателя в последовательности байтов файла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открытии файла эта переменная указывает на начальный или конечный байт файла в зависимости от заданного режима открытия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выполнения операций чтения или записи указатель сдвигается на количество байтов, прочитанное или записанное в результате операции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Следующая операция застает указатель в том состоянии, в котором его оставила предыдущая операция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Прикладной программист может явно управлять положением указателя с помощью системного вызова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seek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564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новом открытии какого-либо файла ОС создает новую структуру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 и помещает ее в дважды связанный список. Обычно под хранение структур 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 в системной области отводится ограниченная область, поэтому общее количество открытых файлов всеми процессами в любой момент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ограничено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725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1FB744-A6B5-B5A8-09CD-79FEC8C0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785" y="185285"/>
            <a:ext cx="5582429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60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создания структуры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операционная система помещает указатель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нее в таблицу открытых файлов процесса, которая находится в контексте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процесс несколько раз открывает один и тот же файл, то структура f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создается для каждой операции открытия. Так как контекст процесса-родителя в Unix наследуется процессом-потомком, потомок наследует и указатели на все открытые родителем файлы, получая возможность выполнять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ними операции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409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возвращает в пользовательский процесс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файла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который представляет собой номер записи в таблице открытых файлов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 файла имеет локальное значение только для того процесса, который открыл файл, для разных процессов одно и то же значение дескриптора указывает на разные операции в общем случае с разными файлами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открытия файла его дескриптор используется во всех дальнейших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операциях с файлом вплоть до явного закрытия файла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дескриптор файла является временным уникальным именем, но не файла, а конкретной последовательности операций с этим файлом, ограниченной командами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499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открытия файла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/progl.exe в режиме «только для чтения» прикладной программист может использовать следующее выражение на языке С:</a:t>
            </a:r>
          </a:p>
          <a:p>
            <a:pPr marL="0" indent="0" algn="ctr">
              <a:buNone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open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("/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/progl.exe”,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_RD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NLY);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Здесь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целочисленная переменная, сохраняющая значение дескриптора открытого файла. Ее значение должно использоваться в операциях обмена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данными с файлом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/progl.exe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неудачной попытке открытия файла (нет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прав для выполнения затребованной операции, неверное имя файла) переменной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присваивается значение -1, которое является индикатором ошибки для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всех системных вызовов Unix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Открытие файла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094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обмена данными с предварительно открытым файлом в ОС Unix существуют системные вызовы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том случае, когда необходима явным образом указать, с какого байта файла читать или записывать данные, используется также системный вызов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seek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чтения данных из файла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имеет три аргумента:</a:t>
            </a:r>
          </a:p>
          <a:p>
            <a:pPr marL="0" indent="0" algn="ctr">
              <a:buNone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524740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020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Первый аргумент f d является целочисленной переменной, имеющей значение дескриптора открытого файла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Второй аргумент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является указателем на область пользовательской памяти, в которую система должна поместить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считанные данные. Количество байтов этой области памяти задается третьим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целочисленным аргументом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возвращает действительное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количество считанных байтов (оно может отличаться от заданного, если, например, была указана область чтения, выходящая за пределы файла) или же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код ошибки -1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750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Начало дисковой области, которую нужно прочитать с помощью вызова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явно в этом системном вызове не указывается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Чтение начинается с того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байта, который задается смещением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структуре 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это смещение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указывает запись с номером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таблице открытых файлов процесса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выполнения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смещение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offset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наращивается на количество считанных байтов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2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вызов записи данных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аналогичен вызову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 algn="ctr">
              <a:buNone/>
            </a:pP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записывает количество байтов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из буфера оперативной памяти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файл, описываемый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дескриптором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 же как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возвращает вызвавшей ее программе значение реально переданных ею байтов или код ошибки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737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Рассмотрим пример, в котором прикладная программа работает с файлом,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состоящем из записей фиксированной длины по 50 байт:</a:t>
            </a:r>
          </a:p>
          <a:p>
            <a:pPr marL="182880" indent="0">
              <a:buNone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= open(‘/doc/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qwery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/basel2.txt", O_RDWR);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read(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buffer1, 50);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read(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buffer2, 2500);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……</a:t>
            </a:r>
          </a:p>
          <a:p>
            <a:pPr marL="182880" indent="0">
              <a:buNone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lseek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150, 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write 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output, 300);</a:t>
            </a:r>
          </a:p>
          <a:p>
            <a:pPr marL="18288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close(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fd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8541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приведенном фрагменте программы после открытия файла 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doc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query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base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2.txt для чтения и записи выполняется чтение первой записи файла, а затем читается область файла, включающая еще 50 записей, со 2 по 51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обработки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считанных записей (эти инструкции опущены) указатель смещения в файле переводится на начало четвертой записи, и выполняется запись результатов в шесть последовательных записей, начиная с четвертой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Завершается фрагмент закрытием файла с помощью системного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close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064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описанные системные вызовы являются синхронными, то есть пользовательский процесс переводится в состояние ожидания до тех пор, пока операция ввода-вывода не завершится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Описанный набор системных вызовов, появившийся в ОС Unix еще в 70-х годах, стал стандартом де-факто для современных операционных систем. Эти традиционные системные вызовы часто в конкретных ОС дополняются оригинальными системными вызовами ввода-вывода, например операциями асинхронного типа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 основе системных вызовов ввода-вывода обычно строятся более мощные библиотечные функции ввода-вывода, составляющие прикладной интерфейс ОС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Обмен данными с файлом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3135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Блокировки файлов и отдельных записей в файлах являются средством синхронизации работающих в кооперации процессов, пытающихся использовать один и тот же файл одновременно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Процессы могут иметь соответствующие права доступа к файлу, но одновременное применение этих прав (в особенности права записи) может привести к некорректным результатам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Примером такой ситуации является одновременное редактирование одного и того же документа несколькими пользователями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доступ к файлу не управляется блокировками, то каждый пользователь, который имеет право записи в файл, работает со своей копией данных файла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Результат такого редактирования непредсказуем – он зависит от того, в какой последовательности записывали изменения в файл применяемые пользователями приложения-редакторы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60691"/>
              </p:ext>
            </p:extLst>
          </p:nvPr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893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Многопользовательские операционные системы обычно поддерживают специальный системный вызов, позволяющий программисту устанавливать и проверять блокировки на файл и его отдельные области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Unix такой системный вызов называется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fcntl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В его аргументах указываются дескриптор файла, для которого нужно установить или проверить блокировки, тип операции (блокирование или проверка, блокирование доступа для чтения или для записи), а также область блокирования – смещение от начала файла и размер в байтах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8837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проверке наличия блокировок, установленных другими процессами, вызов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fcntl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немедленно возвращает управление с сообщением результата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установке блокировки можно задать два режима работы системного вызова: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переходом процесса в состояние ожидания в том случае, если блокировку установить невозможно (синхронный системный вызов)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немедленным возвратом в такой ситуации с сообщением отрицательного результата (асинхронный вызов)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230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Запрошенная блокировка записи не может быть установлена в том случае, если другой процесс уже установил свою блокировку записи на тот же файл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 есть блокировка записи является </a:t>
            </a: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исключительной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Блокировки чтения не являются исключительными и могут устанавливаться на файл в том случае, если их области действия не перекрываются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на какую-то область файла установлена блокировка чтения, то на эту область нельзя установить блокировку записи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1858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Unix существует два режима действия блокировок –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консультативный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advisory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обязательный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mandatory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Основным рекомендуемым для использования режимом является консультативный. При нем операционная система не занимается блокированием операций с файлом, а только устанавливает признаки блокирования областей в структурах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поддерживающих операции с файлами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Кооперирующиеся процессы обязательно должны проверять наличие блокировок на файл, чтобы синхронизировать свою работу. Если же блокировки установлены, но процесс не проверяет их, то операционная система не запрещает доступ процесса к файлу, когда процесс делает системные вызовы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Блокировки файлов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887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ОС Unix были введены в свое время понятия стандартных файлов: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Стандартный файл ввода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Стандартный файл вывода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Стандартный файл ошибок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три уже открытых файла существуют у любого пользовательского процесса с момента его возникновения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в любое время может организовать ввод данных из стандартного файла ввода, выполнив следующий системный вызов: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stdio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481374"/>
              </p:ext>
            </p:extLst>
          </p:nvPr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перенаправление 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5295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Здесь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stdio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предопределённое имя константы, обозначающей дескриптор стандартного файла ввода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Аналогично, так как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предопределенное имя дескриптора стандартного файла вывода, процесс может вывести данные в стандартный файл вывода, применив следующий системный вызов: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write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buffer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nbytes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стандартным файлом ошибок закреплено имя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перенаправление 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086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Фактически, при создании нового процесса ОС помещает в его таблицу открытых файлов три записи: с номером 0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стандартного файла ввода (следовательно,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stdin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всегда имеет значение 0), с номером 1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стандартного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файла вывода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stdout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= 1) и с номером 2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стандартного файла ошибок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stder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2)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Соответственно, создается и три структуры типа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на которые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указывают первые три записи таблицы открытых файлов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перенаправление 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632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начальный период существования процесса эти три структуры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file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связываются операционной системой с одним файлом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качестве этого файла выступает специальный файл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терминал, с которого вошел в систему пользователь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Такое назначение стандартных файлов достаточно естественно. Прикладные программы, запускаемые пользователем в ходе сеанса работы, чаще всего выводят результаты и сообщения об ошибках на экран терминала, за которым работает пользователь, и с клавиатуры этого же терминала считывают команды и другие исходные данные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551983"/>
              </p:ext>
            </p:extLst>
          </p:nvPr>
        </p:nvGraphicFramePr>
        <p:xfrm>
          <a:off x="879348" y="365128"/>
          <a:ext cx="10433304" cy="1097280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Стандартные файлы ввода</a:t>
                      </a:r>
                      <a:r>
                        <a:rPr lang="ru-RU" sz="36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и вывода,</a:t>
                      </a:r>
                    </a:p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kern="12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перенаправление </a:t>
                      </a: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вывода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759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FEC7-E86B-6191-8030-5712EEC3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1E04E5D-7BF4-0750-1580-C32B55F30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02369"/>
              </p:ext>
            </p:extLst>
          </p:nvPr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Создание</a:t>
                      </a:r>
                      <a:r>
                        <a:rPr lang="en-US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\</a:t>
                      </a:r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Открытие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70240394-32C3-DA93-89C9-0491255C8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59286A09-62F5-DBB9-DA53-92CA1118D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2948" y="2260381"/>
            <a:ext cx="6054754" cy="19941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44F14F69-AF5C-017B-53DC-7EE72DA5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E42F4534-665B-2C5C-C0B3-315FDA76517C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BCEA5195-5D95-D20A-381D-1DC77D81C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662" y="4858623"/>
            <a:ext cx="5267325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327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275D-B929-A188-A14A-8213403F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42AFA0D-D19E-CC34-A2D9-6665868380D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Закрытие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4080AB3E-8B9E-AFDB-4B62-1700A7112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B2937B7F-6B07-07D1-67E0-905CCA4C5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2948" y="2650033"/>
            <a:ext cx="6054754" cy="1214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657F0816-A15E-5F73-E291-E748E6552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84090EFE-4D46-35D1-50BD-16CB15401908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8DF94404-7A0F-0412-8B62-8C33F2FC7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3542" y="4858623"/>
            <a:ext cx="4413564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58703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B2F4-D9DF-C604-426F-383ED565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2409C4D-6B15-5AC8-19DC-638C8582719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Чтение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21B48AD9-93F5-347C-A462-59EFA749E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94D2086E-9132-0B7A-F3B0-611587E17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7047" y="2378482"/>
            <a:ext cx="6922706" cy="1876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F41E1CD9-1848-303B-DD91-A9C96F60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7B222CB4-CAA4-45BB-B05C-6376AE300958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7FCD7568-0DB1-959D-D495-A74865B6BF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519" y="5012773"/>
            <a:ext cx="6781762" cy="11302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6101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4F33-579F-6014-263C-D37C85BB8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10C84E8-69BE-17FA-53CF-86685AF6C9F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Запись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558BA700-27B1-BB4B-AFF8-BC4083590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A2EFD827-CE9A-01A8-DEE2-C7D2C4A2F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7000" y="2300424"/>
            <a:ext cx="6922800" cy="1914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9A1C7F47-E0AA-4FFA-B93E-37490524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5EFA607B-D753-892F-BE9F-6F152F45EC90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AA915FAF-BB43-B674-06AF-AA2509621E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200" y="4858623"/>
            <a:ext cx="6782400" cy="13175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0894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AABB-06B8-D202-313B-2ED41ABC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29984B7-5123-E9B1-A9CA-89BB2BD534C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Указатель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473FADCF-C522-5ED6-AF11-1049A4EFF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67EADC63-B097-645C-B4E7-177E407B1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2548" y="2378482"/>
            <a:ext cx="7586904" cy="17579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88E8EE26-5BA7-E2E7-0CA5-9B2C31BD0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8269F1CE-A1AB-A8B7-1AE2-A44587342587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8CCB7F27-FE61-CD94-D4C8-76AF47A302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6132" y="5003394"/>
            <a:ext cx="5267325" cy="8248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8537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A634-4F2A-D4EE-3FF4-6F70BE44E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A2E18B1-15D0-81E0-88A9-792FA8737FB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Атрибуты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AC285300-C1F7-B914-9492-4D42B6A6B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5AD48798-605A-EF34-F08A-ACE726A24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A6406BC0-DA30-D72B-6D9C-B374F500D795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2"/>
            <a:extLst>
              <a:ext uri="{FF2B5EF4-FFF2-40B4-BE49-F238E27FC236}">
                <a16:creationId xmlns:a16="http://schemas.microsoft.com/office/drawing/2014/main" id="{F25AE0CE-DC12-56D1-CFE7-51637B495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2106" y="4858623"/>
            <a:ext cx="5783163" cy="1542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Рисунок 3">
            <a:hlinkClick r:id="rId4"/>
            <a:extLst>
              <a:ext uri="{FF2B5EF4-FFF2-40B4-BE49-F238E27FC236}">
                <a16:creationId xmlns:a16="http://schemas.microsoft.com/office/drawing/2014/main" id="{D735AA5F-9D63-3800-6C6F-A688CB2C1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143126"/>
            <a:ext cx="5190688" cy="12165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6"/>
            <a:extLst>
              <a:ext uri="{FF2B5EF4-FFF2-40B4-BE49-F238E27FC236}">
                <a16:creationId xmlns:a16="http://schemas.microsoft.com/office/drawing/2014/main" id="{D64BD8BB-8BAA-5324-11DF-1C30E68BA6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344" y="3011613"/>
            <a:ext cx="5503178" cy="1253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3992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CAD6-8052-7075-DDA4-58FF97E2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A6C533D-4FF6-2D3F-B79D-BF3134F344D5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Блокирование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331223D5-8EBB-D6D8-F50A-8CDC77B9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44344AC0-E9CA-839F-009C-9B7B7CC17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2"/>
            <a:extLst>
              <a:ext uri="{FF2B5EF4-FFF2-40B4-BE49-F238E27FC236}">
                <a16:creationId xmlns:a16="http://schemas.microsoft.com/office/drawing/2014/main" id="{483A7FBF-A09C-8841-26B7-8C3DBA7A8B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7780" y="4858623"/>
            <a:ext cx="4321239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Объект 6">
            <a:extLst>
              <a:ext uri="{FF2B5EF4-FFF2-40B4-BE49-F238E27FC236}">
                <a16:creationId xmlns:a16="http://schemas.microsoft.com/office/drawing/2014/main" id="{9F5540C3-EB43-5555-C596-CD90EB85E2C7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1986FE3-AE9C-80CC-B1F5-C73E9E50C618}"/>
              </a:ext>
            </a:extLst>
          </p:cNvPr>
          <p:cNvGrpSpPr/>
          <p:nvPr/>
        </p:nvGrpSpPr>
        <p:grpSpPr>
          <a:xfrm>
            <a:off x="1360012" y="2236339"/>
            <a:ext cx="6054754" cy="1587846"/>
            <a:chOff x="1631048" y="2226819"/>
            <a:chExt cx="6054754" cy="1587846"/>
          </a:xfrm>
        </p:grpSpPr>
        <p:pic>
          <p:nvPicPr>
            <p:cNvPr id="9" name="Рисунок 8">
              <a:hlinkClick r:id="rId4"/>
              <a:extLst>
                <a:ext uri="{FF2B5EF4-FFF2-40B4-BE49-F238E27FC236}">
                  <a16:creationId xmlns:a16="http://schemas.microsoft.com/office/drawing/2014/main" id="{96762748-2FED-1649-772C-9CD09EB38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31048" y="2226819"/>
              <a:ext cx="6054754" cy="158784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A6AD17CC-81D6-E59A-EF02-A9F72B301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93079" y="2237985"/>
              <a:ext cx="812072" cy="164952"/>
            </a:xfrm>
            <a:prstGeom prst="rect">
              <a:avLst/>
            </a:prstGeom>
          </p:spPr>
        </p:pic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E790EE23-E829-F46F-1867-4997937DBBCC}"/>
                </a:ext>
              </a:extLst>
            </p:cNvPr>
            <p:cNvSpPr/>
            <p:nvPr/>
          </p:nvSpPr>
          <p:spPr>
            <a:xfrm>
              <a:off x="2177415" y="2253615"/>
              <a:ext cx="115664" cy="1352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pic>
        <p:nvPicPr>
          <p:cNvPr id="10" name="Рисунок 9">
            <a:hlinkClick r:id="rId7"/>
            <a:extLst>
              <a:ext uri="{FF2B5EF4-FFF2-40B4-BE49-F238E27FC236}">
                <a16:creationId xmlns:a16="http://schemas.microsoft.com/office/drawing/2014/main" id="{D7ACC904-BFFD-5EE4-B805-F9BBB4763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8159" y="2398390"/>
            <a:ext cx="6054754" cy="15878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31891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A94B2-A4AF-056A-1CAC-F1D1A924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668FCD64-8BF2-C3DE-45ED-43312F498F29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Сброс буфера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3FEE271A-CAC3-88EF-56E4-CE4068892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92511192-3689-F5FE-7148-2A7F8BF1C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70B9AA36-5777-01D7-0B38-A8620819E36B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hlinkClick r:id="rId2"/>
            <a:extLst>
              <a:ext uri="{FF2B5EF4-FFF2-40B4-BE49-F238E27FC236}">
                <a16:creationId xmlns:a16="http://schemas.microsoft.com/office/drawing/2014/main" id="{0D1B8BE5-6EE5-D11D-2560-0DE126929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662" y="2492379"/>
            <a:ext cx="6162675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4"/>
            <a:extLst>
              <a:ext uri="{FF2B5EF4-FFF2-40B4-BE49-F238E27FC236}">
                <a16:creationId xmlns:a16="http://schemas.microsoft.com/office/drawing/2014/main" id="{11D69AB0-3BE2-F90E-1A2C-1FAC92DD0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376" y="4799900"/>
            <a:ext cx="4717245" cy="106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81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69FB-4C7D-A37B-8A21-B80A665C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4B37B8D-5FA4-29BE-53FC-260BFB417248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</a:t>
                      </a:r>
                      <a:r>
                        <a:rPr lang="en-US" sz="40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WinAPI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B21C11B2-6236-C7F1-E7E0-53A5B2E3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11012861-AAFC-C6AB-2C0D-D2827AF7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Копирование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Рисунок 2">
            <a:hlinkClick r:id="rId2"/>
            <a:extLst>
              <a:ext uri="{FF2B5EF4-FFF2-40B4-BE49-F238E27FC236}">
                <a16:creationId xmlns:a16="http://schemas.microsoft.com/office/drawing/2014/main" id="{A509DC0D-6BDB-21B6-1449-23B0E57A4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5521" y="4179677"/>
            <a:ext cx="6054754" cy="10954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Объект 6">
            <a:extLst>
              <a:ext uri="{FF2B5EF4-FFF2-40B4-BE49-F238E27FC236}">
                <a16:creationId xmlns:a16="http://schemas.microsoft.com/office/drawing/2014/main" id="{9FBBA1B4-80CA-71A9-19FA-CCD8EA30AECA}"/>
              </a:ext>
            </a:extLst>
          </p:cNvPr>
          <p:cNvSpPr txBox="1">
            <a:spLocks/>
          </p:cNvSpPr>
          <p:nvPr/>
        </p:nvSpPr>
        <p:spPr>
          <a:xfrm>
            <a:off x="1143000" y="401554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Перемещение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60E82950-3F7B-FA60-656E-6BA562623B9F}"/>
              </a:ext>
            </a:extLst>
          </p:cNvPr>
          <p:cNvSpPr txBox="1">
            <a:spLocks/>
          </p:cNvSpPr>
          <p:nvPr/>
        </p:nvSpPr>
        <p:spPr>
          <a:xfrm>
            <a:off x="1143000" y="4464903"/>
            <a:ext cx="3347906" cy="109543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можно использовать для переименования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19425C62-9F4D-CDFC-04F3-C5041E04DBE8}"/>
              </a:ext>
            </a:extLst>
          </p:cNvPr>
          <p:cNvGrpSpPr/>
          <p:nvPr/>
        </p:nvGrpSpPr>
        <p:grpSpPr>
          <a:xfrm>
            <a:off x="4657344" y="1656281"/>
            <a:ext cx="6278880" cy="1324663"/>
            <a:chOff x="4657344" y="1656281"/>
            <a:chExt cx="6278880" cy="1324663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06ACAF91-4555-60AA-8D73-18CA1FE2707A}"/>
                </a:ext>
              </a:extLst>
            </p:cNvPr>
            <p:cNvSpPr/>
            <p:nvPr/>
          </p:nvSpPr>
          <p:spPr>
            <a:xfrm>
              <a:off x="4657344" y="1656281"/>
              <a:ext cx="6278880" cy="13246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0B8315D-1750-ADA3-FB7A-55DC1EA067D1}"/>
                </a:ext>
              </a:extLst>
            </p:cNvPr>
            <p:cNvGrpSpPr/>
            <p:nvPr/>
          </p:nvGrpSpPr>
          <p:grpSpPr>
            <a:xfrm>
              <a:off x="4775521" y="1748847"/>
              <a:ext cx="6054754" cy="1181947"/>
              <a:chOff x="4775521" y="1748847"/>
              <a:chExt cx="6054754" cy="1181947"/>
            </a:xfrm>
          </p:grpSpPr>
          <p:pic>
            <p:nvPicPr>
              <p:cNvPr id="10" name="Рисунок 9">
                <a:hlinkClick r:id="rId4"/>
                <a:extLst>
                  <a:ext uri="{FF2B5EF4-FFF2-40B4-BE49-F238E27FC236}">
                    <a16:creationId xmlns:a16="http://schemas.microsoft.com/office/drawing/2014/main" id="{BBAE9133-4E5C-9341-7A86-CCEC51CEA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1162"/>
              <a:stretch/>
            </p:blipFill>
            <p:spPr>
              <a:xfrm>
                <a:off x="4775521" y="1748847"/>
                <a:ext cx="6054754" cy="57490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/>
            </p:spPr>
          </p:pic>
          <p:pic>
            <p:nvPicPr>
              <p:cNvPr id="11" name="Рисунок 10">
                <a:hlinkClick r:id="rId4"/>
                <a:extLst>
                  <a:ext uri="{FF2B5EF4-FFF2-40B4-BE49-F238E27FC236}">
                    <a16:creationId xmlns:a16="http://schemas.microsoft.com/office/drawing/2014/main" id="{198FB969-CE88-8522-5C60-8B4308628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61853"/>
              <a:stretch/>
            </p:blipFill>
            <p:spPr>
              <a:xfrm>
                <a:off x="4775521" y="2170260"/>
                <a:ext cx="6054754" cy="7605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5495546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8D33-8CE9-FBFA-F2FA-D8642EC9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8154CCD-CD3B-64DD-DBD5-EC2AAED2674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</a:t>
                      </a:r>
                      <a:r>
                        <a:rPr lang="en-US" sz="4000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WinAPI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87B033A-63D6-0C2F-4F0D-660CC3633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7916E460-7055-0490-AB6F-C064B00E29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0906" y="1731444"/>
            <a:ext cx="6569168" cy="18937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57059D61-4633-FDFD-0FFA-B895E08E2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Замещение файла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Рисунок 2">
            <a:hlinkClick r:id="rId4"/>
            <a:extLst>
              <a:ext uri="{FF2B5EF4-FFF2-40B4-BE49-F238E27FC236}">
                <a16:creationId xmlns:a16="http://schemas.microsoft.com/office/drawing/2014/main" id="{2CAFA51F-190F-4605-2A69-229983100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7310" y="4179677"/>
            <a:ext cx="6551176" cy="17960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Объект 6">
            <a:extLst>
              <a:ext uri="{FF2B5EF4-FFF2-40B4-BE49-F238E27FC236}">
                <a16:creationId xmlns:a16="http://schemas.microsoft.com/office/drawing/2014/main" id="{47F59C2D-44F4-694B-376D-BF772ADF459F}"/>
              </a:ext>
            </a:extLst>
          </p:cNvPr>
          <p:cNvSpPr txBox="1">
            <a:spLocks/>
          </p:cNvSpPr>
          <p:nvPr/>
        </p:nvSpPr>
        <p:spPr>
          <a:xfrm>
            <a:off x="1143000" y="4179677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о файле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5712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05427-3777-2C44-8E72-1DC1BD36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7D87789-5067-ADBB-A64C-CA8A59C1D1D2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Создание каталога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DD1D12B6-F4E1-4882-204D-4CBC2AD8C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D8B57982-98EA-8CB7-C444-CF30A90C3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2845" y="2378482"/>
            <a:ext cx="7918822" cy="1376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C0C74301-0F33-C494-CBB0-8FF6589D0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456D65F0-2A4D-80B8-ABAD-C4D8D949A66A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6488D856-F453-80C8-7926-9E224158D0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8727" y="4858623"/>
            <a:ext cx="5394546" cy="16931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125447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13CB-F289-DC5A-56F0-49898F9C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881DC89-D66E-8B47-0295-29FAD70942D7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4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Удаление каталога</a:t>
                      </a:r>
                      <a:endParaRPr lang="LID4096" sz="40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99E0D2AB-3D53-2953-9B34-F29955094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243E4105-AD21-689A-74B7-583DFB985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9114" y="2378482"/>
            <a:ext cx="7126283" cy="1376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CE7D1A39-AD41-1288-7929-9ACB4F6F2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56281"/>
            <a:ext cx="3347906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0FF74512-A80F-5F00-6BBC-200EBFE0B9DE}"/>
              </a:ext>
            </a:extLst>
          </p:cNvPr>
          <p:cNvSpPr txBox="1">
            <a:spLocks/>
          </p:cNvSpPr>
          <p:nvPr/>
        </p:nvSpPr>
        <p:spPr>
          <a:xfrm>
            <a:off x="1143000" y="4409268"/>
            <a:ext cx="3347906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5" name="Рисунок 14">
            <a:hlinkClick r:id="rId4"/>
            <a:extLst>
              <a:ext uri="{FF2B5EF4-FFF2-40B4-BE49-F238E27FC236}">
                <a16:creationId xmlns:a16="http://schemas.microsoft.com/office/drawing/2014/main" id="{7B685AE7-F51B-3BC0-6B19-4CBE75E82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8727" y="4975982"/>
            <a:ext cx="5394546" cy="14584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43056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D57D-CC11-145F-3C8A-1F67F811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7D72D5E-2EF5-4F66-1C7B-F934C7FC9C3C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65126"/>
          <a:ext cx="10210800" cy="1018309"/>
        </p:xfrm>
        <a:graphic>
          <a:graphicData uri="http://schemas.openxmlformats.org/drawingml/2006/table">
            <a:tbl>
              <a:tblPr/>
              <a:tblGrid>
                <a:gridCol w="10210800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Перемещение каталога</a:t>
                      </a:r>
                      <a:endParaRPr lang="LID4096" sz="36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6EAD88A3-9E38-D332-E18F-CB129A504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1D335C0A-BB8E-F61C-0EB4-2949D5250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79114" y="2431625"/>
            <a:ext cx="7126283" cy="12698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694B7BAC-0AC3-9223-3252-6518DFA7F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656281"/>
            <a:ext cx="9871745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(ограничение: только в рамках одного тома)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59F7D01A-47BD-92AA-5F3B-025BF132D30E}"/>
              </a:ext>
            </a:extLst>
          </p:cNvPr>
          <p:cNvSpPr txBox="1">
            <a:spLocks/>
          </p:cNvSpPr>
          <p:nvPr/>
        </p:nvSpPr>
        <p:spPr>
          <a:xfrm>
            <a:off x="1142998" y="4409268"/>
            <a:ext cx="8957347" cy="4493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стандартная функция отсутствует 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6372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ECC8-7CE7-DB40-5FBA-1239DF8D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71FE84D-7E76-4E48-A7E4-B0C08CCF2C8B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365126"/>
          <a:ext cx="10366695" cy="1018309"/>
        </p:xfrm>
        <a:graphic>
          <a:graphicData uri="http://schemas.openxmlformats.org/drawingml/2006/table">
            <a:tbl>
              <a:tblPr/>
              <a:tblGrid>
                <a:gridCol w="10366695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Наблюдение за каталогом</a:t>
                      </a:r>
                      <a:endParaRPr lang="LID4096" sz="36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D22D263B-B878-3909-7D29-BBF6C9B13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D5E8632D-38D3-8554-CA5A-6BC5F9018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731" y="2183538"/>
            <a:ext cx="4996615" cy="1425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38A2E69C-498B-39F1-916D-45DD1F6E5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656281"/>
            <a:ext cx="9871745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 API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hlinkClick r:id="rId4"/>
            <a:extLst>
              <a:ext uri="{FF2B5EF4-FFF2-40B4-BE49-F238E27FC236}">
                <a16:creationId xmlns:a16="http://schemas.microsoft.com/office/drawing/2014/main" id="{D17C2B43-8356-F8A1-AA14-182058230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9651" y="3357432"/>
            <a:ext cx="9934575" cy="12001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6"/>
            <a:extLst>
              <a:ext uri="{FF2B5EF4-FFF2-40B4-BE49-F238E27FC236}">
                <a16:creationId xmlns:a16="http://schemas.microsoft.com/office/drawing/2014/main" id="{26CCF0DA-C194-52ED-FC5B-6267379C7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9731" y="4602302"/>
            <a:ext cx="9820275" cy="121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370405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3DD8-357B-3F2E-68BF-F8BCB438D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3C65146-F15C-3A84-8D55-371EDA0574D1}"/>
              </a:ext>
            </a:extLst>
          </p:cNvPr>
          <p:cNvGraphicFramePr>
            <a:graphicFrameLocks noGrp="1"/>
          </p:cNvGraphicFramePr>
          <p:nvPr/>
        </p:nvGraphicFramePr>
        <p:xfrm>
          <a:off x="1142999" y="365126"/>
          <a:ext cx="10366695" cy="1018309"/>
        </p:xfrm>
        <a:graphic>
          <a:graphicData uri="http://schemas.openxmlformats.org/drawingml/2006/table">
            <a:tbl>
              <a:tblPr/>
              <a:tblGrid>
                <a:gridCol w="10366695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Arial" panose="020B0604020202020204" pitchFamily="34" charset="0"/>
                        </a:rPr>
                        <a:t>Управление файлами – Наблюдение за каталогом</a:t>
                      </a:r>
                      <a:endParaRPr lang="LID4096" sz="3600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77114A6A-1041-359A-5EFD-5FFB9F708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10" name="Рисунок 9">
            <a:hlinkClick r:id="rId2"/>
            <a:extLst>
              <a:ext uri="{FF2B5EF4-FFF2-40B4-BE49-F238E27FC236}">
                <a16:creationId xmlns:a16="http://schemas.microsoft.com/office/drawing/2014/main" id="{70B4AA86-DB51-A0A7-F214-D9E01A3E7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731" y="2150356"/>
            <a:ext cx="4227293" cy="14256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Объект 6">
            <a:extLst>
              <a:ext uri="{FF2B5EF4-FFF2-40B4-BE49-F238E27FC236}">
                <a16:creationId xmlns:a16="http://schemas.microsoft.com/office/drawing/2014/main" id="{4EDD6F5F-0CE3-06E7-A7D8-72C15C7BB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1656281"/>
            <a:ext cx="9871745" cy="4493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Linux API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not POSIX)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Рисунок 3">
            <a:hlinkClick r:id="rId4"/>
            <a:extLst>
              <a:ext uri="{FF2B5EF4-FFF2-40B4-BE49-F238E27FC236}">
                <a16:creationId xmlns:a16="http://schemas.microsoft.com/office/drawing/2014/main" id="{B5AD9565-A926-CFBF-593A-5FD10AFE41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2542" y="3381250"/>
            <a:ext cx="9298459" cy="12001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>
            <a:hlinkClick r:id="rId6"/>
            <a:extLst>
              <a:ext uri="{FF2B5EF4-FFF2-40B4-BE49-F238E27FC236}">
                <a16:creationId xmlns:a16="http://schemas.microsoft.com/office/drawing/2014/main" id="{266A5BFF-02FD-1E9E-5E7E-ADB39B0AF6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731" y="4581400"/>
            <a:ext cx="6722691" cy="1219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965947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8086" y="3635622"/>
            <a:ext cx="5155828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Операции над файлами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2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47592" y="3051019"/>
            <a:ext cx="1896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7268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43820</TotalTime>
  <Words>3274</Words>
  <Application>Microsoft Office PowerPoint</Application>
  <PresentationFormat>Widescreen</PresentationFormat>
  <Paragraphs>243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1932</cp:revision>
  <cp:lastPrinted>2025-11-01T06:17:20Z</cp:lastPrinted>
  <dcterms:created xsi:type="dcterms:W3CDTF">2024-09-04T11:03:42Z</dcterms:created>
  <dcterms:modified xsi:type="dcterms:W3CDTF">2025-12-26T06:01:38Z</dcterms:modified>
</cp:coreProperties>
</file>