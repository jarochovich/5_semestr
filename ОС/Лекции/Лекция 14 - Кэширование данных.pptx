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256" r:id="rId2"/>
    <p:sldId id="322" r:id="rId3"/>
    <p:sldId id="2435" r:id="rId4"/>
    <p:sldId id="2536" r:id="rId5"/>
    <p:sldId id="2537" r:id="rId6"/>
    <p:sldId id="2538" r:id="rId7"/>
    <p:sldId id="2400" r:id="rId8"/>
    <p:sldId id="2436" r:id="rId9"/>
    <p:sldId id="2539" r:id="rId10"/>
    <p:sldId id="2540" r:id="rId11"/>
    <p:sldId id="2437" r:id="rId12"/>
    <p:sldId id="2541" r:id="rId13"/>
    <p:sldId id="2542" r:id="rId14"/>
    <p:sldId id="2543" r:id="rId15"/>
    <p:sldId id="2544" r:id="rId16"/>
    <p:sldId id="2545" r:id="rId17"/>
    <p:sldId id="2546" r:id="rId18"/>
    <p:sldId id="2547" r:id="rId19"/>
    <p:sldId id="2548" r:id="rId20"/>
    <p:sldId id="2549" r:id="rId21"/>
    <p:sldId id="2550" r:id="rId22"/>
    <p:sldId id="2551" r:id="rId23"/>
    <p:sldId id="2552" r:id="rId24"/>
    <p:sldId id="2553" r:id="rId25"/>
    <p:sldId id="2554" r:id="rId26"/>
    <p:sldId id="2555" r:id="rId27"/>
    <p:sldId id="2556" r:id="rId28"/>
    <p:sldId id="2558" r:id="rId29"/>
    <p:sldId id="2557" r:id="rId30"/>
    <p:sldId id="2559" r:id="rId31"/>
    <p:sldId id="2560" r:id="rId32"/>
    <p:sldId id="2561" r:id="rId33"/>
    <p:sldId id="2563" r:id="rId34"/>
    <p:sldId id="2590" r:id="rId35"/>
    <p:sldId id="2562" r:id="rId36"/>
    <p:sldId id="2564" r:id="rId37"/>
    <p:sldId id="2565" r:id="rId38"/>
    <p:sldId id="2566" r:id="rId39"/>
    <p:sldId id="2567" r:id="rId40"/>
    <p:sldId id="2568" r:id="rId41"/>
    <p:sldId id="2569" r:id="rId42"/>
    <p:sldId id="2570" r:id="rId43"/>
    <p:sldId id="2571" r:id="rId44"/>
    <p:sldId id="2572" r:id="rId45"/>
    <p:sldId id="2573" r:id="rId46"/>
    <p:sldId id="2574" r:id="rId47"/>
    <p:sldId id="2575" r:id="rId48"/>
    <p:sldId id="2576" r:id="rId49"/>
    <p:sldId id="2577" r:id="rId50"/>
    <p:sldId id="2578" r:id="rId51"/>
    <p:sldId id="2579" r:id="rId52"/>
    <p:sldId id="2580" r:id="rId53"/>
    <p:sldId id="2581" r:id="rId54"/>
    <p:sldId id="2582" r:id="rId55"/>
    <p:sldId id="2583" r:id="rId56"/>
    <p:sldId id="2584" r:id="rId57"/>
    <p:sldId id="2585" r:id="rId58"/>
    <p:sldId id="2587" r:id="rId59"/>
    <p:sldId id="2589" r:id="rId60"/>
    <p:sldId id="2588" r:id="rId61"/>
    <p:sldId id="2586" r:id="rId62"/>
    <p:sldId id="2535" r:id="rId6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65B88BE-7067-4E01-A3DC-10AFCF848BC8}">
          <p14:sldIdLst>
            <p14:sldId id="256"/>
            <p14:sldId id="322"/>
            <p14:sldId id="2435"/>
            <p14:sldId id="2536"/>
            <p14:sldId id="2537"/>
            <p14:sldId id="2538"/>
            <p14:sldId id="2400"/>
            <p14:sldId id="2436"/>
            <p14:sldId id="2539"/>
            <p14:sldId id="2540"/>
            <p14:sldId id="2437"/>
            <p14:sldId id="2541"/>
            <p14:sldId id="2542"/>
            <p14:sldId id="2543"/>
            <p14:sldId id="2544"/>
            <p14:sldId id="2545"/>
            <p14:sldId id="2546"/>
            <p14:sldId id="2547"/>
            <p14:sldId id="2548"/>
            <p14:sldId id="2549"/>
            <p14:sldId id="2550"/>
            <p14:sldId id="2551"/>
            <p14:sldId id="2552"/>
            <p14:sldId id="2553"/>
            <p14:sldId id="2554"/>
            <p14:sldId id="2555"/>
            <p14:sldId id="2556"/>
            <p14:sldId id="2558"/>
            <p14:sldId id="2557"/>
            <p14:sldId id="2559"/>
            <p14:sldId id="2560"/>
            <p14:sldId id="2561"/>
            <p14:sldId id="2563"/>
            <p14:sldId id="2590"/>
            <p14:sldId id="2562"/>
            <p14:sldId id="2564"/>
            <p14:sldId id="2565"/>
            <p14:sldId id="2566"/>
            <p14:sldId id="2567"/>
            <p14:sldId id="2568"/>
            <p14:sldId id="2569"/>
            <p14:sldId id="2570"/>
            <p14:sldId id="2571"/>
            <p14:sldId id="2572"/>
            <p14:sldId id="2573"/>
            <p14:sldId id="2574"/>
            <p14:sldId id="2575"/>
            <p14:sldId id="2576"/>
            <p14:sldId id="2577"/>
            <p14:sldId id="2578"/>
            <p14:sldId id="2579"/>
            <p14:sldId id="2580"/>
            <p14:sldId id="2581"/>
            <p14:sldId id="2582"/>
            <p14:sldId id="2583"/>
            <p14:sldId id="2584"/>
            <p14:sldId id="2585"/>
            <p14:sldId id="2587"/>
            <p14:sldId id="2589"/>
            <p14:sldId id="2588"/>
            <p14:sldId id="2586"/>
            <p14:sldId id="253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vel Bernatsky" initials="PB" lastIdx="1" clrIdx="0">
    <p:extLst>
      <p:ext uri="{19B8F6BF-5375-455C-9EA6-DF929625EA0E}">
        <p15:presenceInfo xmlns:p15="http://schemas.microsoft.com/office/powerpoint/2012/main" userId="ccc84f90653f6d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1C54A-6947-426C-B525-F25AAC6D8000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E16E5-A75C-4DD5-8B93-6FB68F18C13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975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65694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33423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64130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7560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404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73052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34549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26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90994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27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6772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29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433543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30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470928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31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730818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32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738526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35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35394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36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745699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37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54422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38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834596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40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755172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41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149222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43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40368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44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883477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45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574269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47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774553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48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89002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50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600278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51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99514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52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442819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54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280650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55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855900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56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741320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57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022819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58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726095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60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597179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61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4934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7616F-E2AF-5AFF-C83A-FE3735AD8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F40183-988B-BA61-B91E-493895FD9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93C7B4-DBE6-06CE-CFC7-F4ED4D99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5BB8FF-A395-C430-3789-0945A531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F6F5BE-4CB2-9257-FD2E-739215DB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546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2D562-7427-3307-029D-4B44232F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8B9DD3-38AD-093A-348B-69D8AF958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409026-C297-8D81-0690-BCF909A2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B93BB5-71D6-265C-76BF-7BA55253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B812ED-7C3E-2E99-174E-7CBA5506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836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7F112-08AD-1D83-FA9D-D723E27C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D4462B-7C02-3784-D700-720E99BA1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B8AEC1-27F7-FAA3-29A1-66B8783B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9F6EE4-5AF4-CE7C-B7F4-C587BFECE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262F68-CBA3-0915-2295-961EC87EC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70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AAB05-2830-EFAE-DE4B-ACD17427A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4D6307-654D-D982-4407-B8F3D7946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186F62-1DB1-3C6F-EA13-795572FAE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940FA2-011F-64EB-05FB-8559EF775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7AD932-F2FD-1AF1-F4D9-F5E82D0C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145922-4144-9D1A-7394-C37497389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375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C79E9-E032-A699-2CFB-44AC92832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2F1728-CD76-7149-9437-8308AF8E6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E31FA6F-EC02-4DE3-6650-B80F00E86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F9C784-C313-EF39-B97C-F19B68E62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9EC93D1-A12D-D057-6BE7-78586123A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9B00CC-01F6-7087-C302-940F9C98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6EBCC5B-A9F4-C18A-35F5-2949CEAA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B8B959-499F-742D-E1FF-78941C4B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029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B2447-25C4-6DCF-DAD4-FEDF21FF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846070A-CABC-8A01-79F7-51A84F44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485DBC-EE1F-353D-3249-9E99780A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D416B2-2B57-8CF9-D053-EF6A7AB1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6694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A9FDE4F-142C-5FCB-A615-EDAA1353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6EB5D2-B75C-FB77-8F63-19FA5384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B97733-0993-8A78-D35D-65EA8B9F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051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8FC8E-4425-CC0C-710F-98C6425E3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73CCAC-EA76-40D6-17B2-7C2AFD435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FDA7B0-EDAC-58A1-8AED-C4E8D631B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C5F31B-981C-419A-6E49-3095113FB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8C04E2-0ACD-F790-199B-7863EDE0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0F2067-A078-C57A-9204-3A8B2F26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211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29DED-D98F-B6A2-AD7C-772F99A3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0C5605-1482-0713-0D51-A3FAC7815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A60C0B-E2FB-D11A-ADBF-D996E01CF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DE09DD-B690-CF21-DFC4-F02331B6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16318B-2EDE-3598-7847-C4B42395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7F3B72-6E6E-8853-E9C1-9458DC7C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140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32ABC-7F92-53F8-6B38-14EBA795E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74F8DD-3073-73DB-0FEC-83EE799CF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52118E-3EA2-A9A4-2BC2-E44B3237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9690F8-6FA6-1F50-D67E-E6622891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72A8B7-B8F9-CA99-A4E2-0D1A6411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267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4C6878-D0A6-5DB7-DDA4-5524F63A1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290E6A-E317-C5F4-3234-CA514674E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27F236-BB3C-2C98-8A01-D57936776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B6E046-C620-4F58-405E-9C0103599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06496C-B074-7D9D-1BB6-63F00672A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81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D0170-EF02-F5B2-75D2-863D12552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7FE9A8-6239-E8DA-5893-CC54DCF5A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C7A97B-8B60-4C6E-4780-AF77C5AA1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700BE-7692-4207-B54B-A48E0B87749C}" type="datetimeFigureOut">
              <a:rPr lang="LID4096" smtClean="0"/>
              <a:t>12/13/2025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9804F4-87F9-55E6-92A8-EB0A9D1E6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4F28E9-786F-C124-9986-B7AAB37E4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036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9613" y="3635622"/>
            <a:ext cx="4772774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Кэширование данных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2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147592" y="3051019"/>
            <a:ext cx="1896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8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93"/>
            <a:ext cx="10515600" cy="49981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Кэширование данных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Принцип действия кэш-памяти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Отображение основной памяти на кэш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Схемы выполнения запросов в системах с кэш-памятью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Буфер ассоциативной трансляции</a:t>
            </a:r>
          </a:p>
          <a:p>
            <a:pPr>
              <a:buFont typeface="Wingdings" panose="05000000000000000000" pitchFamily="2" charset="2"/>
              <a:buChar char="Ø"/>
            </a:pPr>
            <a:endParaRPr lang="ru-R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ru-R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921328" y="365128"/>
          <a:ext cx="10432472" cy="1018309"/>
        </p:xfrm>
        <a:graphic>
          <a:graphicData uri="http://schemas.openxmlformats.org/drawingml/2006/table">
            <a:tbl>
              <a:tblPr/>
              <a:tblGrid>
                <a:gridCol w="10432472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j-cs"/>
                        </a:rPr>
                        <a:t>План лекции</a:t>
                      </a:r>
                      <a:endParaRPr lang="LID4096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100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Кэширование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данных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 универсальный метод ускорения доступа к данным, основанный на комбинации двух типов памяти, отличающихся временем доступа, объемом и стоимостью хранения данных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Наиболее часто используемая в данный период информация динамически копируется из «медленной, но большой» памяти в «быструю, но маленькую»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кэш-память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или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кэш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cash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Кэширование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это процесс переноса данных в память с более быстрым доступом 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437804"/>
              </p:ext>
            </p:extLst>
          </p:nvPr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Кэширование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91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если кэширование применяется для уменьшения среднего времени доступа к оперативной памяти, то в качестве кэша выступает быстродействующая статическая память процессора или даже его регистры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 если система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ввода-вывода кэширует данные для ускорения доступа к информации, хранящейся на диске, то в этом случае роль кэша исполняют буферы в оперативной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памяти, в которых оседают наиболее активно используемые данные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Кэширование широко используется и в Интернете, в частности при разрешении символьных DNS-имен, в протоколе ARP, в работе браузера. Страницы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информации с удаленных веб-сайтов («медленная, но большая» память), к которым с помощью браузера обращается пользователь, кэшируются на диске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его компьютера («быстрая, но маленькая» память)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Кэширование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4549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Кэширование позволяет не только сократить среднее время доступа к данным, но и экономить более дорогую быстродействующую память. Виртуальную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память можно считать одним из вариантов реализации принципа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кэширования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данных, при котором основной целью является экономия памяти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Действительно, оперативная память выступает здесь в роли кэша по отношению к внешней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памяти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жесткому диску. Кэширование задействуется здесь не для того, чтобы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сократить время доступа к данным (команды в принципе не могут выполняться, находясь на диске), а для того, чтобы заставить диск частично подменить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оперативную память за счет перемещения временно неиспользуемых кода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данных на диск с целью освобождения места для активных процессов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результате наиболее интенсивно применяемые данные «оседают» в оперативной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памяти, остальная же информация хранится в более объемной и менее дорого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стоящей внешней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Кэширование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536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Неотъемлемым свойством кэш-памяти является её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прозрачность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для программ и пользователей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Система, реализующая кэширование, не требует никакой внешней информации об интенсивности обращения к данным; ни пользователи, ни программы не принимают никакого участия в перемещении данных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 одного типа памяти в память другого типа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это делается автоматически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системными средствами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Кэширование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423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Память вычислительной машины представляет собой иерархию запоминающих устройств (ЗУ), отличающихся средним временем доступа к данным, объемом и стоимостью хранения одного бита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Фундаментом этой пирамиды запоминающих устройств служит внешняя память, как правило, представляемая жестким диском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Она имеет большой объем (десятки и сотни гигабайтов), но скорость доступа к данным является невысокой. Время доступа к диску из меряется миллисекундами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709142"/>
              </p:ext>
            </p:extLst>
          </p:nvPr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Кэширование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0824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835641"/>
              </p:ext>
            </p:extLst>
          </p:nvPr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Кэширование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C320F62-033D-D14B-CAE8-98FDB516D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3290" y="1450848"/>
            <a:ext cx="10045420" cy="5248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7140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следующем уровне располагается более быстродействующая (время доступа равно примерно 10-20 наносекундам) и менее объемная (от десятков мегабайтов до нескольких гигабайтов) оперативная память, реализуемая на относительно медленной динамической памяти DRAM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хранения данных, к которым необходимо обеспечить быстрый доступ, используются компактные быстродействующие запоминающие устройства на основе статической памяти SRAM, объем которых составляет от нескольких десятков до нескольких сотен килобайтов, а время доступа к данным обычно не превышает 8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нс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Кэширование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840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наконец, верхушку в этой пирамиде составляют внутренние регистры процессора, которые также могут быть использованы для промежуточного хранения данных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Общий объем регистров составляет несколько десятков байтов, а время доступа определяется быстродействием процессора и равно в настоящее время примерно 2-3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нс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перечисленные характеристики ЗУ быстро изменяются по мере совершенствования вычислительной аппаратуры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данном случае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важны не абсолютные значения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времени доступа или объема памяти,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 их соотношение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разных типов запоминающих устройств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Кэширование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3552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Таким образом, можно констатировать печальную закономерность – чем больше объем устройства, тем менее быстродействующим оно является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Более того, стоимость хранения данных в расчете на один бит также увеличивается с ростом быстродействия устройств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то же время пользователю хотелось бы иметь и недорогую, и быструю память. Кэш-память представляет некоторое компромиссное решение этой проблемы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204528"/>
              </p:ext>
            </p:extLst>
          </p:nvPr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Кэширование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8862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Рассмотрим одну из возможных схем кэширования Содержимое кэш-памяти представляет собой совокупность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записей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обо всех загруженных в нее элементах данных из основной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Каждая запись об элементе данных включает в себя: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Значение элемента данных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Адрес, который этот элемент данных имеет в основной памяти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Дополнительную информацию, которая используется для реализации алгоритма замещения данных в кэше и обычно включает признак модификации и признак действительности данных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128824"/>
              </p:ext>
            </p:extLst>
          </p:nvPr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Принцип действия кэш-памяти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1637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Принцип действия кэш-памяти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CA4EBC0-C029-F951-5E4A-409D35530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039" y="1676400"/>
            <a:ext cx="7019925" cy="4724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76194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каждом обращении к основной памяти по физическому адресу просматривается содержимое кэш-памяти с целью определения, не находятся ли там нужные данные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Кэш-память не является адресуемой, поэтому поиск нужных данных осуществляется по содержимому – по взятому из запроса значению поля адреса в оперативной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Далее возможен один из двух вариантов развития событий: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данные обнаруживаются в кэш-памяти, то есть происходит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кэш-попадание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cache-hit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), они считываются из нее, и результат передается источнику запроса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нужные данные отсутствуют в кэш-памяти, то есть происходит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кэш-промах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cache-miss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), они считываются из основной памяти, передаются источнику запроса и одновременно с этим копируются в кэш-память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Принцип действия кэш-памяти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3670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Интуитивно понятно, что эффективность кэширования зависит от вероятности кэш-попадания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Покажем это путем нахождения зависимости среднего времени доступа к основной памяти от вероятности кэш-попаданий. Пусть имеется основное запоминающее устройство со средним временем доступа к данным t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кэш-память, имеющая время доступа t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очевидно, что t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&lt; t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Пусть t – среднее время доступа к данным в системе с кэш-памятью, а р – вероятность кэш-попадания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 формуле полной вероятности имеем:</a:t>
            </a:r>
          </a:p>
          <a:p>
            <a:pPr marL="0" indent="0" algn="ctr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 =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-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р) + t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 = (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-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 +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Принцип действия кэш-памяти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0362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Среднее время доступа к данным в системе с кэш-памятью линейно зависит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 вероятности кэш-попадания и изменяется от среднего времени доступа в основное запоминающее устройство t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при р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=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0 до среднего времени доступа не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посредственно в кэш-память t</a:t>
            </a:r>
            <a:r>
              <a:rPr lang="en-US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при р = 1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Отсюда видно, что кэширование имеет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смысл только при высокой вероятности кэш-попадания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Вероятность обнаружения данных в кэше зависит от разных факторов, таких, например, как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объем кэша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объем кэшируемой памяти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алгоритм замещения данных в кэше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особенности выполняемой программы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время ее работы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уровень мультипрограммирования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других особенностей вычислительного процесса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Принцип действия кэш-памяти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131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Тем не менее в большинстве реализаций кэш-памяти процент кэш-попаданий оказывается весьма высоким – свыше 90% Такое высокое значение вероятности нахождения данных в кэш-памяти объясняется наличием у данных объективных свойств: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пространственной и временной локальности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Временная локальность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Если произошло обращение по некоторому адресу, то следующее обращение по тому же адресу с большой вероятностью произойдет в ближайшее время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Пространственная локальность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Если произошло обращение по некоторому адресу, то с большой вероятностью в ближайшее время произойдет обращение к соседним адресам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Принцип действия кэш-памяти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687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Именно основываясь на свойстве временной локальности, данные, только что считанные из основной памяти, размещают в запоминающем устройстве быстрого доступа, предполагая, что скоро они опять понадобятся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Вначале работы системы, когда кэш-память еще пуста, почти каждый запрос к основной памяти выполняется «по полной программе»: просмотр кэша, констатация кэш-промаха, чтение данных из основной памяти, передача результата источнику запроса и копирование данных в кэш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Затем, по мере заполнения кэша, в полном соответствии со свойством временной локальности возрастает вероятность обращения к данным, которые уже были использованы на предыдущем этапе работы системы, то есть к данным, которые содержатся в кэше и могут быть считаны значительно быстрее, чем из основной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Принцип действия кэш-памяти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3986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Свойство пространственной локальности также используется для повышения вероятности кэш-попадания: как правило, в кэш-память считывается не один информационный элемент, к которому произошло обращение, а целый блок данных, расположенных в основной памяти в непосредственной близости с данным элементом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Поскольку при выполнении программы очень высока вероятность, что команды выбираются из памяти последовательно одна за другой из соседних ячеек, то имеет смысл загружать в кэш-память целый фрагмент программы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Аналогично, если программа ведет обработку некоторого массива данных, то ее работу можно ускорить, загрузив в кэш часть или даже весь массив данных. При этом учитывается высокая вероятность того, что значительное число обращений к памяти будет выполняться к адресам массива данных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Принцип действия кэш-памяти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3015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процессе работы содержимое кэш-памяти постоянно обновляется, а значит, время от времени данные из нее должны вытесняться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Вытеснение означает либо простое объявление свободной соответствующей области кэш-памяти (сброс бита действительности), если вытесняемые данные за время нахождения в кэше не были изменены, либо в дополнение к этому копирование данных в основную память, если они были модифицированы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 замены данных в кэш-памяти существенно влияет на ее эффективность. В идеале такой алгоритм должен, во-первых, быть максимально быстрым, чтобы не замедлять работу кэш-памяти, во-вторых, обеспечивать максимально возможную вероятность кэш-попаданий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450212"/>
              </p:ext>
            </p:extLst>
          </p:nvPr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Проблема согласования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3681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Поскольку из-за непредсказуемости вычислительного процесса ни один алгоритм замещения данных в кэш-памяти не может гарантировать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оптимальный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результат, разработчики ограничиваются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рациональными решениями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которые, по крайней мере, не слишком замедляют работу кэша – запоминающего устройства, изначально призванного быть быстрым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Наличие в компьютере двух копий данных – в основной памяти и в кэше – порождает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проблему согласования данных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Если происходит запись в основную память по некоторому адресу, а содержимое этой ячейки находится в кэше, то в результате соответствующая запись в кэше становится недостоверной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Проблема согласования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923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Рассмотрим два подхода к решению этой проблемы: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Сквозная запись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write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through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): при каждом запросе к основной памяти, в том числе и при записи, просматривается кэш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данные по запрашиваемому адресу отсутствуют, то запись выполняется только в основную 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же данные, к которым выполняется обращение, находятся в кэше, то запись выполняется одновременно в кэш и основную память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Проблема согласования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7634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Обратная запись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write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back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): аналогично, при возникновении запроса к памяти выполняется просмотр кэша, и если запрашиваемых данных там нет, то запись выполняется только в основную 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противном же случае запись производится только в кэш-память, при этом в описателе данных делается специальная отметка (признак модификации), которая указывает на то, что при вытеснении этих данных из кэша необходимо переписать их в основную память, чтобы актуализировать устаревшее содержимое основной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Проблема согласования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154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некоторых алгоритмах замещения предусматривается первоочередная выгрузка модифицированных или, как еще говорят, «грязных» данных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Модифицированные данные могут выгружаться не только при освобождении места в кэш-памяти для новых данных, но и в «фоновом режиме», когда система не очень загружена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Проблема согласования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4040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 поиска и алгоритм замещения данных в кэше непосредственно зависят от того, каким образом основная память отображается на кэш-память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Принцип прозрачности требует, чтобы правило отображения основной памяти на кэш память не зависело от работы программ и пользователей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кэшировании данных из оперативной памяти широко используются две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основных схемы отображения: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случайное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детерминированное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107683"/>
              </p:ext>
            </p:extLst>
          </p:nvPr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Отображение основной памяти на кэш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19977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случайном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отображении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элемент оперативной памяти в общем случае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может быть размещен в произвольном месте кэш-памяти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того чтобы в дальнейшем можно было найти нужные данные в кэше, они помещаются туда вместе со своим адресом, то есть тем адресом, который данные имеют в оперативной памяти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каждом запросе к оперативной памяти выполняется поиск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кэше, причем критерием поиска выступает адрес оперативной памяти из запроса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Очевидная схема простого перебора для поиска нужных данных в случае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кэша оказывается непригодной из-за недопустимо больших временных затрат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Отображение основной памяти на кэш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38635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кэшей со случайным отображением используется так называемый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ассоциативный поиск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при котором сравнение выполняется не последовательно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каждой записью кэша, а параллельно со всеми его записями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Признак, по которому выполняется сравнение,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тегом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tag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). В данном случае тегом является адрес данных в оперативной памяти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Электронная реализация такой схемы приводит к удорожанию памяти, причем стоимость существенно возрастает с увеличением объема запоминающего устройства. Поэтому ассоциативная кэш-память используется в тех случаях, когда для обеспечения высокого процента кэш-попаданий достаточно небольшого объема памяти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Отображение основной памяти на кэш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5411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F03ECE-D7C6-B8AD-6683-10771BE1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12338" y="230276"/>
            <a:ext cx="8167327" cy="639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856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кэшах, построенных на основе случайного отображения, вытеснение старых данных происходит только в том случае, когда вся кэш-память заполнена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нет свободного места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Выбор данных на выгрузку осуществляется среди всех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записей кэша. Обычно этот выбор основывается на тех же приемах, что и в алгоритмах замещения страниц, например, выгрузка данных, к которым дольше всего не было обращений, или данных, к которым было меньше всего обращений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Отображение основной памяти на кэш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6550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Второй,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детерминированный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способ отображения предполагает, что любой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элемент основной памяти всегда отображается на одно и то же место в кэш-памяти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этом случае кэш-память разделена на строки, каждая из которых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предназначена для хранения одной записи об одном элементе данных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действительности запись в кэше обычно содержит несколько элементов данных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имеет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свой номер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Между номерами строк кэш-памяти и адресами оперативной памяти устанавливается соответствие «один ко многим»: одному номеру строки соответствует несколько (обычно достаточно много) адресов оперативной памяти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Отображение основной памяти на кэш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09903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Описанный здесь способ отображения является частным случаем хэширования, а соответствующий алгоритм – хэш-функцией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Хэш-функции требуются для решения самых разных задач, например, они широко используются в криптографии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Приближенным аналогом хэширования является размещение слов в справочнике по алфавиту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Хэш-функцией здесь является отделение первой буквы, которая определяет раздел справочника. Далее можно вести поиск только в пределах этого раздела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Отображение основной памяти на кэш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8768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качестве отображающей функции может использоваться простое выделение нескольких разрядов из адреса оперативной памяти, которые интерпретируются как номер строки кэш-памяти (такое отображение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прямым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пусть в кэш-памяти может храниться 1024 записи, то есть кэш имеет 1024 строки, пронумерованных от 0 до 1023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Тогда любой адрес оперативной памяти может быть отображен на адрес кэш-памяти путем использования лишь 10 младших двоичных разрядов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Отображение основной памяти на кэш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59386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F03ECE-D7C6-B8AD-6683-10771BE1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82948" y="230276"/>
            <a:ext cx="7026102" cy="639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616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F03ECE-D7C6-B8AD-6683-10771BE1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6043" y="461778"/>
            <a:ext cx="9119914" cy="593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2415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Хэширование дает возможность выполнить быстрый поиск данных в кэше при поступлении запроса. Адрес оперативной памяти, указанный в запросе, обрабатывается с использованием той же хэш-функции, которой в данном случае является отбрасывание всех старших двоичных разрядов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Младшие 10 разрядов интерпретируются как номер строки в кэш-памяти, и, таким образом, исчезает необходимость просматривать всю кэш-память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Отображение основной памяти на кэш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6281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поскольку в найденной строке могут находиться данные из любой ячейки оперативной памяти, младшие разряды адреса которой совпадают с номером строки, необходимо выполнить дополнительную проверку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этих целей каждая строка кэш-памяти дополняется тегом, содержащим старшую часть адреса данных в оперативной памяти. При совпадении тега с соответствующей частью адреса из запроса констатируется кэш-попадание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Отображение основной памяти на кэш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86462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же происходит кэш-промах, данные считываются из оперативной памяти и копируются в кэш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строка кэш-памяти, в которую должен быть скопирован элемент данных из оперативной памяти, содержит, другие данные, то последние вытесняются из кэша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Заметим, что процесс замещения данных в кэш-памяти на основе прямого отображения существенно отличается от процесса замещения данных в кэш-памяти со случайным отображением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Во-первых, вытеснение данных происходит не только в случае отсутствия свободного места в кэше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Во-вторых, никакого выбора данных для замещения не происходит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Отображение основной памяти на кэш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09852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 многих современных процессорах кэш-память строится на основе сочетания этих двух подходов, что позволяет найти компромисс между сравнительно низкой стоимостью кэша с прямым отображением и интеллектуальностью алгоритмов замещения в кэше со случайным отображением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смешанном подходе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произвольный адрес оперативной памяти отображается не на один адрес кэш-памяти (что характерно для прямого отображения) и не на любой адрес кэш-памяти (как это делается при случайном отображении), а на некоторую группу адресов. Все группы пронумерованы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Поиск в кэше осуществляется вначале по номеру группы, полученному из адреса оперативной памяти в запросе, а затем в пределах группы путем ассоциативного просмотра всех записей в группе на предмет совпадения старших частей адресов оперативной памяти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Отображение основной памяти на кэш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04619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F03ECE-D7C6-B8AD-6683-10771BE1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15512" y="230276"/>
            <a:ext cx="6360977" cy="639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5915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промахе данные копируются по любому свободному адресу из однозначно заданной группы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свободных адресов в группе нет, то выполняется вытеснение данных. Поскольку кандидатов на выгрузку несколько (все записи данной группы), алгоритм замещения может учесть интенсивность обращений к данным и тем самым повысить вероятность попаданий в будущем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Таким образом, в данном способе комбинируется прямое отображение на группу и случайное отображение в пределах группы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Отображение основной памяти на кэш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43146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следующей схеме приведена обобщенная схема работы кэш-памяти. Большая часть ветвей этой схемы уже была подробно рассмотрена ранее, поэтому остановимся только на некоторых особых случаях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 схемы видно, что когда выполняется запись, кэш просматривается только с целью согласования содержимого кэша и основной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происходит промах, то запросы на запись не вызывают никаких изменений содержимого кэша. В некоторых же реализациях кэш-памяти при отсутствии данных в кэше они копируются туда из основной памяти независимо от того, выполняется запрос на чтение или на запись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338856"/>
              </p:ext>
            </p:extLst>
          </p:nvPr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Схемы выполнения запросов в системах с кэш-памятью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0708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F03ECE-D7C6-B8AD-6683-10771BE1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3161" y="120520"/>
            <a:ext cx="4725379" cy="650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7966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соответствии с описанной логикой работы кэш-памяти следует, что при возникновении запроса сначала просматривается кэш, а затем, если имеет место промах, выполняется обращение к основной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часто реализуется и другая схема работы кэша: поиск в кэше и в основной памяти начинается одновременно, а затем, в зависимости от результата просмотра кэша, операция в основной памяти либо продолжается, либо прерывается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Схемы выполнения запросов в системах с кэш-памятью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40847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выполнении запросов к оперативной памяти во многих вычислительных системах происходит двухуровневое кэширование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Кэш первого уровня имеет меньший 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объем и более высокое быстродействие,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чем кэш второго уровня. Кэш второго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уровня играет роль основной памяти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 отношению к кэшу первого уровня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Схемы выполнения запросов в системах с кэш-памятью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1F9FC67-0377-2B7F-E08B-F239FD848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977" y="2493028"/>
            <a:ext cx="3495675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1232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следующей схеме показана схема выполнения запроса на чтение в системе с двухуровневым кэшем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Сначала делается попытка обнаружить данные в кэше первого уровня. Если произошел промах, поиск продолжается в кэше второго уровня. Если же нужные данные отсутствуют и здесь, тогда происходит считывание данных из основной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Понятно, что время доступа к данным оказывается минимальным, когда кэш-попадание происходит уже на первом уровне, несколько большим при обнаружении данных на втором уровне и обычным временем доступа к оперативной памяти, если нужных данных нет ни в том, ни в другом кэше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Схемы выполнения запросов в системах с кэш-памятью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24151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F03ECE-D7C6-B8AD-6683-10771BE1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89847" y="164841"/>
            <a:ext cx="8812305" cy="652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1870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считывании данных из оперативной памяти происходит их копирование в кэш второго уровня, а если данные считываются из кэша второго уровня, то они копируются в кэш первого уровня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работе такой иерархически организованной памяти необходимо обеспечить непротиворечивость данных на всех уровнях. Кэши разных уровней могут согласовывать данные разными способами. Пусть, например, кэш первого уровня использует сквозную запись, а кэш второго уровня – обратную запись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Схемы выполнения запросов в системах с кэш-памятью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56657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считывании данных из оперативной памяти происходит их копирование в кэш второго уровня, а если данные считываются из кэша второго уровня, то они копируются в кэш первого уровня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работе такой иерархически организованной памяти необходимо обеспечить непротиворечивость данных на всех уровнях. Кэши разных уровней могут согласовывать данные разными способами. Пусть, например, кэш первого уровня использует сквозную запись, а кэш второго уровня – обратную запись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следующей схеме приведена схема выполнения запроса на запись в такой системе. При модификации данных необходимо убедиться, что они отсутствуют в кэшах. В этом случае выполняется запись только в оперативную память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Схемы выполнения запросов в системах с кэш-памятью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52262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F03ECE-D7C6-B8AD-6683-10771BE1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3106" y="164841"/>
            <a:ext cx="7225786" cy="652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652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данные обнаруживаются в кэше первого уровня, то вступает в силу алгоритм сквозной записи: выполняется запись в кэш первого уровня и передается запрос на запись в кэш второго уровня, играющему в данном случае роль основ 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Запись в кэш второго уровня в соответствии с алгоритмом обратной записи, принятом на данном уровне, сопровождается установкой признака модификации, при этом никакой записи в оперативную память не производится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данные находятся в кэше второго уровня, то, так же как и в предыдущем случае, выполняется запись в этот кэш и устанавливается признак модификации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Схемы выполнения запросов в системах с кэш-памятью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11770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Кэширование пар номеров виртуальных и физических страниц в буфере ассоциативной трансляции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(Translation Lookaside Buffer, TLB)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позволяет ускорять преобразование виртуальных адресов в физические при сегментно-страничной организации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TLB представляет собой ассоциативную память небольшого объема, предназначенную для хранения интенсивно используемых дескрипторов страниц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современных системах имеются отдельные буферы TLB для инструкций и данных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736013"/>
              </p:ext>
            </p:extLst>
          </p:nvPr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Буфер ассоциативной трансляции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47961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буфере TLB кэшируются дескрипторы страниц из таблицы страниц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хранения дескриптора в кэше отводится одна строка. Каждая строка дополнена тегом, в котором содержится номер соответствующей виртуальной страницы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Строки объединены по четыре в группы, называемые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наборами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Таблица TLB, используемая для преобразования адресов инструкций, имеет 32 строки и соответственно 8 наборов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Номер набора называют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индексом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index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Таким образом, путем кэширования может быть получен физический адрес для доступа к 32 страницам памяти, содержащим инструкции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Буфер ассоциативной трансляции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17208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F03ECE-D7C6-B8AD-6683-10771BE1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27992" y="164841"/>
            <a:ext cx="6536015" cy="652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4769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 того как механизмом сегментации получен линейный адрес, он должен быть преобразован в физический адрес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этого, прежде всего, необходимо найти дескриптор страницы, которой принадлежит данный адрес, и извлечь из него номер физической страницы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Обычная процедура предусматривает обращение к таблице разделов, а затем – к таблице страниц. Однако физический адрес может быть получен гораздо быстрее благодаря тому, что в буфере TLB хранятся копии дескрипторов наиболее интенсивно используемых страниц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Поэтому перед тем, как начать сравнительно длительную процедуру преобразования адресов, делается попытка обнаружить нужный дескриптор страницы в быстрой ассоциативной памяти TLB. Затем на основании номера физической страницы, полученного из TLB, вычисляется физический адрес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Буфер ассоциативной трансляции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09772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поиске данных в TLB используется линейный виртуальный адрес. Разряды 12-14 используются как индекс набора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Далее проверяются биты действительности всех строк выбранного набора. В начале работы кэш-памяти биты действительности всех строк сбрасываются в нуль. В результате работы алгоритма замещения бит действительности принимает значение 1, когда в соответствующей строке содержится достоверная информация, и сбрасывается в нуль, когда строка объявляется свободной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всех действительных строк выполняется ассоциативная процедура сравнения тегов со старшими разрядами (15-31 разряд) линейного виртуального адреса. Если произошло кэш-попадание, то номер физической страницы быстро поступает в схему формирования физического адреса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Буфер ассоциативной трансляции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0139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произошел промах и нужного дескриптора в TLB нет, то запускается многоэтапная процедура преобразования адреса, включающая обращения к таблицам разделов и страниц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нужный дескриптор отыскивается в таблице страниц, он копируется в TLB. Номер набора, в который записывается кэшируемый дескриптор, определяется тремя младшими разрядами номера виртуальной страницы (разряды 12-14 линейного виртуального адреса)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Буфер ассоциативной трансляции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5285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произошел промах и нужного дескриптора в TLB нет, то запускается многоэтапная процедура преобразования адреса, включающая обращения к таблицам разделов и страниц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нужный дескриптор отыскивается в таблице страниц, он копируется в TLB. Номер набора, в который записывается кэшируемый дескриптор, определяется тремя младшими разрядами номера виртуальной страницы (разряды 12-14 линейного виртуального адреса)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поскольку в наборе имеется четыре строки, необходимо определить, в какую именно надо поместить кэшируемые данные, дескриптор записывается либо в первую попавшуюся свободную строку, либо, если все строки заняты, в строку, к которой дольше всего не обращались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Буфер ассоциативной трансляции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2815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8DB1E4-C0D4-943D-5AD7-CD8A710347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45831" y="45876"/>
            <a:ext cx="10100337" cy="6766247"/>
          </a:xfrm>
        </p:spPr>
      </p:pic>
    </p:spTree>
    <p:extLst>
      <p:ext uri="{BB962C8B-B14F-4D97-AF65-F5344CB8AC3E}">
        <p14:creationId xmlns:p14="http://schemas.microsoft.com/office/powerpoint/2010/main" val="35936179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F03ECE-D7C6-B8AD-6683-10771BE1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8028" y="91689"/>
            <a:ext cx="5095943" cy="652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3629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8DB1E4-C0D4-943D-5AD7-CD8A710347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8711" y="168388"/>
            <a:ext cx="9734578" cy="6521223"/>
          </a:xfrm>
        </p:spPr>
      </p:pic>
    </p:spTree>
    <p:extLst>
      <p:ext uri="{BB962C8B-B14F-4D97-AF65-F5344CB8AC3E}">
        <p14:creationId xmlns:p14="http://schemas.microsoft.com/office/powerpoint/2010/main" val="16787171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Таким образом, в буфере TLB используется комбинированный способ отображения кэшируемых данных на кэш-память: прямое отображение дескрипторов на наборы и случайное отображение на строки в пределах набора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Наличие TLB позволяет в подавляющем числе случаев заменить сравнительно долгую процедуру преобразования адресов, связанную с несколькими обращениями к оперативной памяти, быстрым поиском в ассоциативной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Буфер ассоциативной трансляции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9062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9613" y="3635622"/>
            <a:ext cx="4772774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Кэширование данных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2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147592" y="3051019"/>
            <a:ext cx="1896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71185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37625</TotalTime>
  <Words>4003</Words>
  <Application>Microsoft Office PowerPoint</Application>
  <PresentationFormat>Widescreen</PresentationFormat>
  <Paragraphs>236</Paragraphs>
  <Slides>62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9" baseType="lpstr">
      <vt:lpstr>Arial</vt:lpstr>
      <vt:lpstr>Calibri</vt:lpstr>
      <vt:lpstr>Calibri Light</vt:lpstr>
      <vt:lpstr>Cambria</vt:lpstr>
      <vt:lpstr>Verdana</vt:lpstr>
      <vt:lpstr>Wingdings</vt:lpstr>
      <vt:lpstr>Тема Office</vt:lpstr>
      <vt:lpstr>Операционные системы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Операционные системы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Pavel Bernatsky</dc:creator>
  <cp:lastModifiedBy>Pavel Bernatsky</cp:lastModifiedBy>
  <cp:revision>1529</cp:revision>
  <cp:lastPrinted>2025-11-01T06:17:20Z</cp:lastPrinted>
  <dcterms:created xsi:type="dcterms:W3CDTF">2024-09-04T11:03:42Z</dcterms:created>
  <dcterms:modified xsi:type="dcterms:W3CDTF">2025-12-13T06:14:12Z</dcterms:modified>
</cp:coreProperties>
</file>