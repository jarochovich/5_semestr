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322" r:id="rId3"/>
    <p:sldId id="2400" r:id="rId4"/>
    <p:sldId id="2401" r:id="rId5"/>
    <p:sldId id="2402" r:id="rId6"/>
    <p:sldId id="2417" r:id="rId7"/>
    <p:sldId id="2416" r:id="rId8"/>
    <p:sldId id="2418" r:id="rId9"/>
    <p:sldId id="2419" r:id="rId10"/>
    <p:sldId id="2420" r:id="rId11"/>
    <p:sldId id="2421" r:id="rId12"/>
    <p:sldId id="2422" r:id="rId13"/>
    <p:sldId id="2423" r:id="rId14"/>
    <p:sldId id="2426" r:id="rId15"/>
    <p:sldId id="2424" r:id="rId16"/>
    <p:sldId id="2427" r:id="rId17"/>
    <p:sldId id="2428" r:id="rId18"/>
    <p:sldId id="2425" r:id="rId19"/>
    <p:sldId id="2433" r:id="rId20"/>
    <p:sldId id="2432" r:id="rId21"/>
    <p:sldId id="2431" r:id="rId22"/>
    <p:sldId id="2415" r:id="rId23"/>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465B88BE-7067-4E01-A3DC-10AFCF848BC8}">
          <p14:sldIdLst>
            <p14:sldId id="256"/>
            <p14:sldId id="322"/>
            <p14:sldId id="2400"/>
            <p14:sldId id="2401"/>
            <p14:sldId id="2402"/>
            <p14:sldId id="2417"/>
            <p14:sldId id="2416"/>
            <p14:sldId id="2418"/>
            <p14:sldId id="2419"/>
            <p14:sldId id="2420"/>
            <p14:sldId id="2421"/>
            <p14:sldId id="2422"/>
            <p14:sldId id="2423"/>
            <p14:sldId id="2426"/>
            <p14:sldId id="2424"/>
            <p14:sldId id="2427"/>
            <p14:sldId id="2428"/>
            <p14:sldId id="2425"/>
            <p14:sldId id="2433"/>
            <p14:sldId id="2432"/>
            <p14:sldId id="2431"/>
            <p14:sldId id="2415"/>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el Bernatsky" initials="PB" lastIdx="1" clrIdx="0">
    <p:extLst>
      <p:ext uri="{19B8F6BF-5375-455C-9EA6-DF929625EA0E}">
        <p15:presenceInfo xmlns:p15="http://schemas.microsoft.com/office/powerpoint/2012/main" userId="ccc84f90653f6d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4" d="100"/>
          <a:sy n="84" d="100"/>
        </p:scale>
        <p:origin x="6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E1C54A-6947-426C-B525-F25AAC6D8000}" type="datetimeFigureOut">
              <a:rPr lang="LID4096" smtClean="0"/>
              <a:t>11/29/2025</a:t>
            </a:fld>
            <a:endParaRPr lang="LID4096"/>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5E16E5-A75C-4DD5-8B93-6FB68F18C130}" type="slidenum">
              <a:rPr lang="LID4096" smtClean="0"/>
              <a:t>‹#›</a:t>
            </a:fld>
            <a:endParaRPr lang="LID4096"/>
          </a:p>
        </p:txBody>
      </p:sp>
    </p:spTree>
    <p:extLst>
      <p:ext uri="{BB962C8B-B14F-4D97-AF65-F5344CB8AC3E}">
        <p14:creationId xmlns:p14="http://schemas.microsoft.com/office/powerpoint/2010/main" val="16097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11/29/2025</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11/29/2025</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11/29/2025</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11/29/2025</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5"/>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11/29/2025</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11/29/2025</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11/29/2025</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11/29/2025</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11/29/2025</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11/29/2025</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11/29/2025</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11/29/2025</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316523" y="3635620"/>
            <a:ext cx="11558954" cy="461839"/>
          </a:xfrm>
          <a:effectLst>
            <a:outerShdw blurRad="50800" dist="38100" dir="2700000" algn="tl" rotWithShape="0">
              <a:prstClr val="black">
                <a:alpha val="40000"/>
              </a:prstClr>
            </a:outerShdw>
          </a:effectLst>
        </p:spPr>
        <p:txBody>
          <a:bodyPr>
            <a:noAutofit/>
          </a:bodyPr>
          <a:lstStyle/>
          <a:p>
            <a:r>
              <a:rPr lang="ru-RU" sz="2800" b="1" dirty="0">
                <a:latin typeface="Verdana" panose="020B0604030504040204" pitchFamily="34" charset="0"/>
                <a:ea typeface="Verdana" panose="020B0604030504040204" pitchFamily="34" charset="0"/>
              </a:rPr>
              <a:t>Алгоритмы распределения памяти без использования внешней памяти</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47590" y="3051019"/>
            <a:ext cx="1896821"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12</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Распределение памяти фиксированными разделами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Распределение памяти динамическими разделами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Распределение памяти перемещаемыми разделами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Фрагментация памяти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Сжатие памяти</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План лекции</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410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прошлой лекции мы задались следующими вопросами:</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Следует ли назначать каждому процессу одну непрерывную область физической памяти или можно выделять память «кусками»? </a:t>
            </a:r>
          </a:p>
          <a:p>
            <a:pPr marL="0" indent="0">
              <a:buNone/>
            </a:pPr>
            <a:r>
              <a:rPr lang="ru-RU" dirty="0">
                <a:latin typeface="Cambria" panose="02040503050406030204" pitchFamily="18" charset="0"/>
                <a:ea typeface="Cambria" panose="02040503050406030204" pitchFamily="18" charset="0"/>
              </a:rPr>
              <a:t>Должны ли сегменты программы, загруженные в память, находиться на одном месте в течение всего периода выполнения процесса или можно их время от времени сдвигать?</a:t>
            </a:r>
          </a:p>
          <a:p>
            <a:pPr marL="0" indent="0">
              <a:buNone/>
            </a:pPr>
            <a:r>
              <a:rPr lang="ru-RU" dirty="0">
                <a:latin typeface="Cambria" panose="02040503050406030204" pitchFamily="18" charset="0"/>
                <a:ea typeface="Cambria" panose="02040503050406030204" pitchFamily="18" charset="0"/>
              </a:rPr>
              <a:t>Что делать, если сегменты программы не помещается в имеющуюся память?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60269746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70824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Разные ОС по-разному отвечают на эти и другие базовые вопросы управления памятью</a:t>
            </a:r>
          </a:p>
          <a:p>
            <a:pPr marL="0" indent="0">
              <a:buNone/>
            </a:pPr>
            <a:r>
              <a:rPr lang="ru-RU" dirty="0">
                <a:latin typeface="Cambria" panose="02040503050406030204" pitchFamily="18" charset="0"/>
                <a:ea typeface="Cambria" panose="02040503050406030204" pitchFamily="18" charset="0"/>
              </a:rPr>
              <a:t>Далее будут рассмотрены наиболее общие подходы к распределению памяти, которые были характерны для разных периодов развития операционных систем</a:t>
            </a:r>
          </a:p>
          <a:p>
            <a:pPr marL="0" indent="0">
              <a:buNone/>
            </a:pPr>
            <a:r>
              <a:rPr lang="ru-RU" dirty="0">
                <a:latin typeface="Cambria" panose="02040503050406030204" pitchFamily="18" charset="0"/>
                <a:ea typeface="Cambria" panose="02040503050406030204" pitchFamily="18" charset="0"/>
              </a:rPr>
              <a:t>Некоторые из них сохранили актуальность и широко используются в современных ОС, другие же представляют в основном только познавательный интерес, хотя их и сегодня можно встретить в специализированных системах</a:t>
            </a:r>
          </a:p>
          <a:p>
            <a:pPr marL="0" indent="0">
              <a:buNone/>
            </a:pPr>
            <a:r>
              <a:rPr lang="ru-RU" dirty="0">
                <a:latin typeface="Cambria" panose="02040503050406030204" pitchFamily="18" charset="0"/>
                <a:ea typeface="Cambria" panose="02040503050406030204" pitchFamily="18" charset="0"/>
              </a:rPr>
              <a:t>Все алгоритмы распределения памяти разделены на два класса: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алгоритмы, в которых используется перемещение сегментов процессов между оперативной памятью и диском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алгоритмы, в которых внешняя память не привлекается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0972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11D2355C-9C05-EC7C-9292-8520B78D2E33}"/>
              </a:ext>
            </a:extLst>
          </p:cNvPr>
          <p:cNvPicPr>
            <a:picLocks noChangeAspect="1"/>
          </p:cNvPicPr>
          <p:nvPr/>
        </p:nvPicPr>
        <p:blipFill>
          <a:blip r:embed="rId2"/>
          <a:stretch>
            <a:fillRect/>
          </a:stretch>
        </p:blipFill>
        <p:spPr>
          <a:xfrm>
            <a:off x="1548608" y="1843598"/>
            <a:ext cx="9094783" cy="426459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95159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Простейший способ управления оперативной памятью состоит в том, что память разбивается на несколько областей фиксированной величины, называемых </a:t>
            </a:r>
            <a:r>
              <a:rPr lang="ru-RU" b="1" dirty="0">
                <a:latin typeface="Cambria" panose="02040503050406030204" pitchFamily="18" charset="0"/>
                <a:ea typeface="Cambria" panose="02040503050406030204" pitchFamily="18" charset="0"/>
              </a:rPr>
              <a:t>разделами</a:t>
            </a:r>
          </a:p>
          <a:p>
            <a:pPr marL="0" indent="0">
              <a:buNone/>
            </a:pPr>
            <a:r>
              <a:rPr lang="ru-RU" dirty="0">
                <a:latin typeface="Cambria" panose="02040503050406030204" pitchFamily="18" charset="0"/>
                <a:ea typeface="Cambria" panose="02040503050406030204" pitchFamily="18" charset="0"/>
              </a:rPr>
              <a:t>Такое разбиение может быть выполнено вручную оператором во время старта системы или во время ее установки. После этого границы разделов не изменяются</a:t>
            </a:r>
          </a:p>
          <a:p>
            <a:pPr marL="0" indent="0">
              <a:buNone/>
            </a:pPr>
            <a:r>
              <a:rPr lang="ru-RU" dirty="0">
                <a:latin typeface="Cambria" panose="02040503050406030204" pitchFamily="18" charset="0"/>
                <a:ea typeface="Cambria" panose="02040503050406030204" pitchFamily="18" charset="0"/>
              </a:rPr>
              <a:t>Очередной новый процесс, поступивший на выполнение, помещается либо в общую очередь (а), либо в очередь к некоторому разделу (б)</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27644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3" name="Picture 2">
            <a:extLst>
              <a:ext uri="{FF2B5EF4-FFF2-40B4-BE49-F238E27FC236}">
                <a16:creationId xmlns:a16="http://schemas.microsoft.com/office/drawing/2014/main" id="{6CEB04A5-C90E-651A-382F-069FFCF6F053}"/>
              </a:ext>
            </a:extLst>
          </p:cNvPr>
          <p:cNvPicPr>
            <a:picLocks noChangeAspect="1"/>
          </p:cNvPicPr>
          <p:nvPr/>
        </p:nvPicPr>
        <p:blipFill>
          <a:blip r:embed="rId2"/>
          <a:stretch>
            <a:fillRect/>
          </a:stretch>
        </p:blipFill>
        <p:spPr>
          <a:xfrm>
            <a:off x="2570484" y="1478822"/>
            <a:ext cx="7051033" cy="52579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06550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 распределении памяти </a:t>
            </a:r>
            <a:r>
              <a:rPr lang="ru-RU" b="1" dirty="0">
                <a:latin typeface="Cambria" panose="02040503050406030204" pitchFamily="18" charset="0"/>
                <a:ea typeface="Cambria" panose="02040503050406030204" pitchFamily="18" charset="0"/>
              </a:rPr>
              <a:t>фиксированными разделами </a:t>
            </a:r>
            <a:r>
              <a:rPr lang="ru-RU" dirty="0">
                <a:latin typeface="Cambria" panose="02040503050406030204" pitchFamily="18" charset="0"/>
                <a:ea typeface="Cambria" panose="02040503050406030204" pitchFamily="18" charset="0"/>
              </a:rPr>
              <a:t>подсистема управления памятью решает следующие задачи: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Сравнивает объем памяти, требуемый для вновь поступившего процесса, с размерами свободных разделов и выбирает подходящий раздел</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Осуществляет загрузку программы в один из разделов и настройку адресов. Уже на этапе трансляции разработчик программы может задать раздел, в котором ее следует выполнять. Это позволяет сразу, без использования перемещающего загрузчика получить машинный код, настроенный на конкретную область памяти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68735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При очевидном преимуществе – </a:t>
            </a:r>
            <a:r>
              <a:rPr lang="ru-RU" b="1" dirty="0">
                <a:latin typeface="Cambria" panose="02040503050406030204" pitchFamily="18" charset="0"/>
                <a:ea typeface="Cambria" panose="02040503050406030204" pitchFamily="18" charset="0"/>
              </a:rPr>
              <a:t>простоте реализации</a:t>
            </a:r>
            <a:r>
              <a:rPr lang="ru-RU" dirty="0">
                <a:latin typeface="Cambria" panose="02040503050406030204" pitchFamily="18" charset="0"/>
                <a:ea typeface="Cambria" panose="02040503050406030204" pitchFamily="18" charset="0"/>
              </a:rPr>
              <a:t>, данный метод имеет существенный недостаток – </a:t>
            </a:r>
            <a:r>
              <a:rPr lang="ru-RU" b="1" dirty="0">
                <a:latin typeface="Cambria" panose="02040503050406030204" pitchFamily="18" charset="0"/>
                <a:ea typeface="Cambria" panose="02040503050406030204" pitchFamily="18" charset="0"/>
              </a:rPr>
              <a:t>жесткость</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Так как в каждом разделе может выполняться только один процесс, то уровень мультипрограммирования заранее ограничен числом разделов</a:t>
            </a:r>
          </a:p>
          <a:p>
            <a:pPr marL="0" indent="0">
              <a:buNone/>
            </a:pPr>
            <a:r>
              <a:rPr lang="ru-RU" dirty="0">
                <a:latin typeface="Cambria" panose="02040503050406030204" pitchFamily="18" charset="0"/>
                <a:ea typeface="Cambria" panose="02040503050406030204" pitchFamily="18" charset="0"/>
              </a:rPr>
              <a:t>Независимо от размера программы она будет занимать весь раздел. Так, например, в системе с тремя разделами невозможно выполнять одновременно более трех процессов, даже если им требуется совсем мало памяти</a:t>
            </a:r>
          </a:p>
          <a:p>
            <a:pPr marL="0" indent="0">
              <a:buNone/>
            </a:pPr>
            <a:r>
              <a:rPr lang="ru-RU" dirty="0">
                <a:latin typeface="Cambria" panose="02040503050406030204" pitchFamily="18" charset="0"/>
                <a:ea typeface="Cambria" panose="02040503050406030204" pitchFamily="18" charset="0"/>
              </a:rPr>
              <a:t>К тому же, разбиение памяти на разделы не позволяет выполнять процессы, программы которых не помещаются ни в один из разделов, но для которых было бы достаточно памяти нескольких разделов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835193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Такой способ управления памятью применялся в ранних мультипрограммных ОС. Однако и сейчас метод распределения памяти фиксированными разделами находит применение в системах реального времени в основном благодаря небольшим затратам на реализацию</a:t>
            </a:r>
          </a:p>
          <a:p>
            <a:pPr marL="0" indent="0">
              <a:buNone/>
            </a:pPr>
            <a:r>
              <a:rPr lang="ru-RU" dirty="0">
                <a:latin typeface="Cambria" panose="02040503050406030204" pitchFamily="18" charset="0"/>
                <a:ea typeface="Cambria" panose="02040503050406030204" pitchFamily="18" charset="0"/>
              </a:rPr>
              <a:t>Детерминированность вычислительного процесса систем реального времени (заранее известен набор выполняемых задач, их требования к памяти, а иногда и моменты запуска) компенсирует недостаточную гибкость данного способа управления памятью</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74518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следующем способе управления памятью память машины не делится заранее на разделы</a:t>
            </a:r>
          </a:p>
          <a:p>
            <a:pPr marL="0" indent="0">
              <a:buNone/>
            </a:pPr>
            <a:r>
              <a:rPr lang="ru-RU" dirty="0">
                <a:latin typeface="Cambria" panose="02040503050406030204" pitchFamily="18" charset="0"/>
                <a:ea typeface="Cambria" panose="02040503050406030204" pitchFamily="18" charset="0"/>
              </a:rPr>
              <a:t>Сначала вся память, отводимая для приложений, свободна. Каждому вновь поступающему на выполнение приложению на этапе создания процесса выделяется вся необходимая ему память (если достаточный объем памяти отсутствует, то приложение не принимается на выполнение и процесс для нее не создается)</a:t>
            </a:r>
          </a:p>
          <a:p>
            <a:pPr marL="0" indent="0">
              <a:buNone/>
            </a:pPr>
            <a:r>
              <a:rPr lang="ru-RU" dirty="0">
                <a:latin typeface="Cambria" panose="02040503050406030204" pitchFamily="18" charset="0"/>
                <a:ea typeface="Cambria" panose="02040503050406030204" pitchFamily="18" charset="0"/>
              </a:rPr>
              <a:t>После завершения процесса память освобождается, и на это место может быть загружен другой процесс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18844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Простейший способ управления оперативной памятью состоит в том, что память разбивается на несколько областей фиксированной величины, называемых </a:t>
            </a:r>
            <a:r>
              <a:rPr lang="ru-RU" b="1" dirty="0">
                <a:latin typeface="Cambria" panose="02040503050406030204" pitchFamily="18" charset="0"/>
                <a:ea typeface="Cambria" panose="02040503050406030204" pitchFamily="18" charset="0"/>
              </a:rPr>
              <a:t>разделами</a:t>
            </a:r>
          </a:p>
          <a:p>
            <a:pPr marL="0" indent="0">
              <a:buNone/>
            </a:pPr>
            <a:r>
              <a:rPr lang="ru-RU" dirty="0">
                <a:latin typeface="Cambria" panose="02040503050406030204" pitchFamily="18" charset="0"/>
                <a:ea typeface="Cambria" panose="02040503050406030204" pitchFamily="18" charset="0"/>
              </a:rPr>
              <a:t>Такое разбиение может быть выполнено вручную оператором во время старта системы или во время ее установки. После этого границы разделов не изменяются</a:t>
            </a:r>
          </a:p>
          <a:p>
            <a:pPr marL="0" indent="0">
              <a:buNone/>
            </a:pPr>
            <a:r>
              <a:rPr lang="ru-RU" dirty="0">
                <a:latin typeface="Cambria" panose="02040503050406030204" pitchFamily="18" charset="0"/>
                <a:ea typeface="Cambria" panose="02040503050406030204" pitchFamily="18" charset="0"/>
              </a:rPr>
              <a:t>Очередной новый процесс, поступивший на выполнение, помещается либо в общую очередь (а), либо в очередь к некоторому разделу (б)</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88282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Таким образом, в произвольный момент времени оперативная память представляет собой случайную последовательность занятых и свободных участков (разделов) произвольного размера. </a:t>
            </a:r>
          </a:p>
          <a:p>
            <a:pPr marL="0" indent="0">
              <a:buNone/>
            </a:pPr>
            <a:r>
              <a:rPr lang="ru-RU" dirty="0">
                <a:latin typeface="Cambria" panose="02040503050406030204" pitchFamily="18" charset="0"/>
                <a:ea typeface="Cambria" panose="02040503050406030204" pitchFamily="18" charset="0"/>
              </a:rPr>
              <a:t>Так, в момент t</a:t>
            </a:r>
            <a:r>
              <a:rPr lang="ru-RU" baseline="-25000" dirty="0">
                <a:latin typeface="Cambria" panose="02040503050406030204" pitchFamily="18" charset="0"/>
                <a:ea typeface="Cambria" panose="02040503050406030204" pitchFamily="18" charset="0"/>
              </a:rPr>
              <a:t>0</a:t>
            </a:r>
            <a:r>
              <a:rPr lang="ru-RU" dirty="0">
                <a:latin typeface="Cambria" panose="02040503050406030204" pitchFamily="18" charset="0"/>
                <a:ea typeface="Cambria" panose="02040503050406030204" pitchFamily="18" charset="0"/>
              </a:rPr>
              <a:t> в памяти находится только ОС, а к моменту t</a:t>
            </a:r>
            <a:r>
              <a:rPr lang="ru-RU" baseline="-25000" dirty="0">
                <a:latin typeface="Cambria" panose="02040503050406030204" pitchFamily="18" charset="0"/>
                <a:ea typeface="Cambria" panose="02040503050406030204" pitchFamily="18" charset="0"/>
              </a:rPr>
              <a:t>1</a:t>
            </a:r>
            <a:r>
              <a:rPr lang="ru-RU" dirty="0">
                <a:latin typeface="Cambria" panose="02040503050406030204" pitchFamily="18" charset="0"/>
                <a:ea typeface="Cambria" panose="02040503050406030204" pitchFamily="18" charset="0"/>
              </a:rPr>
              <a:t> память оказывается разделенной между 5 процессами, причем процесс П4, завершаясь, покидает память.</a:t>
            </a:r>
          </a:p>
          <a:p>
            <a:pPr marL="0" indent="0">
              <a:buNone/>
            </a:pPr>
            <a:r>
              <a:rPr lang="ru-RU" dirty="0">
                <a:latin typeface="Cambria" panose="02040503050406030204" pitchFamily="18" charset="0"/>
                <a:ea typeface="Cambria" panose="02040503050406030204" pitchFamily="18" charset="0"/>
              </a:rPr>
              <a:t>На освободившееся от процесса П4 место загружается процесс П6, поступивший в момент t</a:t>
            </a:r>
            <a:r>
              <a:rPr lang="ru-RU" baseline="-25000" dirty="0">
                <a:latin typeface="Cambria" panose="02040503050406030204" pitchFamily="18" charset="0"/>
                <a:ea typeface="Cambria" panose="02040503050406030204" pitchFamily="18" charset="0"/>
              </a:rPr>
              <a:t>3</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86910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B88950FD-0530-92DE-9F37-0E100DD71D68}"/>
              </a:ext>
            </a:extLst>
          </p:cNvPr>
          <p:cNvPicPr>
            <a:picLocks noChangeAspect="1"/>
          </p:cNvPicPr>
          <p:nvPr/>
        </p:nvPicPr>
        <p:blipFill>
          <a:blip r:embed="rId2"/>
          <a:stretch>
            <a:fillRect/>
          </a:stretch>
        </p:blipFill>
        <p:spPr>
          <a:xfrm>
            <a:off x="2641410" y="1527208"/>
            <a:ext cx="6909179" cy="517824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2344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Распределение памяти динамическими разделами сводится к выполнению операционной системой следующих функций: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Ведение таблиц свободных и занятых областей, в которых указываются начальные адреса и размеры участков памяти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 создании нового процесса – анализ требований к памяти, просмотр таблицы свободных областей и выбор раздела, размер которого достаточен для размещения кодов и данных нового процесса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Загрузка программы в выделенный ей раздел и корректировка таблиц свободных и занятых областей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После завершения процесса – корректировка таблиц свободных и занятых областей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19381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Выбор раздела для загрузки кодов процесса при его создании может осуществляться по разным правилам, например: «первый попавшийся раздел достаточного размера», «раздел, имеющий наименьший достаточный размер» или «раздел, имеющий наибольший достаточный размер»</a:t>
            </a:r>
          </a:p>
          <a:p>
            <a:pPr marL="0" indent="0">
              <a:buNone/>
            </a:pPr>
            <a:r>
              <a:rPr lang="ru-RU" dirty="0">
                <a:latin typeface="Cambria" panose="02040503050406030204" pitchFamily="18" charset="0"/>
                <a:ea typeface="Cambria" panose="02040503050406030204" pitchFamily="18" charset="0"/>
              </a:rPr>
              <a:t>Поскольку данный способ предполагает, что программный код не перемещается во время выполнения, то настройка адресов может быть проведена один раз во время загрузки</a:t>
            </a:r>
          </a:p>
          <a:p>
            <a:pPr marL="0" indent="0">
              <a:buNone/>
            </a:pPr>
            <a:r>
              <a:rPr lang="ru-RU" dirty="0">
                <a:latin typeface="Cambria" panose="02040503050406030204" pitchFamily="18" charset="0"/>
                <a:ea typeface="Cambria" panose="02040503050406030204" pitchFamily="18" charset="0"/>
              </a:rPr>
              <a:t>По сравнению с методом распределения памяти фиксированными разделами данный метод обладает существенно большей гибкостью, но ему присущ очень серьезный недостаток – </a:t>
            </a:r>
            <a:r>
              <a:rPr lang="ru-RU" b="1" dirty="0">
                <a:latin typeface="Cambria" panose="02040503050406030204" pitchFamily="18" charset="0"/>
                <a:ea typeface="Cambria" panose="02040503050406030204" pitchFamily="18" charset="0"/>
              </a:rPr>
              <a:t>фрагментация памяти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65552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Фрагментация памяти </a:t>
            </a:r>
            <a:r>
              <a:rPr lang="ru-RU" dirty="0">
                <a:latin typeface="Cambria" panose="02040503050406030204" pitchFamily="18" charset="0"/>
                <a:ea typeface="Cambria" panose="02040503050406030204" pitchFamily="18" charset="0"/>
              </a:rPr>
              <a:t>– это процесс появления большого числа несмежных участков свободной памяти маленького размера (фрагментов), таких, что ни одна из вновь поступающих программ не может поместиться ни в одном из участков, хотя суммарный объем фрагментов может составить значительную величину, намного превышающую требуемый объем памяти</a:t>
            </a:r>
          </a:p>
          <a:p>
            <a:pPr marL="0" indent="0">
              <a:buNone/>
            </a:pPr>
            <a:r>
              <a:rPr lang="ru-RU" dirty="0">
                <a:latin typeface="Cambria" panose="02040503050406030204" pitchFamily="18" charset="0"/>
                <a:ea typeface="Cambria" panose="02040503050406030204" pitchFamily="18" charset="0"/>
              </a:rPr>
              <a:t>Распределение памяти динамическими разделами лежит в основе подсистем управления памятью многих мультипрограммных операционных системах 60-70-х годов, в частности такой популярной операционной системы, как OS/360</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04889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Одним из методов борьбы с фрагментацией является перемещение всех занятых участков в сторону старших или младших адресов, так чтобы вся свободная память образовала единую область</a:t>
            </a:r>
          </a:p>
          <a:p>
            <a:pPr marL="0" indent="0">
              <a:buNone/>
            </a:pPr>
            <a:r>
              <a:rPr lang="ru-RU" dirty="0">
                <a:latin typeface="Cambria" panose="02040503050406030204" pitchFamily="18" charset="0"/>
                <a:ea typeface="Cambria" panose="02040503050406030204" pitchFamily="18" charset="0"/>
              </a:rPr>
              <a:t>В дополнение к функциям, которые выполняет ОС при распределении памяти динамическими разделами, в случае </a:t>
            </a:r>
            <a:r>
              <a:rPr lang="ru-RU" b="1" dirty="0">
                <a:latin typeface="Cambria" panose="02040503050406030204" pitchFamily="18" charset="0"/>
                <a:ea typeface="Cambria" panose="02040503050406030204" pitchFamily="18" charset="0"/>
              </a:rPr>
              <a:t>перемещаемых разделов </a:t>
            </a:r>
            <a:r>
              <a:rPr lang="ru-RU" dirty="0">
                <a:latin typeface="Cambria" panose="02040503050406030204" pitchFamily="18" charset="0"/>
                <a:ea typeface="Cambria" panose="02040503050406030204" pitchFamily="18" charset="0"/>
              </a:rPr>
              <a:t>она должна еще время от времени копировать содержимое разделов из одного места памяти в другое, корректируя таблицы свободных и занятых областей</a:t>
            </a:r>
          </a:p>
          <a:p>
            <a:pPr marL="0" indent="0">
              <a:buNone/>
            </a:pPr>
            <a:r>
              <a:rPr lang="ru-RU" dirty="0">
                <a:latin typeface="Cambria" panose="02040503050406030204" pitchFamily="18" charset="0"/>
                <a:ea typeface="Cambria" panose="02040503050406030204" pitchFamily="18" charset="0"/>
              </a:rPr>
              <a:t>Эта процедура называется </a:t>
            </a:r>
            <a:r>
              <a:rPr lang="ru-RU" b="1" dirty="0">
                <a:latin typeface="Cambria" panose="02040503050406030204" pitchFamily="18" charset="0"/>
                <a:ea typeface="Cambria" panose="02040503050406030204" pitchFamily="18" charset="0"/>
              </a:rPr>
              <a:t>сжатием</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684897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E1440A66-7A53-9E7C-3D46-AF7940DFD9FD}"/>
              </a:ext>
            </a:extLst>
          </p:cNvPr>
          <p:cNvPicPr>
            <a:picLocks noChangeAspect="1"/>
          </p:cNvPicPr>
          <p:nvPr/>
        </p:nvPicPr>
        <p:blipFill>
          <a:blip r:embed="rId2"/>
          <a:stretch>
            <a:fillRect/>
          </a:stretch>
        </p:blipFill>
        <p:spPr>
          <a:xfrm>
            <a:off x="2699863" y="1600996"/>
            <a:ext cx="6792273" cy="497274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96919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Сжатие может выполняться либо при каждом завершении процесса, либо только тогда, когда для вновь создаваемого процесса нет свободного раздела достаточного размера</a:t>
            </a:r>
          </a:p>
          <a:p>
            <a:pPr marL="0" indent="0">
              <a:buNone/>
            </a:pPr>
            <a:r>
              <a:rPr lang="ru-RU" dirty="0">
                <a:latin typeface="Cambria" panose="02040503050406030204" pitchFamily="18" charset="0"/>
                <a:ea typeface="Cambria" panose="02040503050406030204" pitchFamily="18" charset="0"/>
              </a:rPr>
              <a:t>В первом случае требуется меньше вычислительной работы при корректировке таблиц свободных и занятых областей</a:t>
            </a:r>
          </a:p>
          <a:p>
            <a:pPr marL="0" indent="0">
              <a:buNone/>
            </a:pPr>
            <a:r>
              <a:rPr lang="ru-RU" dirty="0">
                <a:latin typeface="Cambria" panose="02040503050406030204" pitchFamily="18" charset="0"/>
                <a:ea typeface="Cambria" panose="02040503050406030204" pitchFamily="18" charset="0"/>
              </a:rPr>
              <a:t>Во втором реже выполняется процедура сжатия</a:t>
            </a:r>
          </a:p>
          <a:p>
            <a:pPr marL="0" indent="0">
              <a:buNone/>
            </a:pPr>
            <a:r>
              <a:rPr lang="ru-RU" dirty="0">
                <a:latin typeface="Cambria" panose="02040503050406030204" pitchFamily="18" charset="0"/>
                <a:ea typeface="Cambria" panose="02040503050406030204" pitchFamily="18" charset="0"/>
              </a:rPr>
              <a:t>Так как программы в ходе своего выполнения перемещаются по оперативной памяти, в данном случае невозможно выполнить настройку адресов с помощью перемещающего загрузчика. Здесь более подходящим оказывается динамическое преобразование адресов</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802768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Хотя процедура сжатия и приводит к более эффективному использованию памяти, она может требовать </a:t>
            </a:r>
            <a:r>
              <a:rPr lang="ru-RU" b="1" dirty="0">
                <a:latin typeface="Cambria" panose="02040503050406030204" pitchFamily="18" charset="0"/>
                <a:ea typeface="Cambria" panose="02040503050406030204" pitchFamily="18" charset="0"/>
              </a:rPr>
              <a:t>значительного времени</a:t>
            </a:r>
            <a:r>
              <a:rPr lang="ru-RU" dirty="0">
                <a:latin typeface="Cambria" panose="02040503050406030204" pitchFamily="18" charset="0"/>
                <a:ea typeface="Cambria" panose="02040503050406030204" pitchFamily="18" charset="0"/>
              </a:rPr>
              <a:t>, что часто перевешивает преимущества данного метода</a:t>
            </a:r>
          </a:p>
          <a:p>
            <a:pPr marL="0" indent="0">
              <a:buNone/>
            </a:pPr>
            <a:r>
              <a:rPr lang="ru-RU" dirty="0">
                <a:latin typeface="Cambria" panose="02040503050406030204" pitchFamily="18" charset="0"/>
                <a:ea typeface="Cambria" panose="02040503050406030204" pitchFamily="18" charset="0"/>
              </a:rPr>
              <a:t>Концепция сжатия применяется и при использовании других методов распределения памяти, когда отдельному процессу выделяется не одна сплошная область памяти, а несколько несмежных участков памяти произвольного размера (сегментов)</a:t>
            </a:r>
          </a:p>
          <a:p>
            <a:pPr marL="0" indent="0">
              <a:buNone/>
            </a:pPr>
            <a:r>
              <a:rPr lang="ru-RU" dirty="0">
                <a:latin typeface="Cambria" panose="02040503050406030204" pitchFamily="18" charset="0"/>
                <a:ea typeface="Cambria" panose="02040503050406030204" pitchFamily="18" charset="0"/>
              </a:rPr>
              <a:t>Такой подход был характерен для ранних версий систем OS/2, в которых память распределялась сегментами, а возникавшая при этом фрагментация периодически устранялась путем перемещения сегментов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распределения памяти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641874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316523" y="3635620"/>
            <a:ext cx="11558954" cy="461839"/>
          </a:xfrm>
          <a:effectLst>
            <a:outerShdw blurRad="50800" dist="38100" dir="2700000" algn="tl" rotWithShape="0">
              <a:prstClr val="black">
                <a:alpha val="40000"/>
              </a:prstClr>
            </a:outerShdw>
          </a:effectLst>
        </p:spPr>
        <p:txBody>
          <a:bodyPr>
            <a:noAutofit/>
          </a:bodyPr>
          <a:lstStyle/>
          <a:p>
            <a:r>
              <a:rPr lang="ru-RU" sz="2800" b="1" dirty="0">
                <a:latin typeface="Verdana" panose="020B0604030504040204" pitchFamily="34" charset="0"/>
                <a:ea typeface="Verdana" panose="020B0604030504040204" pitchFamily="34" charset="0"/>
              </a:rPr>
              <a:t>Алгоритмы распределения памяти без использования внешней памяти</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47590" y="3051019"/>
            <a:ext cx="1896821"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12</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9633352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36187</TotalTime>
  <Words>1233</Words>
  <Application>Microsoft Office PowerPoint</Application>
  <PresentationFormat>Widescreen</PresentationFormat>
  <Paragraphs>82</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Cambria</vt:lpstr>
      <vt:lpstr>Verdana</vt:lpstr>
      <vt:lpstr>Wingdings</vt:lpstr>
      <vt:lpstr>Тема Office</vt:lpstr>
      <vt:lpstr>Операционные системы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Операционные системы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Pavel Bernatsky</cp:lastModifiedBy>
  <cp:revision>1253</cp:revision>
  <cp:lastPrinted>2025-11-01T06:17:20Z</cp:lastPrinted>
  <dcterms:created xsi:type="dcterms:W3CDTF">2024-09-04T11:03:42Z</dcterms:created>
  <dcterms:modified xsi:type="dcterms:W3CDTF">2025-11-29T06:08:44Z</dcterms:modified>
</cp:coreProperties>
</file>