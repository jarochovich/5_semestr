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3"/>
  </p:notesMasterIdLst>
  <p:sldIdLst>
    <p:sldId id="256" r:id="rId2"/>
    <p:sldId id="322" r:id="rId3"/>
    <p:sldId id="2435" r:id="rId4"/>
    <p:sldId id="2592" r:id="rId5"/>
    <p:sldId id="2593" r:id="rId6"/>
    <p:sldId id="2595" r:id="rId7"/>
    <p:sldId id="2596" r:id="rId8"/>
    <p:sldId id="2597" r:id="rId9"/>
    <p:sldId id="2598" r:id="rId10"/>
    <p:sldId id="2599" r:id="rId11"/>
    <p:sldId id="2600" r:id="rId12"/>
    <p:sldId id="2601" r:id="rId13"/>
    <p:sldId id="2602" r:id="rId14"/>
    <p:sldId id="2603" r:id="rId15"/>
    <p:sldId id="2604" r:id="rId16"/>
    <p:sldId id="2605" r:id="rId17"/>
    <p:sldId id="2606" r:id="rId18"/>
    <p:sldId id="2607" r:id="rId19"/>
    <p:sldId id="2608" r:id="rId20"/>
    <p:sldId id="2609" r:id="rId21"/>
    <p:sldId id="2610" r:id="rId22"/>
    <p:sldId id="2611" r:id="rId23"/>
    <p:sldId id="2612" r:id="rId24"/>
    <p:sldId id="2613" r:id="rId25"/>
    <p:sldId id="2614" r:id="rId26"/>
    <p:sldId id="2616" r:id="rId27"/>
    <p:sldId id="2617" r:id="rId28"/>
    <p:sldId id="2618" r:id="rId29"/>
    <p:sldId id="2619" r:id="rId30"/>
    <p:sldId id="2620" r:id="rId31"/>
    <p:sldId id="2621" r:id="rId32"/>
    <p:sldId id="2622" r:id="rId33"/>
    <p:sldId id="2623" r:id="rId34"/>
    <p:sldId id="2624" r:id="rId35"/>
    <p:sldId id="2625" r:id="rId36"/>
    <p:sldId id="2626" r:id="rId37"/>
    <p:sldId id="2627" r:id="rId38"/>
    <p:sldId id="2628" r:id="rId39"/>
    <p:sldId id="2629" r:id="rId40"/>
    <p:sldId id="2630" r:id="rId41"/>
    <p:sldId id="2631" r:id="rId42"/>
    <p:sldId id="2632" r:id="rId43"/>
    <p:sldId id="2633" r:id="rId44"/>
    <p:sldId id="2634" r:id="rId45"/>
    <p:sldId id="2635" r:id="rId46"/>
    <p:sldId id="2636" r:id="rId47"/>
    <p:sldId id="2637" r:id="rId48"/>
    <p:sldId id="2638" r:id="rId49"/>
    <p:sldId id="2639" r:id="rId50"/>
    <p:sldId id="2640" r:id="rId51"/>
    <p:sldId id="2641" r:id="rId52"/>
    <p:sldId id="2642" r:id="rId53"/>
    <p:sldId id="2709" r:id="rId54"/>
    <p:sldId id="2643" r:id="rId55"/>
    <p:sldId id="2644" r:id="rId56"/>
    <p:sldId id="2645" r:id="rId57"/>
    <p:sldId id="2646" r:id="rId58"/>
    <p:sldId id="2647" r:id="rId59"/>
    <p:sldId id="2648" r:id="rId60"/>
    <p:sldId id="2650" r:id="rId61"/>
    <p:sldId id="2649" r:id="rId62"/>
    <p:sldId id="2651" r:id="rId63"/>
    <p:sldId id="2652" r:id="rId64"/>
    <p:sldId id="2653" r:id="rId65"/>
    <p:sldId id="2654" r:id="rId66"/>
    <p:sldId id="2655" r:id="rId67"/>
    <p:sldId id="2656" r:id="rId68"/>
    <p:sldId id="2657" r:id="rId69"/>
    <p:sldId id="2658" r:id="rId70"/>
    <p:sldId id="2659" r:id="rId71"/>
    <p:sldId id="2660" r:id="rId72"/>
    <p:sldId id="2661" r:id="rId73"/>
    <p:sldId id="2662" r:id="rId74"/>
    <p:sldId id="2663" r:id="rId75"/>
    <p:sldId id="2664" r:id="rId76"/>
    <p:sldId id="2665" r:id="rId77"/>
    <p:sldId id="2666" r:id="rId78"/>
    <p:sldId id="2667" r:id="rId79"/>
    <p:sldId id="2668" r:id="rId80"/>
    <p:sldId id="2669" r:id="rId81"/>
    <p:sldId id="2670" r:id="rId82"/>
    <p:sldId id="2671" r:id="rId83"/>
    <p:sldId id="2672" r:id="rId84"/>
    <p:sldId id="2674" r:id="rId85"/>
    <p:sldId id="2673" r:id="rId86"/>
    <p:sldId id="2675" r:id="rId87"/>
    <p:sldId id="2615" r:id="rId88"/>
    <p:sldId id="2676" r:id="rId89"/>
    <p:sldId id="2678" r:id="rId90"/>
    <p:sldId id="2677" r:id="rId91"/>
    <p:sldId id="2679" r:id="rId92"/>
    <p:sldId id="2680" r:id="rId93"/>
    <p:sldId id="2681" r:id="rId94"/>
    <p:sldId id="2682" r:id="rId95"/>
    <p:sldId id="2683" r:id="rId96"/>
    <p:sldId id="2684" r:id="rId97"/>
    <p:sldId id="2685" r:id="rId98"/>
    <p:sldId id="2686" r:id="rId99"/>
    <p:sldId id="2687" r:id="rId100"/>
    <p:sldId id="2688" r:id="rId101"/>
    <p:sldId id="2689" r:id="rId102"/>
    <p:sldId id="2691" r:id="rId103"/>
    <p:sldId id="2690" r:id="rId104"/>
    <p:sldId id="2692" r:id="rId105"/>
    <p:sldId id="2693" r:id="rId106"/>
    <p:sldId id="2694" r:id="rId107"/>
    <p:sldId id="2695" r:id="rId108"/>
    <p:sldId id="2696" r:id="rId109"/>
    <p:sldId id="2697" r:id="rId110"/>
    <p:sldId id="2698" r:id="rId111"/>
    <p:sldId id="2699" r:id="rId112"/>
    <p:sldId id="2700" r:id="rId113"/>
    <p:sldId id="2701" r:id="rId114"/>
    <p:sldId id="2702" r:id="rId115"/>
    <p:sldId id="2703" r:id="rId116"/>
    <p:sldId id="2704" r:id="rId117"/>
    <p:sldId id="2705" r:id="rId118"/>
    <p:sldId id="2706" r:id="rId119"/>
    <p:sldId id="2707" r:id="rId120"/>
    <p:sldId id="2708" r:id="rId121"/>
    <p:sldId id="2591" r:id="rId12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2435"/>
            <p14:sldId id="2592"/>
            <p14:sldId id="2593"/>
            <p14:sldId id="2595"/>
            <p14:sldId id="2596"/>
            <p14:sldId id="2597"/>
            <p14:sldId id="2598"/>
            <p14:sldId id="2599"/>
            <p14:sldId id="2600"/>
            <p14:sldId id="2601"/>
            <p14:sldId id="2602"/>
            <p14:sldId id="2603"/>
            <p14:sldId id="2604"/>
            <p14:sldId id="2605"/>
            <p14:sldId id="2606"/>
            <p14:sldId id="2607"/>
            <p14:sldId id="2608"/>
            <p14:sldId id="2609"/>
            <p14:sldId id="2610"/>
            <p14:sldId id="2611"/>
            <p14:sldId id="2612"/>
            <p14:sldId id="2613"/>
            <p14:sldId id="2614"/>
            <p14:sldId id="2616"/>
            <p14:sldId id="2617"/>
            <p14:sldId id="2618"/>
            <p14:sldId id="2619"/>
            <p14:sldId id="2620"/>
            <p14:sldId id="2621"/>
            <p14:sldId id="2622"/>
            <p14:sldId id="2623"/>
            <p14:sldId id="2624"/>
            <p14:sldId id="2625"/>
            <p14:sldId id="2626"/>
            <p14:sldId id="2627"/>
            <p14:sldId id="2628"/>
            <p14:sldId id="2629"/>
            <p14:sldId id="2630"/>
            <p14:sldId id="2631"/>
            <p14:sldId id="2632"/>
            <p14:sldId id="2633"/>
            <p14:sldId id="2634"/>
            <p14:sldId id="2635"/>
            <p14:sldId id="2636"/>
            <p14:sldId id="2637"/>
            <p14:sldId id="2638"/>
            <p14:sldId id="2639"/>
            <p14:sldId id="2640"/>
            <p14:sldId id="2641"/>
            <p14:sldId id="2642"/>
            <p14:sldId id="2709"/>
            <p14:sldId id="2643"/>
            <p14:sldId id="2644"/>
            <p14:sldId id="2645"/>
            <p14:sldId id="2646"/>
            <p14:sldId id="2647"/>
            <p14:sldId id="2648"/>
            <p14:sldId id="2650"/>
            <p14:sldId id="2649"/>
            <p14:sldId id="2651"/>
            <p14:sldId id="2652"/>
            <p14:sldId id="2653"/>
            <p14:sldId id="2654"/>
            <p14:sldId id="2655"/>
            <p14:sldId id="2656"/>
            <p14:sldId id="2657"/>
            <p14:sldId id="2658"/>
            <p14:sldId id="2659"/>
            <p14:sldId id="2660"/>
            <p14:sldId id="2661"/>
            <p14:sldId id="2662"/>
            <p14:sldId id="2663"/>
            <p14:sldId id="2664"/>
            <p14:sldId id="2665"/>
            <p14:sldId id="2666"/>
            <p14:sldId id="2667"/>
            <p14:sldId id="2668"/>
            <p14:sldId id="2669"/>
            <p14:sldId id="2670"/>
            <p14:sldId id="2671"/>
            <p14:sldId id="2672"/>
            <p14:sldId id="2674"/>
            <p14:sldId id="2673"/>
            <p14:sldId id="2675"/>
            <p14:sldId id="2615"/>
            <p14:sldId id="2676"/>
            <p14:sldId id="2678"/>
            <p14:sldId id="2677"/>
            <p14:sldId id="2679"/>
            <p14:sldId id="2680"/>
            <p14:sldId id="2681"/>
            <p14:sldId id="2682"/>
            <p14:sldId id="2683"/>
            <p14:sldId id="2684"/>
            <p14:sldId id="2685"/>
            <p14:sldId id="2686"/>
            <p14:sldId id="2687"/>
            <p14:sldId id="2688"/>
            <p14:sldId id="2689"/>
            <p14:sldId id="2691"/>
            <p14:sldId id="2690"/>
            <p14:sldId id="2692"/>
            <p14:sldId id="2693"/>
            <p14:sldId id="2694"/>
            <p14:sldId id="2695"/>
            <p14:sldId id="2696"/>
            <p14:sldId id="2697"/>
            <p14:sldId id="2698"/>
            <p14:sldId id="2699"/>
            <p14:sldId id="2700"/>
            <p14:sldId id="2701"/>
            <p14:sldId id="2702"/>
            <p14:sldId id="2703"/>
            <p14:sldId id="2704"/>
            <p14:sldId id="2705"/>
            <p14:sldId id="2706"/>
            <p14:sldId id="2707"/>
            <p14:sldId id="2708"/>
            <p14:sldId id="259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84" d="100"/>
          <a:sy n="84" d="100"/>
        </p:scale>
        <p:origin x="5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commentAuthors" Target="commentAuthor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12/22/2025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1" y="1709740"/>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7"/>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9"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1"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1"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1"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 Target="slide8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013068" y="3635622"/>
            <a:ext cx="816586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Функции операционной системы по управлению файлами и устройствами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2"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2"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a:t>
            </a:r>
            <a:r>
              <a:rPr lang="ru-RU" sz="2800" dirty="0">
                <a:latin typeface="Cambria" panose="02040503050406030204" pitchFamily="18" charset="0"/>
                <a:ea typeface="Cambria" panose="02040503050406030204" pitchFamily="18" charset="0"/>
              </a:rPr>
              <a:t>5</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3"/>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Задачи ОС по управлению файлами и устройствами</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sz="2800" dirty="0">
                <a:latin typeface="Cambria" panose="02040503050406030204" pitchFamily="18" charset="0"/>
                <a:ea typeface="Cambria" panose="02040503050406030204" pitchFamily="18" charset="0"/>
              </a:rPr>
              <a:t>Многослойная модель подсистемы ввода-вывода: общая схема, менеджер ввода-вывода, многоуровневые драйверы, специальные файлы</a:t>
            </a:r>
          </a:p>
          <a:p>
            <a:pPr>
              <a:buFont typeface="Wingdings" panose="05000000000000000000" pitchFamily="2" charset="2"/>
              <a:buChar char="Ø"/>
            </a:pPr>
            <a:r>
              <a:rPr lang="ru-RU" sz="2800" dirty="0">
                <a:latin typeface="Cambria" panose="02040503050406030204" pitchFamily="18" charset="0"/>
                <a:ea typeface="Cambria" panose="02040503050406030204" pitchFamily="18" charset="0"/>
              </a:rPr>
              <a:t>Логическая организация файловой системы: цели и задачи файловой системы, типы файлов, иерархическая структура файловой системы, имена файлов, монтирование, атрибуты файлов</a:t>
            </a:r>
          </a:p>
          <a:p>
            <a:pPr>
              <a:buFont typeface="Wingdings" panose="05000000000000000000" pitchFamily="2" charset="2"/>
              <a:buChar char="Ø"/>
            </a:pPr>
            <a:r>
              <a:rPr lang="ru-RU" sz="2800" dirty="0">
                <a:latin typeface="Cambria" panose="02040503050406030204" pitchFamily="18" charset="0"/>
                <a:ea typeface="Cambria" panose="02040503050406030204" pitchFamily="18" charset="0"/>
              </a:rPr>
              <a:t>Логическая организация файла</a:t>
            </a:r>
          </a:p>
          <a:p>
            <a:pPr>
              <a:buFont typeface="Wingdings" panose="05000000000000000000" pitchFamily="2" charset="2"/>
              <a:buChar char="Ø"/>
            </a:pPr>
            <a:r>
              <a:rPr lang="ru-RU" sz="2800" dirty="0">
                <a:latin typeface="Cambria" panose="02040503050406030204" pitchFamily="18" charset="0"/>
                <a:ea typeface="Cambria" panose="02040503050406030204" pitchFamily="18" charset="0"/>
              </a:rPr>
              <a:t>Средства перечисления элементов файловой системы</a:t>
            </a:r>
          </a:p>
          <a:p>
            <a:pPr>
              <a:buFont typeface="Wingdings" panose="05000000000000000000" pitchFamily="2" charset="2"/>
              <a:buChar char="Ø"/>
            </a:pPr>
            <a:endParaRPr lang="ru-RU" sz="2800"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Одной из главных задач ОС является обеспечение обмена данными между приложениями и периферийными устройствами компьютера. Собственно, ради выполнения этой задачи и были разработаны первые системные программы, послужившие прототипами операционных систем</a:t>
            </a:r>
          </a:p>
          <a:p>
            <a:pPr marL="0" indent="0">
              <a:buNone/>
            </a:pPr>
            <a:r>
              <a:rPr lang="ru-RU" dirty="0">
                <a:latin typeface="Cambria" panose="02040503050406030204" pitchFamily="18" charset="0"/>
                <a:ea typeface="Cambria" panose="02040503050406030204" pitchFamily="18" charset="0"/>
              </a:rPr>
              <a:t>В современной ОС функции обмена данными с периферийными устройствами выполняет подсистема ввода-вывода</a:t>
            </a:r>
          </a:p>
          <a:p>
            <a:pPr marL="0" indent="0">
              <a:buNone/>
            </a:pPr>
            <a:r>
              <a:rPr lang="ru-RU" dirty="0">
                <a:latin typeface="Cambria" panose="02040503050406030204" pitchFamily="18" charset="0"/>
                <a:ea typeface="Cambria" panose="02040503050406030204" pitchFamily="18" charset="0"/>
              </a:rPr>
              <a:t>Клиентами этой подсистемы являются не только пользователи и  приложения, но и некоторые компоненты самой ОС, которым требуется получение системных данных или их вывод, например, подсистеме управления процессами при смене активного процесса необходимо записать на диск контекст приостанавливаемого процесса и считать с диска контекст активизируемого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50069344"/>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Ввод-вывод и файловая система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1891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Основными компонентами подсистемы ввода-вывода являются </a:t>
            </a:r>
            <a:r>
              <a:rPr lang="ru-RU" b="1" dirty="0">
                <a:latin typeface="Cambria" panose="02040503050406030204" pitchFamily="18" charset="0"/>
                <a:ea typeface="Cambria" panose="02040503050406030204" pitchFamily="18" charset="0"/>
              </a:rPr>
              <a:t>драйверы</a:t>
            </a:r>
            <a:r>
              <a:rPr lang="ru-RU" dirty="0">
                <a:latin typeface="Cambria" panose="02040503050406030204" pitchFamily="18" charset="0"/>
                <a:ea typeface="Cambria" panose="02040503050406030204" pitchFamily="18" charset="0"/>
              </a:rPr>
              <a:t>, управляющие внешними устройствами, и </a:t>
            </a:r>
            <a:r>
              <a:rPr lang="ru-RU" b="1" dirty="0">
                <a:latin typeface="Cambria" panose="02040503050406030204" pitchFamily="18" charset="0"/>
                <a:ea typeface="Cambria" panose="02040503050406030204" pitchFamily="18" charset="0"/>
              </a:rPr>
              <a:t>файловая система</a:t>
            </a:r>
          </a:p>
          <a:p>
            <a:pPr marL="0" indent="0">
              <a:buNone/>
            </a:pPr>
            <a:r>
              <a:rPr lang="ru-RU" dirty="0">
                <a:latin typeface="Cambria" panose="02040503050406030204" pitchFamily="18" charset="0"/>
                <a:ea typeface="Cambria" panose="02040503050406030204" pitchFamily="18" charset="0"/>
              </a:rPr>
              <a:t>К подсистеме ввода-вывода можно также с некоторой долей условности отнести рассмотренный ранее диспетчер прерываний. Условность заключается в том, что диспетчер прерываний обслуживает не только модули подсистемы ввода-вывода, но и другие модули ОС, в частности такой важный модуль, как планировщик/диспетчер потоков</a:t>
            </a:r>
          </a:p>
          <a:p>
            <a:pPr marL="0" indent="0">
              <a:buNone/>
            </a:pPr>
            <a:r>
              <a:rPr lang="ru-RU" dirty="0">
                <a:latin typeface="Cambria" panose="02040503050406030204" pitchFamily="18" charset="0"/>
                <a:ea typeface="Cambria" panose="02040503050406030204" pitchFamily="18" charset="0"/>
              </a:rPr>
              <a:t>Но из-за того, что планирование работ подсистемы ввода-вывода составляет основную долю нагрузки диспетчера прерываний, его вполне логично рассматривать как ее составную часть (к тому же первопричиной появления в компьютерах системы прерываний были в свое время именно операции с устройствами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Ввод-вывод и файловая система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96446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b="1" dirty="0">
                <a:latin typeface="Cambria" panose="02040503050406030204" pitchFamily="18" charset="0"/>
                <a:ea typeface="Cambria" panose="02040503050406030204" pitchFamily="18" charset="0"/>
              </a:rPr>
              <a:t>Подсистема ввода-вывода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Input-Output</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Subsystem</a:t>
            </a:r>
            <a:r>
              <a:rPr lang="ru-RU" dirty="0">
                <a:latin typeface="Cambria" panose="02040503050406030204" pitchFamily="18" charset="0"/>
                <a:ea typeface="Cambria" panose="02040503050406030204" pitchFamily="18" charset="0"/>
              </a:rPr>
              <a:t>) мультипрограммной ОС при обмене данными с внешними устройствами компьютера должна решать ряд общих задач, из которых наиболее важными являются следующие: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параллельной работы устройств ввода-вывода и процессора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Согласование скоростей обмена и кэширование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Разделение устройств и данных между процессами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Предоставление удобного программного интерфейса к устройствам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Поддержка широкого спектра драйверов с возможностью простого включения в систему нового драйвера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Динамическая загрузка и выгрузка драйверов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Поддержка нескольких файловых систем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Поддержка синхронных и асинхронных операций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20395178"/>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Задачи ОС по управлению файлами и устройствами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49125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Параллельная работа устройства ввода-вывода и процессора организуется путем взаимодействия </a:t>
            </a:r>
            <a:r>
              <a:rPr lang="ru-RU" b="1" dirty="0">
                <a:latin typeface="Cambria" panose="02040503050406030204" pitchFamily="18" charset="0"/>
                <a:ea typeface="Cambria" panose="02040503050406030204" pitchFamily="18" charset="0"/>
              </a:rPr>
              <a:t>контроллера</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драйвера</a:t>
            </a:r>
            <a:r>
              <a:rPr lang="ru-RU" dirty="0">
                <a:latin typeface="Cambria" panose="02040503050406030204" pitchFamily="18" charset="0"/>
                <a:ea typeface="Cambria" panose="02040503050406030204" pitchFamily="18" charset="0"/>
              </a:rPr>
              <a:t>, относящихся к данному устройству</a:t>
            </a:r>
            <a:endParaRPr lang="en-US"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Контроллер</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это специализированный блок управления, которым снабжается каждое устройство ввода-вывода вычислительной системы, включая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диск, принтер, терминал и т. п.</a:t>
            </a:r>
          </a:p>
          <a:p>
            <a:pPr marL="0" indent="0">
              <a:buNone/>
            </a:pPr>
            <a:r>
              <a:rPr lang="ru-RU" b="1" dirty="0">
                <a:latin typeface="Cambria" panose="02040503050406030204" pitchFamily="18" charset="0"/>
                <a:ea typeface="Cambria" panose="02040503050406030204" pitchFamily="18" charset="0"/>
              </a:rPr>
              <a:t>Драйвер</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программный модуль ОС, предназначенный для управления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устройством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3986914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80289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Контроллер периодически принимает от драйвера выводимую на устройство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информацию, а также команды управления, которые говорят о том, что с этой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информацией нужно сделать (например, вывести в виде текста в определенную</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область экрана или записать в определенный сектор диска)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Под управлением контроллера устройство может некоторое время выполнять свои операции автономно, не требуя внимания со стороны центрального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процессора, а следовательно, и со стороны ОС. Это время зависит от многих факторов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объема выводимой информации, степени интеллектуальности управляющего устройством контроллера, быстродействия устройства и т. 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88375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Даже самый примитивный контроллер, выполняющий простые функции, обычно тратит довольно много времени на самостоятельную реализацию подобной функции после получения очередной команды от процессора</a:t>
            </a:r>
          </a:p>
          <a:p>
            <a:pPr marL="0" indent="0">
              <a:buNone/>
            </a:pPr>
            <a:r>
              <a:rPr lang="ru-RU" dirty="0">
                <a:latin typeface="Cambria" panose="02040503050406030204" pitchFamily="18" charset="0"/>
                <a:ea typeface="Cambria" panose="02040503050406030204" pitchFamily="18" charset="0"/>
              </a:rPr>
              <a:t>Это же справедливо и для сложных контроллеров, так как скорость работы любого устройства ввода-вывода, даже самого быстродействующего, обычно существенно ниже скорости работы процессора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43074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Итак, в периоды между выдачами команд от процессора контроллеры выполняют свои действия независимо от ОС</a:t>
            </a:r>
          </a:p>
          <a:p>
            <a:pPr marL="0" indent="0">
              <a:buNone/>
            </a:pPr>
            <a:r>
              <a:rPr lang="ru-RU" dirty="0">
                <a:latin typeface="Cambria" panose="02040503050406030204" pitchFamily="18" charset="0"/>
                <a:ea typeface="Cambria" panose="02040503050406030204" pitchFamily="18" charset="0"/>
              </a:rPr>
              <a:t>От подсистемы ввода-вывода ОС требуется «лишь» осуществлять запуск и приостановку драйверов всех устройств ввода-вывода, входящих в состав компьютера, обеспечивая приемлемое время реакции каждого драйвера на сигналы прерываний, поступающие от соответствующих контроллеров</a:t>
            </a:r>
          </a:p>
          <a:p>
            <a:pPr marL="0" indent="0">
              <a:buNone/>
            </a:pPr>
            <a:r>
              <a:rPr lang="ru-RU" dirty="0">
                <a:latin typeface="Cambria" panose="02040503050406030204" pitchFamily="18" charset="0"/>
                <a:ea typeface="Cambria" panose="02040503050406030204" pitchFamily="18" charset="0"/>
              </a:rPr>
              <a:t>При этом время, которое тратит процессор на обеспечение ввода-вывода, должно быть минимизировано в пользу пользовательских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29401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Данная задача является классической задачей планирования/диспетчеризации процессов в системах реального времени и обычно решается на основе многоуровневой приоритетной схемы обслуживания по прерываниям</a:t>
            </a:r>
          </a:p>
          <a:p>
            <a:pPr marL="0" indent="0">
              <a:buNone/>
            </a:pPr>
            <a:r>
              <a:rPr lang="ru-RU" dirty="0">
                <a:latin typeface="Cambria" panose="02040503050406030204" pitchFamily="18" charset="0"/>
                <a:ea typeface="Cambria" panose="02040503050406030204" pitchFamily="18" charset="0"/>
              </a:rPr>
              <a:t>Для обеспечения приемлемого уровня реакции все драйверы (или части драйверов) распределяются по нескольким приоритетным уровням, в соответствии с временем реакции, допустимым для данного типа устройства, и временем, затрачиваемым процессором на выполнение соответствующего драйвера</a:t>
            </a:r>
          </a:p>
          <a:p>
            <a:pPr marL="0" indent="0">
              <a:buNone/>
            </a:pPr>
            <a:r>
              <a:rPr lang="ru-RU" dirty="0">
                <a:latin typeface="Cambria" panose="02040503050406030204" pitchFamily="18" charset="0"/>
                <a:ea typeface="Cambria" panose="02040503050406030204" pitchFamily="18" charset="0"/>
              </a:rPr>
              <a:t>Для реализации приоритетной схемы обычно задействуется общий диспетчер прерываний ОС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96398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обмене данными всегда возникает задача согласования скорости</a:t>
            </a:r>
          </a:p>
          <a:p>
            <a:pPr marL="0" indent="0">
              <a:buNone/>
            </a:pPr>
            <a:r>
              <a:rPr lang="ru-RU" dirty="0">
                <a:latin typeface="Cambria" panose="02040503050406030204" pitchFamily="18" charset="0"/>
                <a:ea typeface="Cambria" panose="02040503050406030204" pitchFamily="18" charset="0"/>
              </a:rPr>
              <a:t>Например, если один пользовательский процесс вырабатывает некоторые данные и передает их другому пользовательскому процессу через оперативную память, то в общем случае скорости генерации данных и их чтения не совпадают</a:t>
            </a:r>
          </a:p>
          <a:p>
            <a:pPr marL="0" indent="0">
              <a:buNone/>
            </a:pPr>
            <a:r>
              <a:rPr lang="ru-RU" dirty="0">
                <a:latin typeface="Cambria" panose="02040503050406030204" pitchFamily="18" charset="0"/>
                <a:ea typeface="Cambria" panose="02040503050406030204" pitchFamily="18" charset="0"/>
              </a:rPr>
              <a:t>Согласование скорости при обмене данными между </a:t>
            </a:r>
            <a:r>
              <a:rPr lang="ru-RU" i="1" dirty="0">
                <a:latin typeface="Cambria" panose="02040503050406030204" pitchFamily="18" charset="0"/>
                <a:ea typeface="Cambria" panose="02040503050406030204" pitchFamily="18" charset="0"/>
              </a:rPr>
              <a:t>прикладными процессами </a:t>
            </a:r>
            <a:r>
              <a:rPr lang="ru-RU" dirty="0">
                <a:latin typeface="Cambria" panose="02040503050406030204" pitchFamily="18" charset="0"/>
                <a:ea typeface="Cambria" panose="02040503050406030204" pitchFamily="18" charset="0"/>
              </a:rPr>
              <a:t>обычно достигается за счет </a:t>
            </a:r>
            <a:r>
              <a:rPr lang="ru-RU" b="1" dirty="0">
                <a:latin typeface="Cambria" panose="02040503050406030204" pitchFamily="18" charset="0"/>
                <a:ea typeface="Cambria" panose="02040503050406030204" pitchFamily="18" charset="0"/>
              </a:rPr>
              <a:t>буферизации данных в оперативной памяти</a:t>
            </a:r>
            <a:r>
              <a:rPr lang="ru-RU" dirty="0">
                <a:latin typeface="Cambria" panose="02040503050406030204" pitchFamily="18" charset="0"/>
                <a:ea typeface="Cambria" panose="02040503050406030204" pitchFamily="18" charset="0"/>
              </a:rPr>
              <a:t> и синхронизации доступа процессов к буферу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35344901"/>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74615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Аналогичным образом решается проблема согласования скоростей обмена в подсистеме ввода-вывода</a:t>
            </a:r>
          </a:p>
          <a:p>
            <a:pPr marL="0" indent="0">
              <a:buNone/>
            </a:pPr>
            <a:r>
              <a:rPr lang="ru-RU" dirty="0">
                <a:latin typeface="Cambria" panose="02040503050406030204" pitchFamily="18" charset="0"/>
                <a:ea typeface="Cambria" panose="02040503050406030204" pitchFamily="18" charset="0"/>
              </a:rPr>
              <a:t>Здесь также широко используется буферизация данных в оперативной памяти</a:t>
            </a:r>
          </a:p>
          <a:p>
            <a:pPr marL="0" indent="0">
              <a:buNone/>
            </a:pPr>
            <a:r>
              <a:rPr lang="ru-RU" dirty="0">
                <a:latin typeface="Cambria" panose="02040503050406030204" pitchFamily="18" charset="0"/>
                <a:ea typeface="Cambria" panose="02040503050406030204" pitchFamily="18" charset="0"/>
              </a:rPr>
              <a:t>В тех специализированных операционных системах, в которых обеспечение высокой скорости ввода-вывода является первоочередной задачей (управление в реальном времени, услуги сетевой файловой службы и т. п.), большая часть оперативной памяти отводится не под коды прикладных программ, а под буферы данных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29938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Однако буферизация только на основе оперативной памяти в подсистеме ввода-вывода оказывается недостаточной – разница между скоростью обмена с оперативной памятью, куда процессы помещают данные для обработки, и скоростью работы внешнего устройства часто становится слишком значительной, чтобы в качестве временного буфера можно было бы использовать оперативную память – ее объема может просто не хватить</a:t>
            </a:r>
          </a:p>
          <a:p>
            <a:pPr marL="0" indent="0">
              <a:buNone/>
            </a:pPr>
            <a:r>
              <a:rPr lang="ru-RU" dirty="0">
                <a:latin typeface="Cambria" panose="02040503050406030204" pitchFamily="18" charset="0"/>
                <a:ea typeface="Cambria" panose="02040503050406030204" pitchFamily="18" charset="0"/>
              </a:rPr>
              <a:t>В системах ввода-вывода при необходимости обмена большими объемами данных используется </a:t>
            </a:r>
            <a:r>
              <a:rPr lang="ru-RU" b="1" dirty="0">
                <a:latin typeface="Cambria" panose="02040503050406030204" pitchFamily="18" charset="0"/>
                <a:ea typeface="Cambria" panose="02040503050406030204" pitchFamily="18" charset="0"/>
              </a:rPr>
              <a:t>спулинг</a:t>
            </a:r>
            <a:r>
              <a:rPr lang="ru-RU" dirty="0">
                <a:latin typeface="Cambria" panose="02040503050406030204" pitchFamily="18" charset="0"/>
                <a:ea typeface="Cambria" panose="02040503050406030204" pitchFamily="18" charset="0"/>
              </a:rPr>
              <a:t>, при котором данные буферизуются на диске в особой области, называемой </a:t>
            </a:r>
            <a:r>
              <a:rPr lang="ru-RU" b="1" dirty="0">
                <a:latin typeface="Cambria" panose="02040503050406030204" pitchFamily="18" charset="0"/>
                <a:ea typeface="Cambria" panose="02040503050406030204" pitchFamily="18" charset="0"/>
              </a:rPr>
              <a:t>дисковым файлом</a:t>
            </a:r>
            <a:r>
              <a:rPr lang="ru-RU" dirty="0">
                <a:latin typeface="Cambria" panose="02040503050406030204" pitchFamily="18" charset="0"/>
                <a:ea typeface="Cambria" panose="02040503050406030204" pitchFamily="18" charset="0"/>
              </a:rPr>
              <a:t>, или</a:t>
            </a:r>
            <a:r>
              <a:rPr lang="ru-RU" b="1" dirty="0">
                <a:latin typeface="Cambria" panose="02040503050406030204" pitchFamily="18" charset="0"/>
                <a:ea typeface="Cambria" panose="02040503050406030204" pitchFamily="18" charset="0"/>
              </a:rPr>
              <a:t> спул-файлом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46001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Типичный пример применения спул-файла дает организация вывода данных на принтер</a:t>
            </a:r>
          </a:p>
          <a:p>
            <a:pPr marL="0" indent="0">
              <a:buNone/>
            </a:pPr>
            <a:r>
              <a:rPr lang="ru-RU" dirty="0">
                <a:latin typeface="Cambria" panose="02040503050406030204" pitchFamily="18" charset="0"/>
                <a:ea typeface="Cambria" panose="02040503050406030204" pitchFamily="18" charset="0"/>
              </a:rPr>
              <a:t>Для печатаемых документов объем в несколько десятков мегабайтов – не редкость, поэтому для их временного хранения (а печать каждого документа занимает от нескольких минут до десятков минут) объема оперативной памяти явно недостаточно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речь конечно же об оперативной памяти принтера)</a:t>
            </a: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64801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решением этой проблемы является использование большой буферной памяти в контроллерах внешних устройств</a:t>
            </a:r>
          </a:p>
          <a:p>
            <a:pPr marL="0" indent="0">
              <a:buNone/>
            </a:pPr>
            <a:r>
              <a:rPr lang="ru-RU" dirty="0">
                <a:latin typeface="Cambria" panose="02040503050406030204" pitchFamily="18" charset="0"/>
                <a:ea typeface="Cambria" panose="02040503050406030204" pitchFamily="18" charset="0"/>
              </a:rPr>
              <a:t>Такой подход особенно полезен в тех случаях, когда помещение данных на диск слишком замедляет обмен (или когда данные выводятся на сам диск)</a:t>
            </a:r>
          </a:p>
          <a:p>
            <a:pPr marL="0" indent="0">
              <a:buNone/>
            </a:pPr>
            <a:r>
              <a:rPr lang="ru-RU" dirty="0">
                <a:latin typeface="Cambria" panose="02040503050406030204" pitchFamily="18" charset="0"/>
                <a:ea typeface="Cambria" panose="02040503050406030204" pitchFamily="18" charset="0"/>
              </a:rPr>
              <a:t>Например, в контроллерах графических дисплеев применяется буферная память, соизмеримая по объему с оперативной, и это существенно ускоряет вывод графики на экран</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4929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Буферизация данных при вводе-выводе позволяет не только согласовать скорости работы процессора и внешнего устройства, но и решить другую задачу – сократить количество реальных операций ввода-вывода за счет кэширования данных</a:t>
            </a:r>
          </a:p>
          <a:p>
            <a:pPr marL="0" indent="0">
              <a:buNone/>
            </a:pPr>
            <a:r>
              <a:rPr lang="ru-RU" dirty="0">
                <a:latin typeface="Cambria" panose="02040503050406030204" pitchFamily="18" charset="0"/>
                <a:ea typeface="Cambria" panose="02040503050406030204" pitchFamily="18" charset="0"/>
              </a:rPr>
              <a:t>Дисковый кэш является непременным атрибутом подсистем ввода-вывода практически всех операционных систем, значительно сокращая время доступа к хранимым данным</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33210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Устройства ввода-вывода могут предоставляться процессам как в </a:t>
            </a:r>
            <a:r>
              <a:rPr lang="ru-RU" b="1" dirty="0">
                <a:latin typeface="Cambria" panose="02040503050406030204" pitchFamily="18" charset="0"/>
                <a:ea typeface="Cambria" panose="02040503050406030204" pitchFamily="18" charset="0"/>
              </a:rPr>
              <a:t>монопольное</a:t>
            </a:r>
            <a:r>
              <a:rPr lang="ru-RU" dirty="0">
                <a:latin typeface="Cambria" panose="02040503050406030204" pitchFamily="18" charset="0"/>
                <a:ea typeface="Cambria" panose="02040503050406030204" pitchFamily="18" charset="0"/>
              </a:rPr>
              <a:t>, так и в </a:t>
            </a:r>
            <a:r>
              <a:rPr lang="ru-RU" b="1" dirty="0">
                <a:latin typeface="Cambria" panose="02040503050406030204" pitchFamily="18" charset="0"/>
                <a:ea typeface="Cambria" panose="02040503050406030204" pitchFamily="18" charset="0"/>
              </a:rPr>
              <a:t>совместное</a:t>
            </a:r>
            <a:r>
              <a:rPr lang="ru-RU" dirty="0">
                <a:latin typeface="Cambria" panose="02040503050406030204" pitchFamily="18" charset="0"/>
                <a:ea typeface="Cambria" panose="02040503050406030204" pitchFamily="18" charset="0"/>
              </a:rPr>
              <a:t> (разделяемое) использование</a:t>
            </a:r>
          </a:p>
          <a:p>
            <a:pPr marL="0" indent="0">
              <a:buNone/>
            </a:pPr>
            <a:r>
              <a:rPr lang="ru-RU" dirty="0">
                <a:latin typeface="Cambria" panose="02040503050406030204" pitchFamily="18" charset="0"/>
                <a:ea typeface="Cambria" panose="02040503050406030204" pitchFamily="18" charset="0"/>
              </a:rPr>
              <a:t>Какой тип доступа к устройству разрешен тому или иному процессу, определяет операционная система</a:t>
            </a:r>
          </a:p>
          <a:p>
            <a:pPr marL="0" indent="0">
              <a:buNone/>
            </a:pPr>
            <a:r>
              <a:rPr lang="ru-RU" dirty="0">
                <a:latin typeface="Cambria" panose="02040503050406030204" pitchFamily="18" charset="0"/>
                <a:ea typeface="Cambria" panose="02040503050406030204" pitchFamily="18" charset="0"/>
              </a:rPr>
              <a:t>Контроль доступа осуществляется теми же способами, что и при доступе процессов к другим ресурсам вычислительной системы – путем проверки прав пользователя или группы пользователей, от имени которых действует процесс, на выполнение той или иной операции с устройством</a:t>
            </a:r>
          </a:p>
          <a:p>
            <a:pPr marL="0" indent="0">
              <a:buNone/>
            </a:pPr>
            <a:r>
              <a:rPr lang="ru-RU" dirty="0">
                <a:latin typeface="Cambria" panose="02040503050406030204" pitchFamily="18" charset="0"/>
                <a:ea typeface="Cambria" panose="02040503050406030204" pitchFamily="18" charset="0"/>
              </a:rPr>
              <a:t>Например, определенной группе пользователей может быть разрешено захватывать последовательный порт в монопольное владение, в то время как другим пользователям – запрещено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7347653"/>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63196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Одно и то же устройство в разные периоды времени может использоваться как в разделяемом, так и в монопольном режимах</a:t>
            </a:r>
          </a:p>
          <a:p>
            <a:pPr marL="0" indent="0">
              <a:buNone/>
            </a:pPr>
            <a:r>
              <a:rPr lang="ru-RU" dirty="0">
                <a:latin typeface="Cambria" panose="02040503050406030204" pitchFamily="18" charset="0"/>
                <a:ea typeface="Cambria" panose="02040503050406030204" pitchFamily="18" charset="0"/>
              </a:rPr>
              <a:t>Тем не менее существуют устройства, для которых обычно характерен один из этих режимов, например, последовательные порты и алфавитно-цифровые терминалы чаще используются в монопольном режиме, а диски – в режиме совместного доступа</a:t>
            </a:r>
          </a:p>
          <a:p>
            <a:pPr marL="0" indent="0">
              <a:buNone/>
            </a:pPr>
            <a:r>
              <a:rPr lang="ru-RU" dirty="0">
                <a:latin typeface="Cambria" panose="02040503050406030204" pitchFamily="18" charset="0"/>
                <a:ea typeface="Cambria" panose="02040503050406030204" pitchFamily="18" charset="0"/>
              </a:rPr>
              <a:t>Операционная система должна предоставлять эти устройства в обоих режимах: в монопольном режиме отслеживая процедуры захвата и освобождения устройств, а в режиме разделения оптимизируя последовательность операций ввода-вывода для различных процессов в целях повышения общей производительности, если это возможно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25920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Например, при обмене данными нескольких процессов с диском можно так упорядочить последовательность операций, что непроизводительные затраты времени на перемещение головок существенно сократятся (при этом для отдельных процессов возможно некоторое замедление операций ввода-вывода)</a:t>
            </a:r>
          </a:p>
          <a:p>
            <a:pPr marL="0" indent="0">
              <a:buNone/>
            </a:pPr>
            <a:r>
              <a:rPr lang="ru-RU" dirty="0">
                <a:latin typeface="Cambria" panose="02040503050406030204" pitchFamily="18" charset="0"/>
                <a:ea typeface="Cambria" panose="02040503050406030204" pitchFamily="18" charset="0"/>
              </a:rPr>
              <a:t>Операционная система может контролировать доступ не только к устройству в целом, но и к отдельным </a:t>
            </a:r>
            <a:r>
              <a:rPr lang="ru-RU" b="1" dirty="0">
                <a:latin typeface="Cambria" panose="02040503050406030204" pitchFamily="18" charset="0"/>
                <a:ea typeface="Cambria" panose="02040503050406030204" pitchFamily="18" charset="0"/>
              </a:rPr>
              <a:t>порциям данных</a:t>
            </a:r>
            <a:r>
              <a:rPr lang="ru-RU" dirty="0">
                <a:latin typeface="Cambria" panose="02040503050406030204" pitchFamily="18" charset="0"/>
                <a:ea typeface="Cambria" panose="02040503050406030204" pitchFamily="18" charset="0"/>
              </a:rPr>
              <a:t>, хранимых или отображаемых этим устройством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56409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Диск является типичным примером устройства, для которого важно контролировать доступ не к устройству в целом, а к отдельным каталогам и файлам</a:t>
            </a:r>
          </a:p>
          <a:p>
            <a:pPr marL="0" indent="0">
              <a:buNone/>
            </a:pPr>
            <a:r>
              <a:rPr lang="ru-RU" dirty="0">
                <a:latin typeface="Cambria" panose="02040503050406030204" pitchFamily="18" charset="0"/>
                <a:ea typeface="Cambria" panose="02040503050406030204" pitchFamily="18" charset="0"/>
              </a:rPr>
              <a:t>При выводе информации на графический дисплей отдельные окна на экране также представляют собой ресурсы, к которым необходимо обеспечить тот или иной вид доступа для протекающих в системе процессов</a:t>
            </a:r>
          </a:p>
          <a:p>
            <a:pPr marL="0" indent="0">
              <a:buNone/>
            </a:pPr>
            <a:r>
              <a:rPr lang="ru-RU" dirty="0">
                <a:latin typeface="Cambria" panose="02040503050406030204" pitchFamily="18" charset="0"/>
                <a:ea typeface="Cambria" panose="02040503050406030204" pitchFamily="18" charset="0"/>
              </a:rPr>
              <a:t>При этом для каждой порции данных или части устройства могут быть заданы свои права доступа, не связанные напрямую с правами доступа к устройству в целом</a:t>
            </a:r>
          </a:p>
          <a:p>
            <a:pPr marL="0" indent="0">
              <a:buNone/>
            </a:pPr>
            <a:r>
              <a:rPr lang="ru-RU" dirty="0">
                <a:latin typeface="Cambria" panose="02040503050406030204" pitchFamily="18" charset="0"/>
                <a:ea typeface="Cambria" panose="02040503050406030204" pitchFamily="18" charset="0"/>
              </a:rPr>
              <a:t>Так, в файловой системе для каждого каталога й файла обычно можно задать индивидуальные права доступа. Очевидно, что для организации совместного доступа к частям устройства или данных, хранящихся на нем, непременным условием является задание режима совместного использования устройства й целом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34534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При разделении устройства несколькими процессами может возникнуть необходимость в </a:t>
            </a:r>
            <a:r>
              <a:rPr lang="ru-RU" b="1" i="1" dirty="0">
                <a:latin typeface="Cambria" panose="02040503050406030204" pitchFamily="18" charset="0"/>
                <a:ea typeface="Cambria" panose="02040503050406030204" pitchFamily="18" charset="0"/>
              </a:rPr>
              <a:t>разграничении</a:t>
            </a:r>
            <a:r>
              <a:rPr lang="ru-RU" dirty="0">
                <a:latin typeface="Cambria" panose="02040503050406030204" pitchFamily="18" charset="0"/>
                <a:ea typeface="Cambria" panose="02040503050406030204" pitchFamily="18" charset="0"/>
              </a:rPr>
              <a:t> порций данных, относящихся к каждому из этих процессов</a:t>
            </a:r>
          </a:p>
          <a:p>
            <a:pPr marL="0" indent="0">
              <a:buNone/>
            </a:pPr>
            <a:r>
              <a:rPr lang="ru-RU" dirty="0">
                <a:latin typeface="Cambria" panose="02040503050406030204" pitchFamily="18" charset="0"/>
                <a:ea typeface="Cambria" panose="02040503050406030204" pitchFamily="18" charset="0"/>
              </a:rPr>
              <a:t>Такая потребность возникает при совместном использовании так называемых последовательных устройств, данные в которых, в отличие от устройств прямого доступа, не адресуются</a:t>
            </a:r>
          </a:p>
          <a:p>
            <a:pPr marL="0" indent="0">
              <a:buNone/>
            </a:pPr>
            <a:r>
              <a:rPr lang="ru-RU" dirty="0">
                <a:latin typeface="Cambria" panose="02040503050406030204" pitchFamily="18" charset="0"/>
                <a:ea typeface="Cambria" panose="02040503050406030204" pitchFamily="18" charset="0"/>
              </a:rPr>
              <a:t>Типичным примером такого рода устройства является принтер, который, с одной стороны, не выделяется в монопольное владение процессам, так как это устройство достаточно дорогое, а с другой – его совместное использование может вызвать проблему</a:t>
            </a:r>
          </a:p>
          <a:p>
            <a:pPr marL="0" indent="0">
              <a:buNone/>
            </a:pPr>
            <a:r>
              <a:rPr lang="ru-RU" dirty="0">
                <a:latin typeface="Cambria" panose="02040503050406030204" pitchFamily="18" charset="0"/>
                <a:ea typeface="Cambria" panose="02040503050406030204" pitchFamily="18" charset="0"/>
              </a:rPr>
              <a:t>Например, пусть две программы, работая в мультизадачном режиме, выводят на печать документы. Каждая программа выдает данные на печать порциями в своем темпе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57866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Без принятия специальных мер на выходе принтера была бы получена мешанина строк, относящихся к двум разным документам, созданным каждой из этих двух программ</a:t>
            </a:r>
          </a:p>
          <a:p>
            <a:pPr marL="0" indent="0">
              <a:buNone/>
            </a:pPr>
            <a:r>
              <a:rPr lang="ru-RU" dirty="0">
                <a:latin typeface="Cambria" panose="02040503050406030204" pitchFamily="18" charset="0"/>
                <a:ea typeface="Cambria" panose="02040503050406030204" pitchFamily="18" charset="0"/>
              </a:rPr>
              <a:t>Поэтому подсистема ввода-вывода для подобных устройств организует очередь так называемых </a:t>
            </a:r>
            <a:r>
              <a:rPr lang="ru-RU" b="1" i="1" dirty="0">
                <a:latin typeface="Cambria" panose="02040503050406030204" pitchFamily="18" charset="0"/>
                <a:ea typeface="Cambria" panose="02040503050406030204" pitchFamily="18" charset="0"/>
              </a:rPr>
              <a:t>заданий на вывод</a:t>
            </a:r>
            <a:r>
              <a:rPr lang="ru-RU" dirty="0">
                <a:latin typeface="Cambria" panose="02040503050406030204" pitchFamily="18" charset="0"/>
                <a:ea typeface="Cambria" panose="02040503050406030204" pitchFamily="18" charset="0"/>
              </a:rPr>
              <a:t>, при этом с каждым заданием связана порция данных, которую нельзя разрывать</a:t>
            </a:r>
          </a:p>
          <a:p>
            <a:pPr marL="0" indent="0">
              <a:buNone/>
            </a:pPr>
            <a:r>
              <a:rPr lang="ru-RU" dirty="0">
                <a:latin typeface="Cambria" panose="02040503050406030204" pitchFamily="18" charset="0"/>
                <a:ea typeface="Cambria" panose="02040503050406030204" pitchFamily="18" charset="0"/>
              </a:rPr>
              <a:t>Для хранения очереди заданий используется спул-файл, который одновременно согласует скорости работы принтера и оперативной памяти и позволяет организовать разбиение данных на логические порции</a:t>
            </a:r>
          </a:p>
          <a:p>
            <a:pPr marL="0" indent="0">
              <a:buNone/>
            </a:pPr>
            <a:r>
              <a:rPr lang="ru-RU" dirty="0">
                <a:latin typeface="Cambria" panose="02040503050406030204" pitchFamily="18" charset="0"/>
                <a:ea typeface="Cambria" panose="02040503050406030204" pitchFamily="18" charset="0"/>
              </a:rPr>
              <a:t>Так как спул-файл находится на разделяемом устройстве прямого доступа, то процессы могут одновременно выполнять вывод на принтер, помещая данные в свой раздел спул-файла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83135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того чтобы облегчить разработку прикладных программ, включающих процедуры ввода-вывода, ОС должна поддерживать экранирующий логический интерфейс между периферийными устройствами и приложениями» который давал бы возможность использовать общий набор базовых операций ввода-вывода для любых устройств независимо от их специфики</a:t>
            </a:r>
          </a:p>
          <a:p>
            <a:pPr marL="0" indent="0">
              <a:buNone/>
            </a:pPr>
            <a:r>
              <a:rPr lang="ru-RU" dirty="0">
                <a:latin typeface="Cambria" panose="02040503050406030204" pitchFamily="18" charset="0"/>
                <a:ea typeface="Cambria" panose="02040503050406030204" pitchFamily="18" charset="0"/>
              </a:rPr>
              <a:t>В качестве основы такого интерфейса практически все современные операционные системы поддерживают </a:t>
            </a:r>
            <a:r>
              <a:rPr lang="ru-RU" b="1" dirty="0">
                <a:latin typeface="Cambria" panose="02040503050406030204" pitchFamily="18" charset="0"/>
                <a:ea typeface="Cambria" panose="02040503050406030204" pitchFamily="18" charset="0"/>
              </a:rPr>
              <a:t>файловую модель устройств ввода-вывода</a:t>
            </a:r>
          </a:p>
          <a:p>
            <a:pPr marL="0" indent="0">
              <a:buNone/>
            </a:pPr>
            <a:r>
              <a:rPr lang="ru-RU" dirty="0">
                <a:latin typeface="Cambria" panose="02040503050406030204" pitchFamily="18" charset="0"/>
                <a:ea typeface="Cambria" panose="02040503050406030204" pitchFamily="18" charset="0"/>
              </a:rPr>
              <a:t>Здесь мы еще раз сталкиваемся с плодотворной концепцией виртуализации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95932898"/>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Программный интерфейс к устройствам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44043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Все разнообразие типов реальных устройств ввода-вывода операционная система подменяет одним виртуальным типом устройства</a:t>
            </a:r>
          </a:p>
          <a:p>
            <a:pPr marL="0" indent="0">
              <a:buNone/>
            </a:pPr>
            <a:r>
              <a:rPr lang="ru-RU" dirty="0">
                <a:latin typeface="Cambria" panose="02040503050406030204" pitchFamily="18" charset="0"/>
                <a:ea typeface="Cambria" panose="02040503050406030204" pitchFamily="18" charset="0"/>
              </a:rPr>
              <a:t>Все виртуальные устройства работают единым образом и представляются в виде файлов, называемых также </a:t>
            </a:r>
            <a:r>
              <a:rPr lang="ru-RU" b="1" dirty="0">
                <a:latin typeface="Cambria" panose="02040503050406030204" pitchFamily="18" charset="0"/>
                <a:ea typeface="Cambria" panose="02040503050406030204" pitchFamily="18" charset="0"/>
              </a:rPr>
              <a:t>специальными</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виртуальными, </a:t>
            </a:r>
            <a:r>
              <a:rPr lang="ru-RU" dirty="0">
                <a:latin typeface="Cambria" panose="02040503050406030204" pitchFamily="18" charset="0"/>
                <a:ea typeface="Cambria" panose="02040503050406030204" pitchFamily="18" charset="0"/>
              </a:rPr>
              <a:t>файлами</a:t>
            </a:r>
          </a:p>
          <a:p>
            <a:pPr marL="0" indent="0">
              <a:buNone/>
            </a:pPr>
            <a:r>
              <a:rPr lang="ru-RU" dirty="0">
                <a:latin typeface="Cambria" panose="02040503050406030204" pitchFamily="18" charset="0"/>
                <a:ea typeface="Cambria" panose="02040503050406030204" pitchFamily="18" charset="0"/>
              </a:rPr>
              <a:t>Каждому устройству ввода-вывода ставится в соответствие отдельный специальный файл. Он представляет это устройство для прикладных процессов и остальной части операционной системы в виде неструктурированного набора байтов</a:t>
            </a:r>
          </a:p>
          <a:p>
            <a:pPr marL="0" indent="0">
              <a:buNone/>
            </a:pPr>
            <a:r>
              <a:rPr lang="ru-RU" dirty="0">
                <a:latin typeface="Cambria" panose="02040503050406030204" pitchFamily="18" charset="0"/>
                <a:ea typeface="Cambria" panose="02040503050406030204" pitchFamily="18" charset="0"/>
              </a:rPr>
              <a:t>В результате вместо написания сложных процедур ввода-вывода для реальных устройств программист может теперь просто использовать операции чтения из специальных файлов и записи в специальные файлы, ассоциированные с этими устройствами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Программный интерфейс к устройствам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70504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Привлекательность модели файла-устройства состоит в ее простоте и универсальности для устройств любого типа. Однако во многих случаях, как, например, вывода графической информации на дисплей или принтер, программирования операций сетевого обмена и др., эта модель является слишком примитивной и не освобождает прикладного программиста от рутинных задач программирования ввода-вывода для этих устройств</a:t>
            </a:r>
          </a:p>
          <a:p>
            <a:pPr marL="0" indent="0">
              <a:buNone/>
            </a:pPr>
            <a:r>
              <a:rPr lang="ru-RU" dirty="0">
                <a:latin typeface="Cambria" panose="02040503050406030204" pitchFamily="18" charset="0"/>
                <a:ea typeface="Cambria" panose="02040503050406030204" pitchFamily="18" charset="0"/>
              </a:rPr>
              <a:t>Поэтому для некоторых типов устройств ОС поддерживает более развитый интерфейс, отражающий их специфику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Программный интерфейс к устройствам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15223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Достоинством подсистемы ввода-вывода любой универсальной ОС является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наличие разнообразного набора драйверов для наиболее популярных периферийных устройств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Прекрасно спланированная и реализованная операционная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система может потерпеть неудачу на рынке только из-за того, что в ее состав не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включен достаточный набор драйверов, в результате администраторы и пользователи вынуждены будут искать нужный им драйвер для имеющегося у них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внешнего устройства у производителей оборудования или, что еще хуже, заниматься его разработкой</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Именно в такой ситуации оказались пользователи первых версий OS/2, и, возможно, данное обстоятельство послужило в свое время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не последней причиной того, что эта неплохая операционная система сдала позиции богатой на драйверы ОС Windows 3.x.</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28089964"/>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Поддержка широкого спектра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80880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Чтобы операционная система не испытывала недостатка в драйверах, необходимо наличие логически ясного, удобного и открытого интерфейса между</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драйверами и другими компонентами ОС</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Такой интерфейс нужен для того,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чтобы драйверы писали не только непосредственные разработчики данной операционной системы, но и большая армия программистов по всему миру, в первую очередь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тех предприятий, которые выпускают внешние устройства для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компьютеров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Открытость интерфейса драйверов, то есть доступность его описания для независимых разработчиков программного обеспечения (а, возможно, также и разработка его на основе согласительных процедур между ведущими коллективами разработчиков), является необходимым условием успешного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развития операционной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Поддержка широкого спектра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5467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Драйвер должен поддерживать два типа интерфейсов:</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интерфейс «драйвер-ядро» </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Driver Kernel Interface, </a:t>
            </a:r>
            <a:r>
              <a:rPr lang="en-US" b="1" dirty="0">
                <a:latin typeface="Cambria" panose="02040503050406030204" pitchFamily="18" charset="0"/>
                <a:ea typeface="Cambria" panose="02040503050406030204" pitchFamily="18" charset="0"/>
              </a:rPr>
              <a:t>DKI</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 модулями ядра ОС</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(модулями подсистемы ввода-вывода, системных вызовов, подсистем управления процессами и памятью и т. д.)</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интерфейс «драйвер-устройство» </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Driver Device Interface, </a:t>
            </a:r>
            <a:r>
              <a:rPr lang="en-US" b="1" dirty="0">
                <a:latin typeface="Cambria" panose="02040503050406030204" pitchFamily="18" charset="0"/>
                <a:ea typeface="Cambria" panose="02040503050406030204" pitchFamily="18" charset="0"/>
              </a:rPr>
              <a:t>DDI</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 контроллерами внешних устройств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Интерфейс «драйвер-ядро» должен быть стандартизован в любом случае,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а интерфейс «драйвер-устройство» имеет смысл</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стандартизировать тогда, когда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подсистема ввода-вывода не разрешает драйверу непосредственно взаимодействовать с аппаратурой контроллера, а выполняет эти операции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самостоятельно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Поддержка широкого спектра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32421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dirty="0">
                <a:latin typeface="Cambria" panose="02040503050406030204" pitchFamily="18" charset="0"/>
                <a:ea typeface="Cambria" panose="02040503050406030204" pitchFamily="18" charset="0"/>
              </a:rPr>
              <a:t>Экранирование драйвера от аппаратуры является весьма полезной функцией,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так как драйвер в этом случае становится независимым от аппаратной платформы.</a:t>
            </a:r>
          </a:p>
          <a:p>
            <a:pPr marL="0" indent="0">
              <a:buNone/>
            </a:pPr>
            <a:r>
              <a:rPr lang="ru-RU" dirty="0">
                <a:latin typeface="Cambria" panose="02040503050406030204" pitchFamily="18" charset="0"/>
                <a:ea typeface="Cambria" panose="02040503050406030204" pitchFamily="18" charset="0"/>
              </a:rPr>
              <a:t>Подсистема ввода-вывода может поддерживать несколько различных типов интерфейсов DKI/DDI, предоставляя специфический интерфейс для устройств определенного класса</a:t>
            </a:r>
          </a:p>
          <a:p>
            <a:pPr marL="0" indent="0">
              <a:buNone/>
            </a:pPr>
            <a:r>
              <a:rPr lang="ru-RU" dirty="0">
                <a:latin typeface="Cambria" panose="02040503050406030204" pitchFamily="18" charset="0"/>
                <a:ea typeface="Cambria" panose="02040503050406030204" pitchFamily="18" charset="0"/>
              </a:rPr>
              <a:t>Так, в ОС семейства Windows NT для драйверов сетевых адаптеров предусмотрен интерфейс стандарта NDIS (Network Driver Interface </a:t>
            </a:r>
            <a:r>
              <a:rPr lang="ru-RU" dirty="0" err="1">
                <a:latin typeface="Cambria" panose="02040503050406030204" pitchFamily="18" charset="0"/>
                <a:ea typeface="Cambria" panose="02040503050406030204" pitchFamily="18" charset="0"/>
              </a:rPr>
              <a:t>Specification</a:t>
            </a:r>
            <a:r>
              <a:rPr lang="ru-RU" dirty="0">
                <a:latin typeface="Cambria" panose="02040503050406030204" pitchFamily="18" charset="0"/>
                <a:ea typeface="Cambria" panose="02040503050406030204" pitchFamily="18" charset="0"/>
              </a:rPr>
              <a:t>), в то время как драйверы сетевых транспортных протоколов взаимодействуют с верхними слоями сетевого программного обеспечения по интерфейсу TDI (Transport Driver Interface)</a:t>
            </a:r>
          </a:p>
          <a:p>
            <a:pPr marL="0" indent="0">
              <a:buNone/>
            </a:pPr>
            <a:r>
              <a:rPr lang="ru-RU" dirty="0">
                <a:latin typeface="Cambria" panose="02040503050406030204" pitchFamily="18" charset="0"/>
                <a:ea typeface="Cambria" panose="02040503050406030204" pitchFamily="18" charset="0"/>
              </a:rPr>
              <a:t>Для поддержки процесса разработки драйверов операционной системы обычно выпускается так называемый пакет </a:t>
            </a:r>
            <a:r>
              <a:rPr lang="ru-RU" b="1" dirty="0">
                <a:latin typeface="Cambria" panose="02040503050406030204" pitchFamily="18" charset="0"/>
                <a:ea typeface="Cambria" panose="02040503050406030204" pitchFamily="18" charset="0"/>
              </a:rPr>
              <a:t>DDK</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Driver Development Kit</a:t>
            </a:r>
            <a:r>
              <a:rPr lang="ru-RU" dirty="0">
                <a:latin typeface="Cambria" panose="02040503050406030204" pitchFamily="18" charset="0"/>
                <a:ea typeface="Cambria" panose="02040503050406030204" pitchFamily="18" charset="0"/>
              </a:rPr>
              <a:t>), представляющий собой набор соответствующих инструментальных средств – библиотек, компиляторов и отладчиков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Поддержка широкого спектра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66554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Набор потенциально поддерживаемых данной ОС периферийных устройств всегда существенно шире набора устройств, которыми ОС должна управлять при установке на конкретной машине</a:t>
            </a:r>
          </a:p>
          <a:p>
            <a:pPr marL="0" indent="0">
              <a:buNone/>
            </a:pPr>
            <a:r>
              <a:rPr lang="ru-RU" dirty="0">
                <a:latin typeface="Cambria" panose="02040503050406030204" pitchFamily="18" charset="0"/>
                <a:ea typeface="Cambria" panose="02040503050406030204" pitchFamily="18" charset="0"/>
              </a:rPr>
              <a:t>Поэтому ценным свойством ОС является способность </a:t>
            </a:r>
            <a:r>
              <a:rPr lang="ru-RU" b="1" i="1" dirty="0">
                <a:latin typeface="Cambria" panose="02040503050406030204" pitchFamily="18" charset="0"/>
                <a:ea typeface="Cambria" panose="02040503050406030204" pitchFamily="18" charset="0"/>
              </a:rPr>
              <a:t>динамически</a:t>
            </a:r>
            <a:r>
              <a:rPr lang="ru-RU" dirty="0">
                <a:latin typeface="Cambria" panose="02040503050406030204" pitchFamily="18" charset="0"/>
                <a:ea typeface="Cambria" panose="02040503050406030204" pitchFamily="18" charset="0"/>
              </a:rPr>
              <a:t> загружать в оперативную память требуемый драйвер (без останова ОС) и выгружать его после того, как потребность в поддержке устройства миновала, что может существенно сэкономить системную область памяти </a:t>
            </a:r>
          </a:p>
          <a:p>
            <a:pPr marL="0" indent="0">
              <a:buNone/>
            </a:pPr>
            <a:r>
              <a:rPr lang="ru-RU" dirty="0">
                <a:latin typeface="Cambria" panose="02040503050406030204" pitchFamily="18" charset="0"/>
                <a:ea typeface="Cambria" panose="02040503050406030204" pitchFamily="18" charset="0"/>
              </a:rPr>
              <a:t>Поддержка динамической загрузки драйверов является практически обязательным требованием для современных универсальных операционных систем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59590191"/>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Динамическая загрузка и выгрузка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99585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Альтернативой динамической загрузке драйверов при изменении текущей конфигурации внешних устройств компьютера является повторная компиляция кода ядра с требуемым набором драйверов, что создает между всеми компонентами ядра статические связи вместо динамических</a:t>
            </a:r>
          </a:p>
          <a:p>
            <a:pPr marL="0" indent="0">
              <a:buNone/>
            </a:pPr>
            <a:r>
              <a:rPr lang="ru-RU" dirty="0">
                <a:latin typeface="Cambria" panose="02040503050406030204" pitchFamily="18" charset="0"/>
                <a:ea typeface="Cambria" panose="02040503050406030204" pitchFamily="18" charset="0"/>
              </a:rPr>
              <a:t>Например, таким образом решалась данная проблема в ранних версиях операционной системы Unix</a:t>
            </a:r>
          </a:p>
          <a:p>
            <a:pPr marL="0" indent="0">
              <a:buNone/>
            </a:pPr>
            <a:r>
              <a:rPr lang="ru-RU" dirty="0">
                <a:latin typeface="Cambria" panose="02040503050406030204" pitchFamily="18" charset="0"/>
                <a:ea typeface="Cambria" panose="02040503050406030204" pitchFamily="18" charset="0"/>
              </a:rPr>
              <a:t>При статических связях между ядром и драйверами структура ОС упрощается, но этот подход требует наличия исходных кодов модулей операционной системы, доступность которых скорее является исключением (для некоммерческих версий Unix/Linux), а не правилом</a:t>
            </a:r>
          </a:p>
          <a:p>
            <a:pPr marL="0" indent="0">
              <a:buNone/>
            </a:pPr>
            <a:r>
              <a:rPr lang="ru-RU" dirty="0">
                <a:latin typeface="Cambria" panose="02040503050406030204" pitchFamily="18" charset="0"/>
                <a:ea typeface="Cambria" panose="02040503050406030204" pitchFamily="18" charset="0"/>
              </a:rPr>
              <a:t>Кроме того, в этом варианте предыдущую работающую версию операционной системы необходимо остановить и заменить новой, а перерывы в работе ОС в некоторых применениях могут и не допускаться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Динамическая загрузка и выгрузка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53057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Диски представляют собой особый род периферийных устройств, так как именно на них хранится большая часть как пользовательских, так и системных данных</a:t>
            </a:r>
          </a:p>
          <a:p>
            <a:pPr marL="0" indent="0">
              <a:buNone/>
            </a:pPr>
            <a:r>
              <a:rPr lang="ru-RU" dirty="0">
                <a:latin typeface="Cambria" panose="02040503050406030204" pitchFamily="18" charset="0"/>
                <a:ea typeface="Cambria" panose="02040503050406030204" pitchFamily="18" charset="0"/>
              </a:rPr>
              <a:t>Данные на дисках организуются в файловые системы, и свойства файловой системы во многом определяют свойства самой ОС</a:t>
            </a:r>
          </a:p>
          <a:p>
            <a:pPr marL="0" indent="0">
              <a:buNone/>
            </a:pPr>
            <a:r>
              <a:rPr lang="ru-RU" dirty="0">
                <a:latin typeface="Cambria" panose="02040503050406030204" pitchFamily="18" charset="0"/>
                <a:ea typeface="Cambria" panose="02040503050406030204" pitchFamily="18" charset="0"/>
              </a:rPr>
              <a:t>Популярность файловой системы часто приводит к ее миграции из «родной» ОС в другие операционные системы, например, файловая система FAT появилась первоначально в MS-DOS, но затем была реализована в OS/2, семействе MS Windows и многих реализациях Unix</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304363"/>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Поддержка файловых систем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11556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Ввиду этого, поддержка нескольких популярных файловых систем для подсистемы ввода-вывода так же важна, как и поддержка широкого спектра периферийных устройств</a:t>
            </a:r>
          </a:p>
          <a:p>
            <a:pPr marL="0" indent="0">
              <a:buNone/>
            </a:pPr>
            <a:r>
              <a:rPr lang="ru-RU" dirty="0">
                <a:latin typeface="Cambria" panose="02040503050406030204" pitchFamily="18" charset="0"/>
                <a:ea typeface="Cambria" panose="02040503050406030204" pitchFamily="18" charset="0"/>
              </a:rPr>
              <a:t>Важно также, чтобы архитектура подсистемы ввода-вывода позволяла достаточно просто включать в ее состав новые типы файловых систем без необходимости переписывания кода</a:t>
            </a:r>
          </a:p>
          <a:p>
            <a:pPr marL="0" indent="0">
              <a:buNone/>
            </a:pPr>
            <a:r>
              <a:rPr lang="ru-RU" dirty="0">
                <a:latin typeface="Cambria" panose="02040503050406030204" pitchFamily="18" charset="0"/>
                <a:ea typeface="Cambria" panose="02040503050406030204" pitchFamily="18" charset="0"/>
              </a:rPr>
              <a:t>Обычно в операционной системе имеется специальный слой программного обеспечения, отвечающий за решение данной задачи, например слой </a:t>
            </a:r>
            <a:r>
              <a:rPr lang="ru-RU" b="1" dirty="0">
                <a:latin typeface="Cambria" panose="02040503050406030204" pitchFamily="18" charset="0"/>
                <a:ea typeface="Cambria" panose="02040503050406030204" pitchFamily="18" charset="0"/>
              </a:rPr>
              <a:t>VFS (Virtual File System) </a:t>
            </a:r>
            <a:r>
              <a:rPr lang="ru-RU" dirty="0">
                <a:latin typeface="Cambria" panose="02040503050406030204" pitchFamily="18" charset="0"/>
                <a:ea typeface="Cambria" panose="02040503050406030204" pitchFamily="18" charset="0"/>
              </a:rPr>
              <a:t>в версиях Unix на основе кода System V </a:t>
            </a:r>
            <a:r>
              <a:rPr lang="ru-RU" dirty="0" err="1">
                <a:latin typeface="Cambria" panose="02040503050406030204" pitchFamily="18" charset="0"/>
                <a:ea typeface="Cambria" panose="02040503050406030204" pitchFamily="18" charset="0"/>
              </a:rPr>
              <a:t>Release</a:t>
            </a:r>
            <a:r>
              <a:rPr lang="ru-RU" dirty="0">
                <a:latin typeface="Cambria" panose="02040503050406030204" pitchFamily="18" charset="0"/>
                <a:ea typeface="Cambria" panose="02040503050406030204" pitchFamily="18" charset="0"/>
              </a:rPr>
              <a:t> 4</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Поддержка файловых систем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14495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 отношению к программному модулю, запросившему операцию ввода-вывода, она может выполняться в </a:t>
            </a:r>
            <a:r>
              <a:rPr lang="ru-RU" b="1" dirty="0">
                <a:latin typeface="Cambria" panose="02040503050406030204" pitchFamily="18" charset="0"/>
                <a:ea typeface="Cambria" panose="02040503050406030204" pitchFamily="18" charset="0"/>
              </a:rPr>
              <a:t>синхронном</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асинхронном</a:t>
            </a:r>
            <a:r>
              <a:rPr lang="ru-RU" dirty="0">
                <a:latin typeface="Cambria" panose="02040503050406030204" pitchFamily="18" charset="0"/>
                <a:ea typeface="Cambria" panose="02040503050406030204" pitchFamily="18" charset="0"/>
              </a:rPr>
              <a:t> режиме</a:t>
            </a:r>
          </a:p>
          <a:p>
            <a:pPr marL="0" indent="0">
              <a:buNone/>
            </a:pPr>
            <a:r>
              <a:rPr lang="ru-RU" dirty="0">
                <a:latin typeface="Cambria" panose="02040503050406030204" pitchFamily="18" charset="0"/>
                <a:ea typeface="Cambria" panose="02040503050406030204" pitchFamily="18" charset="0"/>
              </a:rPr>
              <a:t>Смысл этих режимов тот же, что и для рассмотренных ранее системных вызовов: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 </a:t>
            </a:r>
            <a:r>
              <a:rPr lang="ru-RU" b="1" dirty="0">
                <a:latin typeface="Cambria" panose="02040503050406030204" pitchFamily="18" charset="0"/>
                <a:ea typeface="Cambria" panose="02040503050406030204" pitchFamily="18" charset="0"/>
              </a:rPr>
              <a:t>синхронном режиме </a:t>
            </a:r>
            <a:r>
              <a:rPr lang="ru-RU" dirty="0">
                <a:latin typeface="Cambria" panose="02040503050406030204" pitchFamily="18" charset="0"/>
                <a:ea typeface="Cambria" panose="02040503050406030204" pitchFamily="18" charset="0"/>
              </a:rPr>
              <a:t>программный модуль приостанавливает свою работу до тех пор, пока операция ввода-вывода не будет завершена (а)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 </a:t>
            </a:r>
            <a:r>
              <a:rPr lang="ru-RU" b="1" dirty="0">
                <a:latin typeface="Cambria" panose="02040503050406030204" pitchFamily="18" charset="0"/>
                <a:ea typeface="Cambria" panose="02040503050406030204" pitchFamily="18" charset="0"/>
              </a:rPr>
              <a:t>асинхронном режиме </a:t>
            </a:r>
            <a:r>
              <a:rPr lang="ru-RU" dirty="0">
                <a:latin typeface="Cambria" panose="02040503050406030204" pitchFamily="18" charset="0"/>
                <a:ea typeface="Cambria" panose="02040503050406030204" pitchFamily="18" charset="0"/>
              </a:rPr>
              <a:t>программный модуль продолжает выполняться в мультипрограммной среде одновременно с операцией ввода-вывода (б)</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68934331"/>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Синхронный и асинхронный режимы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69482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6F6AE9-7F5C-5565-FE41-41415ECD69AC}"/>
              </a:ext>
            </a:extLst>
          </p:cNvPr>
          <p:cNvPicPr>
            <a:picLocks noChangeAspect="1"/>
          </p:cNvPicPr>
          <p:nvPr/>
        </p:nvPicPr>
        <p:blipFill>
          <a:blip r:embed="rId2"/>
          <a:stretch>
            <a:fillRect/>
          </a:stretch>
        </p:blipFill>
        <p:spPr>
          <a:xfrm>
            <a:off x="3376664" y="-1"/>
            <a:ext cx="8734653" cy="6858000"/>
          </a:xfrm>
          <a:prstGeom prst="rect">
            <a:avLst/>
          </a:prstGeom>
        </p:spPr>
      </p:pic>
      <p:pic>
        <p:nvPicPr>
          <p:cNvPr id="9" name="Picture 8">
            <a:extLst>
              <a:ext uri="{FF2B5EF4-FFF2-40B4-BE49-F238E27FC236}">
                <a16:creationId xmlns:a16="http://schemas.microsoft.com/office/drawing/2014/main" id="{A9752E22-AFB4-17D4-64E3-144EB2A5829D}"/>
              </a:ext>
            </a:extLst>
          </p:cNvPr>
          <p:cNvPicPr>
            <a:picLocks noChangeAspect="1"/>
          </p:cNvPicPr>
          <p:nvPr/>
        </p:nvPicPr>
        <p:blipFill>
          <a:blip r:embed="rId3"/>
          <a:stretch>
            <a:fillRect/>
          </a:stretch>
        </p:blipFill>
        <p:spPr>
          <a:xfrm>
            <a:off x="71489" y="2509836"/>
            <a:ext cx="3305175" cy="1838325"/>
          </a:xfrm>
          <a:prstGeom prst="rect">
            <a:avLst/>
          </a:prstGeom>
        </p:spPr>
      </p:pic>
    </p:spTree>
    <p:extLst>
      <p:ext uri="{BB962C8B-B14F-4D97-AF65-F5344CB8AC3E}">
        <p14:creationId xmlns:p14="http://schemas.microsoft.com/office/powerpoint/2010/main" val="3765094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Системные вызовы ввода-вывода чаще оформляются как </a:t>
            </a:r>
            <a:r>
              <a:rPr lang="ru-RU" b="1" dirty="0">
                <a:latin typeface="Cambria" panose="02040503050406030204" pitchFamily="18" charset="0"/>
                <a:ea typeface="Cambria" panose="02040503050406030204" pitchFamily="18" charset="0"/>
              </a:rPr>
              <a:t>синхронные процедуры </a:t>
            </a:r>
            <a:r>
              <a:rPr lang="ru-RU" dirty="0">
                <a:latin typeface="Cambria" panose="02040503050406030204" pitchFamily="18" charset="0"/>
                <a:ea typeface="Cambria" panose="02040503050406030204" pitchFamily="18" charset="0"/>
              </a:rPr>
              <a:t>в связи с тем, что такие операции длятся долго, и пользовательскому процессу или потоку все равно придется ждать получения результатов операции для того, чтобы продолжить свою работу</a:t>
            </a:r>
          </a:p>
          <a:p>
            <a:pPr marL="0" indent="0">
              <a:buNone/>
            </a:pPr>
            <a:r>
              <a:rPr lang="ru-RU" dirty="0">
                <a:latin typeface="Cambria" panose="02040503050406030204" pitchFamily="18" charset="0"/>
                <a:ea typeface="Cambria" panose="02040503050406030204" pitchFamily="18" charset="0"/>
              </a:rPr>
              <a:t>Внутренние же вызовы операций ввода-вывода из модулей ядра обычно выполняются в виде асинхронных процедур, так как кодам ядра нужна свобода в выборе дальнейшего поведения после запроса операции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Синхронный и асинхронный режимы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30733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Иногда и прикладному процессу может потребоваться выполнить асинхронную операцию ввода-вывода, например, если этот процесс является прикладным только по форме, а по сути он представляет собой часть </a:t>
            </a:r>
            <a:r>
              <a:rPr lang="ru-RU" dirty="0" err="1">
                <a:latin typeface="Cambria" panose="02040503050406030204" pitchFamily="18" charset="0"/>
                <a:ea typeface="Cambria" panose="02040503050406030204" pitchFamily="18" charset="0"/>
              </a:rPr>
              <a:t>микроядерной</a:t>
            </a:r>
            <a:r>
              <a:rPr lang="ru-RU" dirty="0">
                <a:latin typeface="Cambria" panose="02040503050406030204" pitchFamily="18" charset="0"/>
                <a:ea typeface="Cambria" panose="02040503050406030204" pitchFamily="18" charset="0"/>
              </a:rPr>
              <a:t> ОС. В таком случае ему необходима полная свобода действий и после того, как он вызвал операцию ввода-вывода</a:t>
            </a:r>
          </a:p>
          <a:p>
            <a:pPr marL="0" indent="0">
              <a:buNone/>
            </a:pPr>
            <a:r>
              <a:rPr lang="ru-RU" dirty="0">
                <a:latin typeface="Cambria" panose="02040503050406030204" pitchFamily="18" charset="0"/>
                <a:ea typeface="Cambria" panose="02040503050406030204" pitchFamily="18" charset="0"/>
              </a:rPr>
              <a:t>Использование асинхронных процедур приводит к более гибким решениям, так как на основе асинхронного вызова всегда можно построить синхронный, создав дополнительную промежуточную процедуру, блокирующую выполнение вызвавшей процедуры до момента завершения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Синхронный и асинхронный режимы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170039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Многослойное построение программного обеспечения, характерное для операционных систем вообще, оказывается особенно естественным и полезным в случае подсистемы ввода-вывода</a:t>
            </a:r>
          </a:p>
          <a:p>
            <a:pPr marL="0" indent="0">
              <a:buNone/>
            </a:pPr>
            <a:r>
              <a:rPr lang="ru-RU" dirty="0">
                <a:latin typeface="Cambria" panose="02040503050406030204" pitchFamily="18" charset="0"/>
                <a:ea typeface="Cambria" panose="02040503050406030204" pitchFamily="18" charset="0"/>
              </a:rPr>
              <a:t>При большом разнообразии устройств ввода-вывода, обладающих существенно различными характеристиками (принтер и диски, графический монитор и сетевой адаптер и т. п.), иерархическая структура программного обеспечения позволяет соблюсти баланс между двумя весьма противоречивыми требованиями: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одной стороны, необходимо учесть все особенности каждого устройства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другой стороны, обеспечить единое логическое представление и унифицированный интерфейс для устройств всех типов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50328116"/>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95583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соответствии с иерархическим подходом нижние слои подсистемы ввода-вывода должны включать индивидуальные драйверы, написанные для конкретных физических устройств </a:t>
            </a:r>
          </a:p>
          <a:p>
            <a:pPr marL="0" indent="0">
              <a:buNone/>
            </a:pPr>
            <a:r>
              <a:rPr lang="ru-RU" dirty="0">
                <a:latin typeface="Cambria" panose="02040503050406030204" pitchFamily="18" charset="0"/>
                <a:ea typeface="Cambria" panose="02040503050406030204" pitchFamily="18" charset="0"/>
              </a:rPr>
              <a:t>Верхние слои – обобщать процедуры управления этими устройствами, предоставляя общий интерфейс если не для всех устройств, то, по крайней мере, для групп устройств, обладающих некоторыми общими характеристиками, например, для принтеров определенного производителя или для всех матричных принтеров и т. 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26456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Многослойность структуры способствует решению большинства задан подсистемы ввода-вывода, делая, например более простым включение новых драйверов, поддержку нескольких файловых систем, динамическую загрузку-выгрузку драйверов и других</a:t>
            </a:r>
          </a:p>
          <a:p>
            <a:pPr marL="0" indent="0">
              <a:buNone/>
            </a:pPr>
            <a:r>
              <a:rPr lang="ru-RU" dirty="0">
                <a:latin typeface="Cambria" panose="02040503050406030204" pitchFamily="18" charset="0"/>
                <a:ea typeface="Cambria" panose="02040503050406030204" pitchFamily="18" charset="0"/>
              </a:rPr>
              <a:t>Из следующей схемы видно, что программное обеспечение ввода-вывода делится не только на горизонтальные слои, но и на вертикальные</a:t>
            </a:r>
          </a:p>
          <a:p>
            <a:pPr marL="0" indent="0">
              <a:buNone/>
            </a:pPr>
            <a:r>
              <a:rPr lang="ru-RU" dirty="0">
                <a:latin typeface="Cambria" panose="02040503050406030204" pitchFamily="18" charset="0"/>
                <a:ea typeface="Cambria" panose="02040503050406030204" pitchFamily="18" charset="0"/>
              </a:rPr>
              <a:t>Это объясняется тем, что для такого разнообразного мира, как внешние устройства, трудно обеспечить единообразие в разбиении функций управления на слои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106198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95D7E68-71AD-7A43-59E2-CBAC6B1D90AA}"/>
              </a:ext>
            </a:extLst>
          </p:cNvPr>
          <p:cNvPicPr>
            <a:picLocks noChangeAspect="1"/>
          </p:cNvPicPr>
          <p:nvPr/>
        </p:nvPicPr>
        <p:blipFill>
          <a:blip r:embed="rId2"/>
          <a:stretch>
            <a:fillRect/>
          </a:stretch>
        </p:blipFill>
        <p:spPr>
          <a:xfrm>
            <a:off x="1360532" y="0"/>
            <a:ext cx="9470936" cy="6858000"/>
          </a:xfrm>
          <a:prstGeom prst="rect">
            <a:avLst/>
          </a:prstGeom>
        </p:spPr>
      </p:pic>
    </p:spTree>
    <p:extLst>
      <p:ext uri="{BB962C8B-B14F-4D97-AF65-F5344CB8AC3E}">
        <p14:creationId xmlns:p14="http://schemas.microsoft.com/office/powerpoint/2010/main" val="2821873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Поэтому общий принцип многослойности остается справедливым, однако для устройств определенного типа он реализуется по-разному с разным количеством слоев и их функциями</a:t>
            </a:r>
          </a:p>
          <a:p>
            <a:pPr marL="0" indent="0">
              <a:buNone/>
            </a:pPr>
            <a:r>
              <a:rPr lang="ru-RU" dirty="0">
                <a:latin typeface="Cambria" panose="02040503050406030204" pitchFamily="18" charset="0"/>
                <a:ea typeface="Cambria" panose="02040503050406030204" pitchFamily="18" charset="0"/>
              </a:rPr>
              <a:t>В представленной структуре в качестве примера приведены три вертикальные подсистемы, управляющие дисками, графическими устройствами (такими как мониторы, принтеры и плоттеры) и сетевыми адаптерами</a:t>
            </a:r>
          </a:p>
          <a:p>
            <a:pPr marL="0" indent="0">
              <a:buNone/>
            </a:pPr>
            <a:r>
              <a:rPr lang="ru-RU" dirty="0">
                <a:latin typeface="Cambria" panose="02040503050406030204" pitchFamily="18" charset="0"/>
                <a:ea typeface="Cambria" panose="02040503050406030204" pitchFamily="18" charset="0"/>
              </a:rPr>
              <a:t>Естественно, к этому перечню можно добавить и другие, например, подсистему управления символьными терминалами или какими-либо специализированными устройствами, такими как аналого-цифровые и цифро-аналоговые преобразователи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409412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каждой вертикальной подсистеме существует несколько слоев модулей</a:t>
            </a:r>
          </a:p>
          <a:p>
            <a:pPr marL="0" indent="0">
              <a:buNone/>
            </a:pPr>
            <a:r>
              <a:rPr lang="ru-RU" dirty="0">
                <a:latin typeface="Cambria" panose="02040503050406030204" pitchFamily="18" charset="0"/>
                <a:ea typeface="Cambria" panose="02040503050406030204" pitchFamily="18" charset="0"/>
              </a:rPr>
              <a:t>Нижний слой образуют так называемые аппаратные драйверы устройств, название которых отражает тот факт, что они управляют аппаратурой внешних устройств, </a:t>
            </a:r>
            <a:r>
              <a:rPr lang="ru-RU" b="1" dirty="0">
                <a:latin typeface="Cambria" panose="02040503050406030204" pitchFamily="18" charset="0"/>
                <a:ea typeface="Cambria" panose="02040503050406030204" pitchFamily="18" charset="0"/>
              </a:rPr>
              <a:t>осуществляя</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обмен байтами и блоками байтов</a:t>
            </a:r>
            <a:r>
              <a:rPr lang="ru-RU" dirty="0">
                <a:latin typeface="Cambria" panose="02040503050406030204" pitchFamily="18" charset="0"/>
                <a:ea typeface="Cambria" panose="02040503050406030204" pitchFamily="18" charset="0"/>
              </a:rPr>
              <a:t>, и не имеют, как правило, дела с более высокоуровневыми вопросами логической организации данных, например с файлами или сложными графическими объектами</a:t>
            </a:r>
          </a:p>
          <a:p>
            <a:pPr marL="0" indent="0">
              <a:buNone/>
            </a:pPr>
            <a:r>
              <a:rPr lang="ru-RU" dirty="0">
                <a:latin typeface="Cambria" panose="02040503050406030204" pitchFamily="18" charset="0"/>
                <a:ea typeface="Cambria" panose="02040503050406030204" pitchFamily="18" charset="0"/>
              </a:rPr>
              <a:t>Функции вышележащих слоев в значительной степени зависят от типа вертикальной подсистемы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545696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подсистеме ввода-вывода наряду с модулями, отражающими специфику внешних устройств и образующими вертикальные подсистемы, существуют модули универсального назначения </a:t>
            </a:r>
          </a:p>
          <a:p>
            <a:pPr marL="0" indent="0">
              <a:buNone/>
            </a:pPr>
            <a:r>
              <a:rPr lang="ru-RU" dirty="0">
                <a:latin typeface="Cambria" panose="02040503050406030204" pitchFamily="18" charset="0"/>
                <a:ea typeface="Cambria" panose="02040503050406030204" pitchFamily="18" charset="0"/>
              </a:rPr>
              <a:t>Эти модули организуют согласованную работу всех остальных компонентов подсистемы ввода-вывода и взаимодействие с пользовательскими процессами и другими подсистемами ОС </a:t>
            </a:r>
          </a:p>
          <a:p>
            <a:pPr marL="0" indent="0">
              <a:buNone/>
            </a:pPr>
            <a:r>
              <a:rPr lang="ru-RU" dirty="0">
                <a:latin typeface="Cambria" panose="02040503050406030204" pitchFamily="18" charset="0"/>
                <a:ea typeface="Cambria" panose="02040503050406030204" pitchFamily="18" charset="0"/>
              </a:rPr>
              <a:t>Так же как функции управления устройствами, эти организующие функции распределены по всем уровням, образуя оболочку, называемую </a:t>
            </a:r>
            <a:r>
              <a:rPr lang="ru-RU" b="1" dirty="0">
                <a:latin typeface="Cambria" panose="02040503050406030204" pitchFamily="18" charset="0"/>
                <a:ea typeface="Cambria" panose="02040503050406030204" pitchFamily="18" charset="0"/>
              </a:rPr>
              <a:t>менеджером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2125279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07392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Задачи менеджера ввода-вывода могут быть сведены к поддержке четырех интерфейсов: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Пользовательский интерфейс ввода-вывода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Интерфейс с устройствами ввода-вывода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Интерфейс с другими подсистемами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Внутренний интерфейс между компонентами подсистемы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401801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Верхний слой менеджера составляют модули ОС, которые принимают от пользовательских процессов запросы на ввод-вывод, поступающие в виде </a:t>
            </a:r>
            <a:r>
              <a:rPr lang="ru-RU" b="1" dirty="0">
                <a:latin typeface="Cambria" panose="02040503050406030204" pitchFamily="18" charset="0"/>
                <a:ea typeface="Cambria" panose="02040503050406030204" pitchFamily="18" charset="0"/>
              </a:rPr>
              <a:t>системных вызовов</a:t>
            </a:r>
            <a:r>
              <a:rPr lang="ru-RU" dirty="0">
                <a:latin typeface="Cambria" panose="02040503050406030204" pitchFamily="18" charset="0"/>
                <a:ea typeface="Cambria" panose="02040503050406030204" pitchFamily="18" charset="0"/>
              </a:rPr>
              <a:t>, и переадресуют их отвечающим за определенный класс устройств модулям и драйверам, а также возвращают процессам результаты операций ввода-вывода</a:t>
            </a:r>
          </a:p>
          <a:p>
            <a:pPr marL="0" indent="0">
              <a:buNone/>
            </a:pPr>
            <a:r>
              <a:rPr lang="ru-RU" dirty="0">
                <a:latin typeface="Cambria" panose="02040503050406030204" pitchFamily="18" charset="0"/>
                <a:ea typeface="Cambria" panose="02040503050406030204" pitchFamily="18" charset="0"/>
              </a:rPr>
              <a:t>Таким образом, этот слой поддерживает </a:t>
            </a:r>
            <a:r>
              <a:rPr lang="ru-RU" b="1" dirty="0">
                <a:latin typeface="Cambria" panose="02040503050406030204" pitchFamily="18" charset="0"/>
                <a:ea typeface="Cambria" panose="02040503050406030204" pitchFamily="18" charset="0"/>
              </a:rPr>
              <a:t>пользовательский интерфейс ввода-вывода</a:t>
            </a:r>
            <a:r>
              <a:rPr lang="ru-RU" dirty="0">
                <a:latin typeface="Cambria" panose="02040503050406030204" pitchFamily="18" charset="0"/>
                <a:ea typeface="Cambria" panose="02040503050406030204" pitchFamily="18" charset="0"/>
              </a:rPr>
              <a:t>, создавая для прикладных программистов максимум удобств по манипулированию внешними устройствами и расположенными на них данными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60339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Нижний слой менеджера реализует непосредственное взаимодействие с контроллерами внешних устройств, экранируя драйверы от особенностей аппаратной платформы компьютера – шины ввода-вывода, системы прерываний и т. п.</a:t>
            </a:r>
          </a:p>
          <a:p>
            <a:pPr marL="0" indent="0">
              <a:buNone/>
            </a:pPr>
            <a:r>
              <a:rPr lang="ru-RU" dirty="0">
                <a:latin typeface="Cambria" panose="02040503050406030204" pitchFamily="18" charset="0"/>
                <a:ea typeface="Cambria" panose="02040503050406030204" pitchFamily="18" charset="0"/>
              </a:rPr>
              <a:t>Этот слой принимает от драйверов запросы на обмен данными с регистрами контроллеров в некоторой обобщенной форме с использованием независимых от шины ввода-вывода адресации и формата, а затем преобразует эти запросы в зависящий от аппаратной платформы формат</a:t>
            </a:r>
          </a:p>
          <a:p>
            <a:pPr marL="0" indent="0">
              <a:buNone/>
            </a:pPr>
            <a:r>
              <a:rPr lang="ru-RU" dirty="0">
                <a:latin typeface="Cambria" panose="02040503050406030204" pitchFamily="18" charset="0"/>
                <a:ea typeface="Cambria" panose="02040503050406030204" pitchFamily="18" charset="0"/>
              </a:rPr>
              <a:t>Диспетчер прерываний, рассмотренный ранее, может входить в состав менеджера ввода-вывода или же представлять собой отдельный модуль ядра. В последнем случае менеджер ввода-вывода выполняет для диспетчера прерываний первичную обработку запросов прерываний, передавая диспетчеру обобщенные сведения об источнике запроса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417832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Еще одной функцией менеджера является организация взаимодействия модулей подсистемы ввода-вывода с модулями других подсистем ОС, таких как подсистемы управления процессами, виртуальной памяти и другие</a:t>
            </a:r>
          </a:p>
          <a:p>
            <a:pPr marL="0" indent="0">
              <a:buNone/>
            </a:pPr>
            <a:r>
              <a:rPr lang="ru-RU" dirty="0">
                <a:latin typeface="Cambria" panose="02040503050406030204" pitchFamily="18" charset="0"/>
                <a:ea typeface="Cambria" panose="02040503050406030204" pitchFamily="18" charset="0"/>
              </a:rPr>
              <a:t>Важной функцией менеджера ввода-вывода является также создание некоторой удобной среды для взаимодействия компонентов подсистемы ввода-вывода</a:t>
            </a:r>
          </a:p>
          <a:p>
            <a:pPr marL="0" indent="0">
              <a:buNone/>
            </a:pPr>
            <a:r>
              <a:rPr lang="ru-RU" dirty="0">
                <a:latin typeface="Cambria" panose="02040503050406030204" pitchFamily="18" charset="0"/>
                <a:ea typeface="Cambria" panose="02040503050406030204" pitchFamily="18" charset="0"/>
              </a:rPr>
              <a:t>Для этого в менеджер ввода-вывода включают поддержку некоторого стандартного </a:t>
            </a:r>
            <a:r>
              <a:rPr lang="ru-RU" b="1" dirty="0">
                <a:latin typeface="Cambria" panose="02040503050406030204" pitchFamily="18" charset="0"/>
                <a:ea typeface="Cambria" panose="02040503050406030204" pitchFamily="18" charset="0"/>
              </a:rPr>
              <a:t>внутреннего интерфейса </a:t>
            </a:r>
            <a:r>
              <a:rPr lang="ru-RU" dirty="0">
                <a:latin typeface="Cambria" panose="02040503050406030204" pitchFamily="18" charset="0"/>
                <a:ea typeface="Cambria" panose="02040503050406030204" pitchFamily="18" charset="0"/>
              </a:rPr>
              <a:t>взаимодействия модулей ввода-вывода между собой, а также нагружают менеджер выполнением наиболее часто используемых при работе драйверов функций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136452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Эти функции оформляются как системные процедуры, которые драйвер может вызывать для выполнения некоторых типовых действий</a:t>
            </a:r>
          </a:p>
          <a:p>
            <a:pPr marL="0" indent="0">
              <a:buNone/>
            </a:pPr>
            <a:r>
              <a:rPr lang="ru-RU" dirty="0">
                <a:latin typeface="Cambria" panose="02040503050406030204" pitchFamily="18" charset="0"/>
                <a:ea typeface="Cambria" panose="02040503050406030204" pitchFamily="18" charset="0"/>
              </a:rPr>
              <a:t>Примерами могут служить операции обмена с регистрами контроллера, ведение буферов для промежуточного хранения данных ввода-вывода, синхронизация работы нескольких драйверов, копирование данных из пользовательского пространства в пространство системы.</a:t>
            </a:r>
          </a:p>
          <a:p>
            <a:pPr marL="0" indent="0">
              <a:buNone/>
            </a:pPr>
            <a:r>
              <a:rPr lang="ru-RU" dirty="0">
                <a:latin typeface="Cambria" panose="02040503050406030204" pitchFamily="18" charset="0"/>
                <a:ea typeface="Cambria" panose="02040503050406030204" pitchFamily="18" charset="0"/>
              </a:rPr>
              <a:t>Такой подход существенно облегчает разработку и включение новых драйверов и файловых систем в состав ОС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39370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Роль менеджера ввода-вывода выполняет среда STREAMS, существующая во многих версиях операционной системы Unix</a:t>
            </a:r>
          </a:p>
          <a:p>
            <a:pPr marL="0" indent="0">
              <a:buNone/>
            </a:pPr>
            <a:r>
              <a:rPr lang="ru-RU" dirty="0">
                <a:latin typeface="Cambria" panose="02040503050406030204" pitchFamily="18" charset="0"/>
                <a:ea typeface="Cambria" panose="02040503050406030204" pitchFamily="18" charset="0"/>
              </a:rPr>
              <a:t>Другим примером является менеджер ввода-вывода ОС семейства Windows NT. Он организует взаимодействие между модулями с помощью пакетов запросов ввода-вывода (I/O </a:t>
            </a:r>
            <a:r>
              <a:rPr lang="ru-RU" dirty="0" err="1">
                <a:latin typeface="Cambria" panose="02040503050406030204" pitchFamily="18" charset="0"/>
                <a:ea typeface="Cambria" panose="02040503050406030204" pitchFamily="18" charset="0"/>
              </a:rPr>
              <a:t>Request</a:t>
            </a:r>
            <a:r>
              <a:rPr lang="ru-RU" dirty="0">
                <a:latin typeface="Cambria" panose="02040503050406030204" pitchFamily="18" charset="0"/>
                <a:ea typeface="Cambria" panose="02040503050406030204" pitchFamily="18" charset="0"/>
              </a:rPr>
              <a:t> Packet, IRP). Получив запрос от процедуры системного вызова, менеджер формирует IRP и передает его нужному драйверу. Драйвер после выполнения запрошенной операции возвращает ответ в виде еще одного пакета IRP менеджеру, а тот, в свою очередь, может при необходимости передать этот пакет IRP другому драйверу</a:t>
            </a:r>
          </a:p>
          <a:p>
            <a:pPr marL="0" indent="0">
              <a:buNone/>
            </a:pPr>
            <a:r>
              <a:rPr lang="ru-RU" dirty="0">
                <a:latin typeface="Cambria" panose="02040503050406030204" pitchFamily="18" charset="0"/>
                <a:ea typeface="Cambria" panose="02040503050406030204" pitchFamily="18" charset="0"/>
              </a:rPr>
              <a:t>Менеджер позволяет драйверам задавать взаимосвязи (</a:t>
            </a:r>
            <a:r>
              <a:rPr lang="ru-RU" dirty="0" err="1">
                <a:latin typeface="Cambria" panose="02040503050406030204" pitchFamily="18" charset="0"/>
                <a:ea typeface="Cambria" panose="02040503050406030204" pitchFamily="18" charset="0"/>
              </a:rPr>
              <a:t>bi</a:t>
            </a:r>
            <a:r>
              <a:rPr lang="en-US" dirty="0">
                <a:latin typeface="Cambria" panose="02040503050406030204" pitchFamily="18" charset="0"/>
                <a:ea typeface="Cambria" panose="02040503050406030204" pitchFamily="18" charset="0"/>
              </a:rPr>
              <a:t>n</a:t>
            </a:r>
            <a:r>
              <a:rPr lang="ru-RU" dirty="0" err="1">
                <a:latin typeface="Cambria" panose="02040503050406030204" pitchFamily="18" charset="0"/>
                <a:ea typeface="Cambria" panose="02040503050406030204" pitchFamily="18" charset="0"/>
              </a:rPr>
              <a:t>dings</a:t>
            </a:r>
            <a:r>
              <a:rPr lang="ru-RU" dirty="0">
                <a:latin typeface="Cambria" panose="02040503050406030204" pitchFamily="18" charset="0"/>
                <a:ea typeface="Cambria" panose="02040503050406030204" pitchFamily="18" charset="0"/>
              </a:rPr>
              <a:t>) между собой, и на основании информации о взаимосвязях и происходит передача пакетов IRP. Кроме того, менеджер ОС семейства Windows </a:t>
            </a:r>
            <a:r>
              <a:rPr lang="en-US" dirty="0">
                <a:latin typeface="Cambria" panose="02040503050406030204" pitchFamily="18" charset="0"/>
                <a:ea typeface="Cambria" panose="02040503050406030204" pitchFamily="18" charset="0"/>
              </a:rPr>
              <a:t>NT </a:t>
            </a:r>
            <a:r>
              <a:rPr lang="ru-RU" dirty="0">
                <a:latin typeface="Cambria" panose="02040503050406030204" pitchFamily="18" charset="0"/>
                <a:ea typeface="Cambria" panose="02040503050406030204" pitchFamily="18" charset="0"/>
              </a:rPr>
              <a:t>поддерживает динамическую загрузку-выгрузку драйверов без останова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055936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Наличие стандартного внутреннего межмодульного интерфейса повышает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устойчивость и улучшает расширяемость подсистемы ввода-вывода, хотя может несколько замедлить ее работу, так как любое разделение на слои и части приводит к дополнительным операциям взаимодействия по сравнению с монолитной организацией с прямыми передачами управления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430005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55000" lnSpcReduction="20000"/>
          </a:bodyPr>
          <a:lstStyle/>
          <a:p>
            <a:pPr marL="0" indent="0">
              <a:buNone/>
            </a:pPr>
            <a:r>
              <a:rPr lang="ru-RU" sz="4200" i="0" dirty="0">
                <a:solidFill>
                  <a:srgbClr val="000000"/>
                </a:solidFill>
                <a:effectLst/>
                <a:latin typeface="Cambria" panose="02040503050406030204" pitchFamily="18" charset="0"/>
                <a:ea typeface="Cambria" panose="02040503050406030204" pitchFamily="18" charset="0"/>
              </a:rPr>
              <a:t>Первоначально термин «драйвер» применялся в более узком смысле, чем в настоящее время:</a:t>
            </a:r>
          </a:p>
          <a:p>
            <a:pPr marL="0" indent="0">
              <a:buNone/>
            </a:pPr>
            <a:r>
              <a:rPr lang="ru-RU" sz="4200" b="1" i="0" dirty="0">
                <a:solidFill>
                  <a:srgbClr val="000000"/>
                </a:solidFill>
                <a:effectLst/>
                <a:latin typeface="Cambria" panose="02040503050406030204" pitchFamily="18" charset="0"/>
                <a:ea typeface="Cambria" panose="02040503050406030204" pitchFamily="18" charset="0"/>
              </a:rPr>
              <a:t>Драйвер</a:t>
            </a:r>
            <a:r>
              <a:rPr lang="ru-RU" sz="4200" i="0" dirty="0">
                <a:solidFill>
                  <a:srgbClr val="000000"/>
                </a:solidFill>
                <a:effectLst/>
                <a:latin typeface="Cambria" panose="02040503050406030204" pitchFamily="18" charset="0"/>
                <a:ea typeface="Cambria" panose="02040503050406030204" pitchFamily="18" charset="0"/>
              </a:rPr>
              <a:t> </a:t>
            </a:r>
            <a:r>
              <a:rPr lang="en-US" sz="4200" i="0" dirty="0">
                <a:solidFill>
                  <a:srgbClr val="000000"/>
                </a:solidFill>
                <a:effectLst/>
                <a:latin typeface="Cambria" panose="02040503050406030204" pitchFamily="18" charset="0"/>
                <a:ea typeface="Cambria" panose="02040503050406030204" pitchFamily="18" charset="0"/>
              </a:rPr>
              <a:t>–</a:t>
            </a:r>
            <a:r>
              <a:rPr lang="ru-RU" sz="4200" i="0" dirty="0">
                <a:solidFill>
                  <a:srgbClr val="000000"/>
                </a:solidFill>
                <a:effectLst/>
                <a:latin typeface="Cambria" panose="02040503050406030204" pitchFamily="18" charset="0"/>
                <a:ea typeface="Cambria" panose="02040503050406030204" pitchFamily="18" charset="0"/>
              </a:rPr>
              <a:t> это программный модуль, который:</a:t>
            </a:r>
          </a:p>
          <a:p>
            <a:pPr>
              <a:buFont typeface="Wingdings" panose="05000000000000000000" pitchFamily="2" charset="2"/>
              <a:buChar char="Ø"/>
            </a:pPr>
            <a:r>
              <a:rPr lang="ru-RU" sz="4200" dirty="0">
                <a:solidFill>
                  <a:srgbClr val="000000"/>
                </a:solidFill>
                <a:latin typeface="Cambria" panose="02040503050406030204" pitchFamily="18" charset="0"/>
                <a:ea typeface="Cambria" panose="02040503050406030204" pitchFamily="18" charset="0"/>
              </a:rPr>
              <a:t>В</a:t>
            </a:r>
            <a:r>
              <a:rPr lang="ru-RU" sz="4200" i="0" dirty="0">
                <a:solidFill>
                  <a:srgbClr val="000000"/>
                </a:solidFill>
                <a:effectLst/>
                <a:latin typeface="Cambria" panose="02040503050406030204" pitchFamily="18" charset="0"/>
                <a:ea typeface="Cambria" panose="02040503050406030204" pitchFamily="18" charset="0"/>
              </a:rPr>
              <a:t>ходит в состав ядра операционной системы, работая в привилегированном</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режиме</a:t>
            </a:r>
            <a:endParaRPr lang="en-US" sz="4200" dirty="0">
              <a:solidFill>
                <a:srgbClr val="000000"/>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ru-RU" sz="4200" dirty="0">
                <a:solidFill>
                  <a:srgbClr val="000000"/>
                </a:solidFill>
                <a:latin typeface="Cambria" panose="02040503050406030204" pitchFamily="18" charset="0"/>
                <a:ea typeface="Cambria" panose="02040503050406030204" pitchFamily="18" charset="0"/>
              </a:rPr>
              <a:t>Н</a:t>
            </a:r>
            <a:r>
              <a:rPr lang="ru-RU" sz="4200" i="0" dirty="0">
                <a:solidFill>
                  <a:srgbClr val="000000"/>
                </a:solidFill>
                <a:effectLst/>
                <a:latin typeface="Cambria" panose="02040503050406030204" pitchFamily="18" charset="0"/>
                <a:ea typeface="Cambria" panose="02040503050406030204" pitchFamily="18" charset="0"/>
              </a:rPr>
              <a:t>епосредственно управляет внешним устройством,</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взаимодействуя с его</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контроллером с помощью команд ввода-вывода компьютера</a:t>
            </a:r>
          </a:p>
          <a:p>
            <a:pPr>
              <a:buFont typeface="Wingdings" panose="05000000000000000000" pitchFamily="2" charset="2"/>
              <a:buChar char="Ø"/>
            </a:pPr>
            <a:r>
              <a:rPr lang="ru-RU" sz="4200" dirty="0">
                <a:solidFill>
                  <a:srgbClr val="000000"/>
                </a:solidFill>
                <a:latin typeface="Cambria" panose="02040503050406030204" pitchFamily="18" charset="0"/>
                <a:ea typeface="Cambria" panose="02040503050406030204" pitchFamily="18" charset="0"/>
              </a:rPr>
              <a:t>О</a:t>
            </a:r>
            <a:r>
              <a:rPr lang="ru-RU" sz="4200" i="0" dirty="0">
                <a:solidFill>
                  <a:srgbClr val="000000"/>
                </a:solidFill>
                <a:effectLst/>
                <a:latin typeface="Cambria" panose="02040503050406030204" pitchFamily="18" charset="0"/>
                <a:ea typeface="Cambria" panose="02040503050406030204" pitchFamily="18" charset="0"/>
              </a:rPr>
              <a:t>брабатывает прерывания от контроллера устройства</a:t>
            </a:r>
          </a:p>
          <a:p>
            <a:pPr>
              <a:buFont typeface="Wingdings" panose="05000000000000000000" pitchFamily="2" charset="2"/>
              <a:buChar char="Ø"/>
            </a:pPr>
            <a:r>
              <a:rPr lang="ru-RU" sz="4200" i="0" dirty="0">
                <a:solidFill>
                  <a:srgbClr val="000000"/>
                </a:solidFill>
                <a:effectLst/>
                <a:latin typeface="Cambria" panose="02040503050406030204" pitchFamily="18" charset="0"/>
                <a:ea typeface="Cambria" panose="02040503050406030204" pitchFamily="18" charset="0"/>
              </a:rPr>
              <a:t>Предоставляет прикладному программисту удобный логический интерфейс</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работы с устройствам, экранируя от него низкоуровневые детали управления устройством и организации его данных</a:t>
            </a:r>
            <a:endParaRPr lang="ru-RU" sz="4200" dirty="0">
              <a:solidFill>
                <a:srgbClr val="000000"/>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ru-RU" sz="4200" dirty="0">
                <a:solidFill>
                  <a:srgbClr val="000000"/>
                </a:solidFill>
                <a:latin typeface="Cambria" panose="02040503050406030204" pitchFamily="18" charset="0"/>
                <a:ea typeface="Cambria" panose="02040503050406030204" pitchFamily="18" charset="0"/>
              </a:rPr>
              <a:t>В</a:t>
            </a:r>
            <a:r>
              <a:rPr lang="ru-RU" sz="4200" i="0" dirty="0">
                <a:solidFill>
                  <a:srgbClr val="000000"/>
                </a:solidFill>
                <a:effectLst/>
                <a:latin typeface="Cambria" panose="02040503050406030204" pitchFamily="18" charset="0"/>
                <a:ea typeface="Cambria" panose="02040503050406030204" pitchFamily="18" charset="0"/>
              </a:rPr>
              <a:t>заимодействует с другими модулями ядра ОС с помощью строго оговоренного интерфейса,</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описывающего формат передаваемых данных, структуру</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буферов, способы включения драйвера в состав ОС, спос</a:t>
            </a:r>
            <a:r>
              <a:rPr lang="ru-RU" sz="4200" dirty="0">
                <a:solidFill>
                  <a:srgbClr val="000000"/>
                </a:solidFill>
                <a:latin typeface="Cambria" panose="02040503050406030204" pitchFamily="18" charset="0"/>
                <a:ea typeface="Cambria" panose="02040503050406030204" pitchFamily="18" charset="0"/>
              </a:rPr>
              <a:t>о</a:t>
            </a:r>
            <a:r>
              <a:rPr lang="ru-RU" sz="4200" i="0" dirty="0">
                <a:solidFill>
                  <a:srgbClr val="000000"/>
                </a:solidFill>
                <a:effectLst/>
                <a:latin typeface="Cambria" panose="02040503050406030204" pitchFamily="18" charset="0"/>
                <a:ea typeface="Cambria" panose="02040503050406030204" pitchFamily="18" charset="0"/>
              </a:rPr>
              <a:t>бы вызова драйвера, набор общих процедур подсистемы ввода-вывода, которыми драйвер может пользоваться, и т. п</a:t>
            </a:r>
            <a:br>
              <a:rPr lang="ru-RU" dirty="0"/>
            </a:b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17821895"/>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785703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Согласно этому определению драйвер вместе с контроллером устройства и прикладной программой воплощали идею многослойного подхода к организации программного обеспечения</a:t>
            </a:r>
          </a:p>
          <a:p>
            <a:pPr marL="0" indent="0">
              <a:buNone/>
            </a:pPr>
            <a:r>
              <a:rPr lang="ru-RU" dirty="0">
                <a:latin typeface="Cambria" panose="02040503050406030204" pitchFamily="18" charset="0"/>
                <a:ea typeface="Cambria" panose="02040503050406030204" pitchFamily="18" charset="0"/>
              </a:rPr>
              <a:t>Контроллер представлял нижний слой управления устройством, выполняющий операции в терминах блоков и агрегатов устройства (например, передвижение головки дисковода, побитная передача байта по двухпроводному кабелю)</a:t>
            </a:r>
          </a:p>
          <a:p>
            <a:pPr marL="0" indent="0">
              <a:buNone/>
            </a:pPr>
            <a:r>
              <a:rPr lang="ru-RU" dirty="0">
                <a:latin typeface="Cambria" panose="02040503050406030204" pitchFamily="18" charset="0"/>
                <a:ea typeface="Cambria" panose="02040503050406030204" pitchFamily="18" charset="0"/>
              </a:rPr>
              <a:t>Драйвер выполнял более сложные операции, преобразуя, например, данные, адресуемые в терминах номеров цилиндров, головок и секторов диска, в линейную последовательность блоков или устанавливая логическое соединение между двумя модемами через телефонную сеть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90910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результате прикладная программа уже работала с данными, преобразованными в достаточно понятную для человека форму – файлами, таблицами баз данных, текстовыми окнами на мониторе и т. п., не вдаваясь в детали представления этих данных в устройствах, ввода-вывода</a:t>
            </a:r>
          </a:p>
          <a:p>
            <a:pPr marL="0" indent="0">
              <a:buNone/>
            </a:pPr>
            <a:r>
              <a:rPr lang="ru-RU" dirty="0">
                <a:latin typeface="Cambria" panose="02040503050406030204" pitchFamily="18" charset="0"/>
                <a:ea typeface="Cambria" panose="02040503050406030204" pitchFamily="18" charset="0"/>
              </a:rPr>
              <a:t>Кроме того, помещение драйвера в привилегированный режим и запрет для пользовательских процессов выполнять операции ввода-вывода защищали критически важные для работы самой ОС устройства ввода-вывода от ошибок прикладных программ, а также позволяли ОС надежно контролировать процесс разделения устройств и их данных между пользователями и процессами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408236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описанной схеме драйверы не делились на слои. При этом они решали задачи разного уровня сложности, как самые примитивные, например, просто последовательно передавая контроллеру байты для дальнейшего использования, так и достаточно сложные, связанные с отработкой протокола взаимодействия между модемами или вычерчиванием на экране математических кривых</a:t>
            </a:r>
          </a:p>
          <a:p>
            <a:pPr marL="0" indent="0">
              <a:buNone/>
            </a:pPr>
            <a:r>
              <a:rPr lang="ru-RU" dirty="0">
                <a:latin typeface="Cambria" panose="02040503050406030204" pitchFamily="18" charset="0"/>
                <a:ea typeface="Cambria" panose="02040503050406030204" pitchFamily="18" charset="0"/>
              </a:rPr>
              <a:t>Постепенно, по мере развития операционных систем и усложнения структуры подсистемы ввода-вывода, наряду с традиционными драйверами в операционных системах появились так называемые </a:t>
            </a:r>
            <a:r>
              <a:rPr lang="ru-RU" b="1" dirty="0">
                <a:latin typeface="Cambria" panose="02040503050406030204" pitchFamily="18" charset="0"/>
                <a:ea typeface="Cambria" panose="02040503050406030204" pitchFamily="18" charset="0"/>
              </a:rPr>
              <a:t>высокоуровневые драйверы</a:t>
            </a:r>
            <a:r>
              <a:rPr lang="ru-RU" dirty="0">
                <a:latin typeface="Cambria" panose="02040503050406030204" pitchFamily="18" charset="0"/>
                <a:ea typeface="Cambria" panose="02040503050406030204" pitchFamily="18" charset="0"/>
              </a:rPr>
              <a:t>, которые располагаются в общей модели подсистемы ввод-вывода над традиционными драйверами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2438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Появление высокоуровневых драйверов можно считать дальнейшим развитием идеи многослойной организации подсистемы ввода-вывода</a:t>
            </a:r>
          </a:p>
          <a:p>
            <a:pPr marL="0" indent="0">
              <a:buNone/>
            </a:pPr>
            <a:r>
              <a:rPr lang="ru-RU" dirty="0">
                <a:latin typeface="Cambria" panose="02040503050406030204" pitchFamily="18" charset="0"/>
                <a:ea typeface="Cambria" panose="02040503050406030204" pitchFamily="18" charset="0"/>
              </a:rPr>
              <a:t>Вместо того чтобы концентрировать все функции по управлению устройством в одном программном модуле, во многих случаях гораздо эффективней распределить их между несколькими модулями в соседних слоях иерархии</a:t>
            </a:r>
          </a:p>
          <a:p>
            <a:pPr marL="0" indent="0">
              <a:buNone/>
            </a:pPr>
            <a:r>
              <a:rPr lang="ru-RU" dirty="0">
                <a:latin typeface="Cambria" panose="02040503050406030204" pitchFamily="18" charset="0"/>
                <a:ea typeface="Cambria" panose="02040503050406030204" pitchFamily="18" charset="0"/>
              </a:rPr>
              <a:t>Традиционные драйверы, которые стали называть </a:t>
            </a:r>
            <a:r>
              <a:rPr lang="ru-RU" b="1" dirty="0">
                <a:latin typeface="Cambria" panose="02040503050406030204" pitchFamily="18" charset="0"/>
                <a:ea typeface="Cambria" panose="02040503050406030204" pitchFamily="18" charset="0"/>
              </a:rPr>
              <a:t>аппаратными драйверами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низкоуровневыми драйверами </a:t>
            </a:r>
            <a:r>
              <a:rPr lang="ru-RU" dirty="0">
                <a:latin typeface="Cambria" panose="02040503050406030204" pitchFamily="18" charset="0"/>
                <a:ea typeface="Cambria" panose="02040503050406030204" pitchFamily="18" charset="0"/>
              </a:rPr>
              <a:t>или </a:t>
            </a:r>
            <a:r>
              <a:rPr lang="ru-RU" b="1" dirty="0">
                <a:latin typeface="Cambria" panose="02040503050406030204" pitchFamily="18" charset="0"/>
                <a:ea typeface="Cambria" panose="02040503050406030204" pitchFamily="18" charset="0"/>
              </a:rPr>
              <a:t>драйверами устройств</a:t>
            </a:r>
            <a:r>
              <a:rPr lang="ru-RU" dirty="0">
                <a:latin typeface="Cambria" panose="02040503050406030204" pitchFamily="18" charset="0"/>
                <a:ea typeface="Cambria" panose="02040503050406030204" pitchFamily="18" charset="0"/>
              </a:rPr>
              <a:t> подчеркивая их непосредственную связь с управляемым устройством, освобождаются от высокоуровневых функций. </a:t>
            </a:r>
          </a:p>
          <a:p>
            <a:pPr marL="0" indent="0">
              <a:buNone/>
            </a:pPr>
            <a:r>
              <a:rPr lang="ru-RU" dirty="0">
                <a:latin typeface="Cambria" panose="02040503050406030204" pitchFamily="18" charset="0"/>
                <a:ea typeface="Cambria" panose="02040503050406030204" pitchFamily="18" charset="0"/>
              </a:rPr>
              <a:t>Выполняемые ими низкоуровневые операции составляют фундамент, на котором можно построить тот или иной набор операций в драйверах более высоких уровней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108084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таком подходе повышается гибкость и расширяемость функций по управлению устройством – вместо жесткого набора функций, сосредоточенных в единственном драйвере, администратор ОС может выбрать требуемый набор функций, установив нужный высокоуровневый драйвер</a:t>
            </a:r>
          </a:p>
          <a:p>
            <a:pPr marL="0" indent="0">
              <a:buNone/>
            </a:pPr>
            <a:r>
              <a:rPr lang="ru-RU" dirty="0">
                <a:latin typeface="Cambria" panose="02040503050406030204" pitchFamily="18" charset="0"/>
                <a:ea typeface="Cambria" panose="02040503050406030204" pitchFamily="18" charset="0"/>
              </a:rPr>
              <a:t>Если различным приложениям необходимо взаимодействовать с различными логическими моделями одного и того же физического устройства, то для этого достаточно установить в системе несколько высокоуровневых драйверов, работающих поверх одного аппаратного драйвера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723037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Количество уровней драйверов в подсистеме ввода-вывода, обычно не ограничивается каким-либо пределом, но на практике чаще всего используют от двух до пяти – слишком большое количество уровней может снизить скорость, операций ввода-вывода</a:t>
            </a:r>
          </a:p>
          <a:p>
            <a:pPr marL="0" indent="0">
              <a:buNone/>
            </a:pPr>
            <a:r>
              <a:rPr lang="ru-RU" dirty="0">
                <a:latin typeface="Cambria" panose="02040503050406030204" pitchFamily="18" charset="0"/>
                <a:ea typeface="Cambria" panose="02040503050406030204" pitchFamily="18" charset="0"/>
              </a:rPr>
              <a:t>Несколько драйверов, управляющих одним устройством, но на разных уровнях, можно рассматривать как набор отдельных драйверов или как один </a:t>
            </a:r>
            <a:r>
              <a:rPr lang="ru-RU" b="1" dirty="0">
                <a:latin typeface="Cambria" panose="02040503050406030204" pitchFamily="18" charset="0"/>
                <a:ea typeface="Cambria" panose="02040503050406030204" pitchFamily="18" charset="0"/>
              </a:rPr>
              <a:t>многоуровневый драйвер</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189365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Высокоуровневые драйверы оформляются по тем же правилам и придерживаются тех же внутренних интерфейсов, что и аппаратные драйверы. Единственным отличием является то, что высокоуровневые драйверы, как правило, не вызываются по прерываниям, так как взаимодействуют с управляемым устройством через аппаратные драйверы</a:t>
            </a:r>
          </a:p>
          <a:p>
            <a:pPr marL="0" indent="0">
              <a:buNone/>
            </a:pPr>
            <a:r>
              <a:rPr lang="ru-RU" dirty="0">
                <a:latin typeface="Cambria" panose="02040503050406030204" pitchFamily="18" charset="0"/>
                <a:ea typeface="Cambria" panose="02040503050406030204" pitchFamily="18" charset="0"/>
              </a:rPr>
              <a:t>Менеджер ввода-вывода управляет драйверами однотипно независимо от того, к какому уровню он относится. При наличии большого количества драйверов разного уровня усложняются связи между ними, что, в свою очередь, усложняет их взаимодействие, и именно эта ситуация привела к стандартизации внутреннего интерфейса в подсистеме ввода-вывода и выделения специальной оболочки в виде менеджера ввода-вывода, выполняющего служебные функции по организации работы драйверов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668666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57B0B3-8BBE-3153-421A-82846474952E}"/>
              </a:ext>
            </a:extLst>
          </p:cNvPr>
          <p:cNvPicPr>
            <a:picLocks noChangeAspect="1"/>
          </p:cNvPicPr>
          <p:nvPr/>
        </p:nvPicPr>
        <p:blipFill>
          <a:blip r:embed="rId2"/>
          <a:stretch>
            <a:fillRect/>
          </a:stretch>
        </p:blipFill>
        <p:spPr>
          <a:xfrm>
            <a:off x="1930620" y="0"/>
            <a:ext cx="8330759" cy="6858000"/>
          </a:xfrm>
          <a:prstGeom prst="rect">
            <a:avLst/>
          </a:prstGeom>
        </p:spPr>
      </p:pic>
    </p:spTree>
    <p:extLst>
      <p:ext uri="{BB962C8B-B14F-4D97-AF65-F5344CB8AC3E}">
        <p14:creationId xmlns:p14="http://schemas.microsoft.com/office/powerpoint/2010/main" val="7641102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подсистеме управления графическими устройствами, такими как графические мониторы и принтеры, существует несколько уровней драйверов</a:t>
            </a:r>
          </a:p>
          <a:p>
            <a:pPr marL="0" indent="0">
              <a:buNone/>
            </a:pPr>
            <a:r>
              <a:rPr lang="ru-RU" dirty="0">
                <a:latin typeface="Cambria" panose="02040503050406030204" pitchFamily="18" charset="0"/>
                <a:ea typeface="Cambria" panose="02040503050406030204" pitchFamily="18" charset="0"/>
              </a:rPr>
              <a:t>На нижнем уровне работают аппаратные драйверы, которые позволяют управлять конкретным графическим адаптером или принтером определенного типа, заставляя их выполнять некоторый набор примитивных графических операций: вывод точки, окружности, заполнение области цветом, вывод символов и т. п.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713251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Высокоуровневые графические драйверы строят на базе этих операций более мощные операции, например масштабирование изображения, преобразование графического формата в соответствии с разрешающими возможностями устройства и т. п.</a:t>
            </a:r>
          </a:p>
          <a:p>
            <a:pPr marL="0" indent="0">
              <a:buNone/>
            </a:pPr>
            <a:r>
              <a:rPr lang="ru-RU" dirty="0">
                <a:latin typeface="Cambria" panose="02040503050406030204" pitchFamily="18" charset="0"/>
                <a:ea typeface="Cambria" panose="02040503050406030204" pitchFamily="18" charset="0"/>
              </a:rPr>
              <a:t>Самый верхний уровень подсистемы составляет менеджер окон, создающий для каждого приложения виртуальный образ экрана в виде набора окон, в которые приложение может выводить свои графические данные</a:t>
            </a:r>
          </a:p>
          <a:p>
            <a:pPr marL="0" indent="0">
              <a:buNone/>
            </a:pPr>
            <a:r>
              <a:rPr lang="ru-RU" dirty="0">
                <a:latin typeface="Cambria" panose="02040503050406030204" pitchFamily="18" charset="0"/>
                <a:ea typeface="Cambria" panose="02040503050406030204" pitchFamily="18" charset="0"/>
              </a:rPr>
              <a:t>Менеджер управляет окнами, отображая их в определенной области физического экрана или делая их невидимыми, а также предоставляет к ним совместный доступ с контролем прав доступа</a:t>
            </a:r>
          </a:p>
          <a:p>
            <a:pPr marL="0" indent="0">
              <a:buNone/>
            </a:pPr>
            <a:r>
              <a:rPr lang="ru-RU" dirty="0">
                <a:latin typeface="Cambria" panose="02040503050406030204" pitchFamily="18" charset="0"/>
                <a:ea typeface="Cambria" panose="02040503050406030204" pitchFamily="18" charset="0"/>
              </a:rPr>
              <a:t>Менеджер окон уже не зависит от особенностей конкретного графического устройства, давая возможность высокоуровневым драйверам заниматься преобразованием форматов выводимых данных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768700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подсистеме управления дисками аппаратные драйверы поддерживают для верхних уровней представление диска как последовательного набора блоков одинакового размера, преобразуя вместе с контроллером номер блока в более сложный адрес, состоящий из номеров цилиндра, головки и сектора</a:t>
            </a:r>
          </a:p>
          <a:p>
            <a:pPr marL="0" indent="0">
              <a:buNone/>
            </a:pPr>
            <a:r>
              <a:rPr lang="ru-RU" dirty="0">
                <a:latin typeface="Cambria" panose="02040503050406030204" pitchFamily="18" charset="0"/>
                <a:ea typeface="Cambria" panose="02040503050406030204" pitchFamily="18" charset="0"/>
              </a:rPr>
              <a:t>Однако такие понятая, как «файл» и «файловая система», аппаратные драйверы дисков не поддерживают – эти удобные для пользователя и программиста логические абстракции создаются на более высоком уровне программным обеспечением файловых систем, которое в современных ОС также оформляется как драйвер, только высокоуровневый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33640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57B0B3-8BBE-3153-421A-8284647495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930620" y="49328"/>
            <a:ext cx="8330759" cy="6759343"/>
          </a:xfrm>
          <a:prstGeom prst="rect">
            <a:avLst/>
          </a:prstGeom>
        </p:spPr>
      </p:pic>
    </p:spTree>
    <p:extLst>
      <p:ext uri="{BB962C8B-B14F-4D97-AF65-F5344CB8AC3E}">
        <p14:creationId xmlns:p14="http://schemas.microsoft.com/office/powerpoint/2010/main" val="33727519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Наличие универсальной среды, создаваемой менеджером ввода-вывода, позволяет достаточно просто решить проблему поддержки в ОС нескольких файловых систем одновременно</a:t>
            </a:r>
          </a:p>
          <a:p>
            <a:pPr marL="0" indent="0">
              <a:buNone/>
            </a:pPr>
            <a:r>
              <a:rPr lang="ru-RU" dirty="0">
                <a:latin typeface="Cambria" panose="02040503050406030204" pitchFamily="18" charset="0"/>
                <a:ea typeface="Cambria" panose="02040503050406030204" pitchFamily="18" charset="0"/>
              </a:rPr>
              <a:t>Для этого в ОС устанавливается несколько высокоуровневых драйверов (на рисунке это драйверы файловых систем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NTFS и FAT), работающих с общими аппаратными драйверами, но по-своему организующими хранение данных в блоках диска и по-своему представляющими файловую систему пользователю и прикладным процессам</a:t>
            </a:r>
          </a:p>
          <a:p>
            <a:pPr marL="0" indent="0">
              <a:buNone/>
            </a:pPr>
            <a:r>
              <a:rPr lang="ru-RU" dirty="0">
                <a:latin typeface="Cambria" panose="02040503050406030204" pitchFamily="18" charset="0"/>
                <a:ea typeface="Cambria" panose="02040503050406030204" pitchFamily="18" charset="0"/>
              </a:rPr>
              <a:t>Для унификации представления различных файловых систем в подсистеме ввода-вывода может использоваться общий драйвер верхнего уровня, играющий роль диспетчера нескольких драйверов файловых систем. </a:t>
            </a:r>
          </a:p>
          <a:p>
            <a:pPr marL="0" indent="0">
              <a:buNone/>
            </a:pPr>
            <a:r>
              <a:rPr lang="ru-RU" dirty="0">
                <a:latin typeface="Cambria" panose="02040503050406030204" pitchFamily="18" charset="0"/>
                <a:ea typeface="Cambria" panose="02040503050406030204" pitchFamily="18" charset="0"/>
              </a:rPr>
              <a:t>На рисунке в качестве примера показан диспетчер VFS (Virtual File System), применяемый в некоторых версиях операционной системы Unix</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906857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Все модули подсистемы ввода-вывода </a:t>
            </a:r>
            <a:r>
              <a:rPr lang="ru-RU" b="1" dirty="0">
                <a:latin typeface="Cambria" panose="02040503050406030204" pitchFamily="18" charset="0"/>
                <a:ea typeface="Cambria" panose="02040503050406030204" pitchFamily="18" charset="0"/>
              </a:rPr>
              <a:t>не обязательно оформляются в виде драйверов</a:t>
            </a:r>
          </a:p>
          <a:p>
            <a:pPr marL="0" indent="0">
              <a:buNone/>
            </a:pPr>
            <a:r>
              <a:rPr lang="ru-RU" dirty="0">
                <a:latin typeface="Cambria" panose="02040503050406030204" pitchFamily="18" charset="0"/>
                <a:ea typeface="Cambria" panose="02040503050406030204" pitchFamily="18" charset="0"/>
              </a:rPr>
              <a:t>Например, в подсистеме управления дисками обычно имеется такой модуль, как дисковый кэш, который служит для кэширования блоков дисковых файлов в оперативной памяти. Достаточно специфические функции кэша делают нецелесообразным оформление его в виде драйвера, взаимодействующего с другими модулями ОС только с помощью менеджера ввода-вывода</a:t>
            </a:r>
          </a:p>
          <a:p>
            <a:pPr marL="0" indent="0">
              <a:buNone/>
            </a:pPr>
            <a:r>
              <a:rPr lang="ru-RU" dirty="0">
                <a:latin typeface="Cambria" panose="02040503050406030204" pitchFamily="18" charset="0"/>
                <a:ea typeface="Cambria" panose="02040503050406030204" pitchFamily="18" charset="0"/>
              </a:rPr>
              <a:t>Другим примером модуля, который чаще всего не оформляется в виде драйвера, является диспетчер окон графического интерфейса. Иногда этот модуль вообще выносится из ядра ОС и реализуется в виде пользовательского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868049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Аппаратные драйверы после запуска операции ввода-вывода должны своевременно реагировать на завершение контроллером заданного действия, и для решения этой задачи они взаимодействуют с системой прерываний</a:t>
            </a:r>
          </a:p>
          <a:p>
            <a:pPr marL="0" indent="0">
              <a:buNone/>
            </a:pPr>
            <a:r>
              <a:rPr lang="ru-RU" dirty="0">
                <a:latin typeface="Cambria" panose="02040503050406030204" pitchFamily="18" charset="0"/>
                <a:ea typeface="Cambria" panose="02040503050406030204" pitchFamily="18" charset="0"/>
              </a:rPr>
              <a:t>Драйверы более высоких уровней вызываются уже не по прерываниям, а по инициативе аппаратных драйверов или драйверов вышележащего уровня</a:t>
            </a:r>
          </a:p>
          <a:p>
            <a:pPr marL="0" indent="0">
              <a:buNone/>
            </a:pPr>
            <a:r>
              <a:rPr lang="ru-RU" dirty="0">
                <a:latin typeface="Cambria" panose="02040503050406030204" pitchFamily="18" charset="0"/>
                <a:ea typeface="Cambria" panose="02040503050406030204" pitchFamily="18" charset="0"/>
              </a:rPr>
              <a:t>Не все процедуры аппаратного драйвера нужно вызывать по прерываниям, поэтому драйвер обычно имеет определенную структуру, в которой выделяется </a:t>
            </a:r>
            <a:r>
              <a:rPr lang="ru-RU" b="1" dirty="0">
                <a:latin typeface="Cambria" panose="02040503050406030204" pitchFamily="18" charset="0"/>
                <a:ea typeface="Cambria" panose="02040503050406030204" pitchFamily="18" charset="0"/>
              </a:rPr>
              <a:t>процедура обслуживания прерываний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Interrupt</a:t>
            </a:r>
            <a:r>
              <a:rPr lang="ru-RU" dirty="0">
                <a:latin typeface="Cambria" panose="02040503050406030204" pitchFamily="18" charset="0"/>
                <a:ea typeface="Cambria" panose="02040503050406030204" pitchFamily="18" charset="0"/>
              </a:rPr>
              <a:t> Service </a:t>
            </a:r>
            <a:r>
              <a:rPr lang="ru-RU" dirty="0" err="1">
                <a:latin typeface="Cambria" panose="02040503050406030204" pitchFamily="18" charset="0"/>
                <a:ea typeface="Cambria" panose="02040503050406030204" pitchFamily="18" charset="0"/>
              </a:rPr>
              <a:t>Routine</a:t>
            </a:r>
            <a:r>
              <a:rPr lang="ru-RU" dirty="0">
                <a:latin typeface="Cambria" panose="02040503050406030204" pitchFamily="18" charset="0"/>
                <a:ea typeface="Cambria" panose="02040503050406030204" pitchFamily="18" charset="0"/>
              </a:rPr>
              <a:t>, ISR), – она и вызывается диспетчером прерываний при поступлении запроса от соответствующего устройства</a:t>
            </a:r>
          </a:p>
          <a:p>
            <a:pPr marL="0" indent="0">
              <a:buNone/>
            </a:pPr>
            <a:r>
              <a:rPr lang="ru-RU" dirty="0">
                <a:latin typeface="Cambria" panose="02040503050406030204" pitchFamily="18" charset="0"/>
                <a:ea typeface="Cambria" panose="02040503050406030204" pitchFamily="18" charset="0"/>
              </a:rPr>
              <a:t>Диспетчер прерываний можно считать частью подсистемы ввода-вывода, а можно считать и независимым модулем ядра ОС, так как он служит не только для вызова процедур обслуживания прерываний драйверов, но и для диспетчеризации прерываний других типов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794734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Драйверы могут быть разделены на два больших класса: </a:t>
            </a:r>
            <a:r>
              <a:rPr lang="ru-RU" b="1" dirty="0">
                <a:latin typeface="Cambria" panose="02040503050406030204" pitchFamily="18" charset="0"/>
                <a:ea typeface="Cambria" panose="02040503050406030204" pitchFamily="18" charset="0"/>
              </a:rPr>
              <a:t>блок-ориентированные и байт-ориентированные</a:t>
            </a:r>
          </a:p>
          <a:p>
            <a:pPr marL="0" indent="0">
              <a:buNone/>
            </a:pPr>
            <a:r>
              <a:rPr lang="ru-RU" b="1" dirty="0">
                <a:latin typeface="Cambria" panose="02040503050406030204" pitchFamily="18" charset="0"/>
                <a:ea typeface="Cambria" panose="02040503050406030204" pitchFamily="18" charset="0"/>
              </a:rPr>
              <a:t>Блок-ориентированные</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block-oriented</a:t>
            </a:r>
            <a:r>
              <a:rPr lang="ru-RU" dirty="0">
                <a:latin typeface="Cambria" panose="02040503050406030204" pitchFamily="18" charset="0"/>
                <a:ea typeface="Cambria" panose="02040503050406030204" pitchFamily="18" charset="0"/>
              </a:rPr>
              <a:t>) драйверы управляют устройствами прямого доступа, хранящих информацию в блоках фиксированного размера, каждый из которых </a:t>
            </a:r>
            <a:r>
              <a:rPr lang="ru-RU" b="1" i="1" dirty="0">
                <a:latin typeface="Cambria" panose="02040503050406030204" pitchFamily="18" charset="0"/>
                <a:ea typeface="Cambria" panose="02040503050406030204" pitchFamily="18" charset="0"/>
              </a:rPr>
              <a:t>имеет собственный адрес</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Самое распространенное внешнее устройство прямого доступа – диск </a:t>
            </a:r>
          </a:p>
          <a:p>
            <a:pPr marL="0" indent="0">
              <a:buNone/>
            </a:pPr>
            <a:r>
              <a:rPr lang="ru-RU" dirty="0">
                <a:latin typeface="Cambria" panose="02040503050406030204" pitchFamily="18" charset="0"/>
                <a:ea typeface="Cambria" panose="02040503050406030204" pitchFamily="18" charset="0"/>
              </a:rPr>
              <a:t>Адресуемость блоков приводит к тому, что для устройств прямого доступа появляется возможность кэширования данных в оперативной памяти, и это обстоятельство значительно влияет на общую организацию ввода-вывода для блок-ориентированных драйверов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8064954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790031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Байт-ориентированные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character-oriented</a:t>
            </a:r>
            <a:r>
              <a:rPr lang="ru-RU" dirty="0">
                <a:latin typeface="Cambria" panose="02040503050406030204" pitchFamily="18" charset="0"/>
                <a:ea typeface="Cambria" panose="02040503050406030204" pitchFamily="18" charset="0"/>
              </a:rPr>
              <a:t>) драйверы работают с устройствами, которые </a:t>
            </a:r>
            <a:r>
              <a:rPr lang="ru-RU" b="1" i="1" dirty="0">
                <a:latin typeface="Cambria" panose="02040503050406030204" pitchFamily="18" charset="0"/>
                <a:ea typeface="Cambria" panose="02040503050406030204" pitchFamily="18" charset="0"/>
              </a:rPr>
              <a:t>не адресуемы </a:t>
            </a:r>
            <a:r>
              <a:rPr lang="ru-RU" dirty="0">
                <a:latin typeface="Cambria" panose="02040503050406030204" pitchFamily="18" charset="0"/>
                <a:ea typeface="Cambria" panose="02040503050406030204" pitchFamily="18" charset="0"/>
              </a:rPr>
              <a:t>и не позволяют производить операцию поиска данных, они генерируют или потребляют последовательности байтов</a:t>
            </a:r>
          </a:p>
          <a:p>
            <a:pPr marL="0" indent="0">
              <a:buNone/>
            </a:pPr>
            <a:r>
              <a:rPr lang="ru-RU" dirty="0">
                <a:latin typeface="Cambria" panose="02040503050406030204" pitchFamily="18" charset="0"/>
                <a:ea typeface="Cambria" panose="02040503050406030204" pitchFamily="18" charset="0"/>
              </a:rPr>
              <a:t>Примерами таких устройств, которые также называют устройствами последовательного доступа, служат терминалы, строчные принтеры, сетевые адаптеры</a:t>
            </a:r>
          </a:p>
          <a:p>
            <a:pPr marL="0" indent="0">
              <a:buNone/>
            </a:pPr>
            <a:r>
              <a:rPr lang="ru-RU" dirty="0">
                <a:latin typeface="Cambria" panose="02040503050406030204" pitchFamily="18" charset="0"/>
                <a:ea typeface="Cambria" panose="02040503050406030204" pitchFamily="18" charset="0"/>
              </a:rPr>
              <a:t>Это деление является более общим, чем показанное на </a:t>
            </a:r>
            <a:r>
              <a:rPr lang="ru-RU" dirty="0">
                <a:latin typeface="Cambria" panose="02040503050406030204" pitchFamily="18" charset="0"/>
                <a:ea typeface="Cambria" panose="02040503050406030204" pitchFamily="18" charset="0"/>
                <a:hlinkClick r:id="rId2" action="ppaction://hlinksldjump">
                  <a:extLst>
                    <a:ext uri="{A12FA001-AC4F-418D-AE19-62706E023703}">
                      <ahyp:hlinkClr xmlns:ahyp="http://schemas.microsoft.com/office/drawing/2018/hyperlinkcolor" val="tx"/>
                    </a:ext>
                  </a:extLst>
                </a:hlinkClick>
              </a:rPr>
              <a:t>схеме</a:t>
            </a:r>
            <a:r>
              <a:rPr lang="ru-RU" dirty="0">
                <a:latin typeface="Cambria" panose="02040503050406030204" pitchFamily="18" charset="0"/>
                <a:ea typeface="Cambria" panose="02040503050406030204" pitchFamily="18" charset="0"/>
              </a:rPr>
              <a:t> деление на вертикальные подсистемы</a:t>
            </a:r>
          </a:p>
          <a:p>
            <a:pPr marL="0" indent="0">
              <a:buNone/>
            </a:pPr>
            <a:r>
              <a:rPr lang="ru-RU" dirty="0">
                <a:latin typeface="Cambria" panose="02040503050406030204" pitchFamily="18" charset="0"/>
                <a:ea typeface="Cambria" panose="02040503050406030204" pitchFamily="18" charset="0"/>
              </a:rPr>
              <a:t>Например, драйверы графических устройств и драйверы сетевых устройств относятся к одному классу байт-ориентированных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197684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Значительность отличий блок-ориентированных и байт-ориентированных драйверов иллюстрирует тот факт, что среда STREAMS разработана только для байт-ориентированных драйверов и включить в нее блок-ориентированный драйвер невозможно</a:t>
            </a:r>
          </a:p>
          <a:p>
            <a:pPr marL="0" indent="0">
              <a:buNone/>
            </a:pPr>
            <a:r>
              <a:rPr lang="ru-RU" dirty="0">
                <a:latin typeface="Cambria" panose="02040503050406030204" pitchFamily="18" charset="0"/>
                <a:ea typeface="Cambria" panose="02040503050406030204" pitchFamily="18" charset="0"/>
              </a:rPr>
              <a:t>Блок- или байт-ориентированность является характеристикой не только самого устройства, но и драйвера. Очевидно, что если устройство не поддерживает обмен адресуемыми блоками данных, а позволяет записывать или считывать последовательность байтов, то и устройство, и его драйвер можно назвать байт-ориентированными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935776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Для байт-ориентированного устройства невозможно разработать блок-ориентированный драйвер. Однако блок-ориентированным устройством можно управлять и с помощью байт-ориентированного драйвера</a:t>
            </a:r>
          </a:p>
          <a:p>
            <a:pPr marL="0" indent="0">
              <a:buNone/>
            </a:pPr>
            <a:r>
              <a:rPr lang="ru-RU" dirty="0">
                <a:latin typeface="Cambria" panose="02040503050406030204" pitchFamily="18" charset="0"/>
                <a:ea typeface="Cambria" panose="02040503050406030204" pitchFamily="18" charset="0"/>
              </a:rPr>
              <a:t>Так, диск можно рассматривать не только как набор блоков, но и набор байтов, первый из которых начинает первый блок диска, а последний завершает последний блок</a:t>
            </a:r>
          </a:p>
          <a:p>
            <a:pPr marL="0" indent="0">
              <a:buNone/>
            </a:pPr>
            <a:r>
              <a:rPr lang="ru-RU" dirty="0">
                <a:latin typeface="Cambria" panose="02040503050406030204" pitchFamily="18" charset="0"/>
                <a:ea typeface="Cambria" panose="02040503050406030204" pitchFamily="18" charset="0"/>
              </a:rPr>
              <a:t>Физический обмен с контроллером устройства по-прежнему осуществляется блоками, но байт-ориентированный драйвер устройства будет преобразовывать блоки в последовательности байтов. Для устройств прямого доступа часто разрабатывают пару драйверов, чтобы к устройству можно было обращаться к по байт-ориентированному, и по блок-ориентированному интерфейсам, в зависимости от потребностей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442969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Деление всех драйверов на блок-ориентированные и байт-ориентированные оказывается полезным для структурирования подсистемы управления вводом-выводом: тем не менее необходимо учитывать, что эта схема является упрощенной – имеются внешние устройства, драйверы которых не относятся ни к одному из указанных классов </a:t>
            </a:r>
          </a:p>
          <a:p>
            <a:pPr marL="0" indent="0">
              <a:buNone/>
            </a:pPr>
            <a:r>
              <a:rPr lang="ru-RU" dirty="0">
                <a:latin typeface="Cambria" panose="02040503050406030204" pitchFamily="18" charset="0"/>
                <a:ea typeface="Cambria" panose="02040503050406030204" pitchFamily="18" charset="0"/>
              </a:rPr>
              <a:t>Таковым, например, является таймер, который, с одной стороны, не содержит адресуемой информации, а с другой стороны, не порождает потока байтов. Это устройство только выдает сигнал прерывания в некоторые моменты времени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112582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Одной из основных задач операционной системы является предоставление пользователю удобных средств работы с данными, хранящимися на дисках</a:t>
            </a:r>
          </a:p>
          <a:p>
            <a:pPr marL="0" indent="0">
              <a:buNone/>
            </a:pPr>
            <a:r>
              <a:rPr lang="ru-RU" dirty="0">
                <a:latin typeface="Cambria" panose="02040503050406030204" pitchFamily="18" charset="0"/>
                <a:ea typeface="Cambria" panose="02040503050406030204" pitchFamily="18" charset="0"/>
              </a:rPr>
              <a:t>Для этого ОС подменяет физическую структуру хранящихся данных некоторой удобной для пользователя логической моделью – системой иерархически организованных каталогов и файлов</a:t>
            </a:r>
          </a:p>
          <a:p>
            <a:pPr marL="0" indent="0">
              <a:buNone/>
            </a:pPr>
            <a:r>
              <a:rPr lang="ru-RU" dirty="0">
                <a:latin typeface="Cambria" panose="02040503050406030204" pitchFamily="18" charset="0"/>
                <a:ea typeface="Cambria" panose="02040503050406030204" pitchFamily="18" charset="0"/>
              </a:rPr>
              <a:t>Для пользователя это абстрактное представление материализуется в виде набора ярлыков или списка, выводимого на экран такими утилитами, как Проводник Windows (Windows Explorer)</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7769181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Логическая организация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546011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Файл</a:t>
            </a:r>
            <a:r>
              <a:rPr lang="ru-RU" dirty="0">
                <a:latin typeface="Cambria" panose="02040503050406030204" pitchFamily="18" charset="0"/>
                <a:ea typeface="Cambria" panose="02040503050406030204" pitchFamily="18" charset="0"/>
              </a:rPr>
              <a:t> – это именованная область внешней памяти, в которую можно записывать и из которой можно считывать данные, а также собственно хранимые в этой области данные и набор атрибутов, позволяющих ОС манипулировать этими данными</a:t>
            </a:r>
          </a:p>
          <a:p>
            <a:pPr marL="0" indent="0">
              <a:buNone/>
            </a:pPr>
            <a:r>
              <a:rPr lang="ru-RU" dirty="0">
                <a:latin typeface="Cambria" panose="02040503050406030204" pitchFamily="18" charset="0"/>
                <a:ea typeface="Cambria" panose="02040503050406030204" pitchFamily="18" charset="0"/>
              </a:rPr>
              <a:t>Основные цели использования файла перечислены ниже: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Долговременное и надежное хранение информации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Совместное использование информации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46912917"/>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927807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Долговременное и надежное хранение информации. </a:t>
            </a:r>
          </a:p>
          <a:p>
            <a:pPr marL="0" indent="0">
              <a:buNone/>
            </a:pPr>
            <a:r>
              <a:rPr lang="ru-RU" dirty="0">
                <a:latin typeface="Cambria" panose="02040503050406030204" pitchFamily="18" charset="0"/>
                <a:ea typeface="Cambria" panose="02040503050406030204" pitchFamily="18" charset="0"/>
              </a:rPr>
              <a:t>Долговременность достигается за счет использования запоминающих устройств, не зависящих от питания*, а высокая надежность определяется средствами защиты доступа к файлам и общей организацией программного кода ОС, при которой сбои аппаратуры чаще всего не разрушают информацию, хранящуюся в файлах</a:t>
            </a:r>
          </a:p>
          <a:p>
            <a:pPr marL="0" indent="0">
              <a:buNone/>
            </a:pPr>
            <a:r>
              <a:rPr lang="ru-RU" dirty="0">
                <a:latin typeface="Cambria" panose="02040503050406030204" pitchFamily="18" charset="0"/>
                <a:ea typeface="Cambria" panose="02040503050406030204" pitchFamily="18" charset="0"/>
              </a:rPr>
              <a:t>*Файлы хранятся в памяти, не зависящей от энергопитания, однако имеется исключение – так называемый электронный диск, представляющий собой созданную в оперативной памяти структуру, имитирующую файловую систему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584265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Совместное использование информации</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Файлы обеспечивают естественный и простой способ разделения информации между приложениями и пользователями за счет наличия понятного человеку символьного имени и постоянства хранимой информации и расположения файла</a:t>
            </a:r>
          </a:p>
          <a:p>
            <a:pPr marL="0" indent="0">
              <a:buNone/>
            </a:pPr>
            <a:r>
              <a:rPr lang="ru-RU" dirty="0">
                <a:latin typeface="Cambria" panose="02040503050406030204" pitchFamily="18" charset="0"/>
                <a:ea typeface="Cambria" panose="02040503050406030204" pitchFamily="18" charset="0"/>
              </a:rPr>
              <a:t>Пользователь должен иметь удобные средства работы с файлами, включая, каталоги-справочники, объединяющие файлы в группы, средства поиска файлов по признакам, набор команд для создания, модификации и удаления файлов</a:t>
            </a:r>
          </a:p>
          <a:p>
            <a:pPr marL="0" indent="0">
              <a:buNone/>
            </a:pPr>
            <a:r>
              <a:rPr lang="ru-RU" dirty="0">
                <a:latin typeface="Cambria" panose="02040503050406030204" pitchFamily="18" charset="0"/>
                <a:ea typeface="Cambria" panose="02040503050406030204" pitchFamily="18" charset="0"/>
              </a:rPr>
              <a:t>Файл может быть создан одним пользователем, а применяться совсем другим, при этом создатель файла или администратор могут определить права доступа к нему других пользователей. Эти цели реализуются в ОС </a:t>
            </a:r>
            <a:r>
              <a:rPr lang="ru-RU" b="1" dirty="0">
                <a:latin typeface="Cambria" panose="02040503050406030204" pitchFamily="18" charset="0"/>
                <a:ea typeface="Cambria" panose="02040503050406030204" pitchFamily="18" charset="0"/>
              </a:rPr>
              <a:t>файловой системой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544598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Файловая система (ФС)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это часть операционной системы, включающая: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Совокупность всех файлов на диске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Наборы структур данных, используемых для управления файлами, такие, например, как каталоги файлов, дескрипторы файлов, таблицы распределения свободного и занятого пространства на диске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Комплекс системных программных средств, реализующих различные операции с файлами, такие как создание, уничтожение, чтение, запись, именование и поиск файлов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660107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Файловая система позволяет программам обходится набором достаточно простых операций для выполнения действий над некоторым абстрактным объектом, представляющим файл</a:t>
            </a:r>
          </a:p>
          <a:p>
            <a:pPr marL="0" indent="0">
              <a:buNone/>
            </a:pPr>
            <a:r>
              <a:rPr lang="ru-RU" dirty="0">
                <a:latin typeface="Cambria" panose="02040503050406030204" pitchFamily="18" charset="0"/>
                <a:ea typeface="Cambria" panose="02040503050406030204" pitchFamily="18" charset="0"/>
              </a:rPr>
              <a:t>При этом программистам не нужно иметь дело с деталями действительного расположения данных на диске, буферизацией данных и другими низкоуровневыми проблемами передачи данных с долговременного запоминающего устройства. Все эти функции файловая система берет на себя</a:t>
            </a:r>
          </a:p>
          <a:p>
            <a:pPr marL="0" indent="0">
              <a:buNone/>
            </a:pPr>
            <a:r>
              <a:rPr lang="ru-RU" dirty="0">
                <a:latin typeface="Cambria" panose="02040503050406030204" pitchFamily="18" charset="0"/>
                <a:ea typeface="Cambria" panose="02040503050406030204" pitchFamily="18" charset="0"/>
              </a:rPr>
              <a:t>Файловая система распределяет дисковую память, поддерживает именование файлов, отображает имена файлов на соответствующие адреса во внешней памяти, обеспечивает доступ к данным, поддерживает разделение, защиту и восстановление файлов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193164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Таким образом, файловая система играет роль промежуточного слоя, экранирующего все сложности физической организации долговременного хранилища данных и создающего для программ более простую логическую модель этого хранилища, а также предоставляя им набор удобных в использовании команд для манипулирования файлами</a:t>
            </a:r>
          </a:p>
          <a:p>
            <a:pPr marL="0" indent="0">
              <a:buNone/>
            </a:pPr>
            <a:r>
              <a:rPr lang="ru-RU" dirty="0">
                <a:latin typeface="Cambria" panose="02040503050406030204" pitchFamily="18" charset="0"/>
                <a:ea typeface="Cambria" panose="02040503050406030204" pitchFamily="18" charset="0"/>
              </a:rPr>
              <a:t>Задачи, решаемые ФС, зависят от способа организации вычислительного процесса в целом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510784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Самый простой тип – это ФС в однопользовательских и однопрограммных ОС, к числу которых относится, например, MS-DOS. Основные функции в </a:t>
            </a:r>
            <a:r>
              <a:rPr lang="ru-RU" b="1" i="1" dirty="0">
                <a:latin typeface="Cambria" panose="02040503050406030204" pitchFamily="18" charset="0"/>
                <a:ea typeface="Cambria" panose="02040503050406030204" pitchFamily="18" charset="0"/>
              </a:rPr>
              <a:t>однопользовательских</a:t>
            </a:r>
            <a:r>
              <a:rPr lang="ru-RU"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однопрограммных</a:t>
            </a:r>
            <a:r>
              <a:rPr lang="ru-RU"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ФС</a:t>
            </a:r>
            <a:r>
              <a:rPr lang="ru-RU" dirty="0">
                <a:latin typeface="Cambria" panose="02040503050406030204" pitchFamily="18" charset="0"/>
                <a:ea typeface="Cambria" panose="02040503050406030204" pitchFamily="18" charset="0"/>
              </a:rPr>
              <a:t> нацелены на решение следующих задач:</a:t>
            </a:r>
          </a:p>
          <a:p>
            <a:pPr>
              <a:buFont typeface="Wingdings" panose="05000000000000000000" pitchFamily="2" charset="2"/>
              <a:buChar char="Ø"/>
            </a:pPr>
            <a:r>
              <a:rPr lang="ru-RU">
                <a:latin typeface="Cambria" panose="02040503050406030204" pitchFamily="18" charset="0"/>
                <a:ea typeface="Cambria" panose="02040503050406030204" pitchFamily="18" charset="0"/>
              </a:rPr>
              <a:t>Именование файлов</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Программный интерфейс для приложений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Отображения логической модели файловой системы на физическую организацию хранилища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Устойчивость файловой системы к сбоям питания, ошибкам аппаратных и программных средств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634336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Задачи ФС усложняются в операционных </a:t>
            </a:r>
            <a:r>
              <a:rPr lang="ru-RU" b="1" i="1" dirty="0">
                <a:latin typeface="Cambria" panose="02040503050406030204" pitchFamily="18" charset="0"/>
                <a:ea typeface="Cambria" panose="02040503050406030204" pitchFamily="18" charset="0"/>
              </a:rPr>
              <a:t>однопользовательских мультипрограммных ОС</a:t>
            </a:r>
            <a:r>
              <a:rPr lang="ru-RU" dirty="0">
                <a:latin typeface="Cambria" panose="02040503050406030204" pitchFamily="18" charset="0"/>
                <a:ea typeface="Cambria" panose="02040503050406030204" pitchFamily="18" charset="0"/>
              </a:rPr>
              <a:t>, которые, хотя и предназначены для работы одного пользователя, но дают ему возможность запускать одновременно несколько процессов</a:t>
            </a:r>
          </a:p>
          <a:p>
            <a:pPr marL="0" indent="0">
              <a:buNone/>
            </a:pPr>
            <a:r>
              <a:rPr lang="ru-RU" dirty="0">
                <a:latin typeface="Cambria" panose="02040503050406030204" pitchFamily="18" charset="0"/>
                <a:ea typeface="Cambria" panose="02040503050406030204" pitchFamily="18" charset="0"/>
              </a:rPr>
              <a:t>Одной из первых ОС этого типа стала OS/2</a:t>
            </a:r>
          </a:p>
          <a:p>
            <a:pPr marL="0" indent="0">
              <a:buNone/>
            </a:pPr>
            <a:r>
              <a:rPr lang="ru-RU" dirty="0">
                <a:latin typeface="Cambria" panose="02040503050406030204" pitchFamily="18" charset="0"/>
                <a:ea typeface="Cambria" panose="02040503050406030204" pitchFamily="18" charset="0"/>
              </a:rPr>
              <a:t>К перечисленным задачам добавляется новая задача совместного доступа к файлу из нескольких процессов</a:t>
            </a:r>
          </a:p>
          <a:p>
            <a:pPr marL="0" indent="0">
              <a:buNone/>
            </a:pPr>
            <a:r>
              <a:rPr lang="ru-RU" dirty="0">
                <a:latin typeface="Cambria" panose="02040503050406030204" pitchFamily="18" charset="0"/>
                <a:ea typeface="Cambria" panose="02040503050406030204" pitchFamily="18" charset="0"/>
              </a:rPr>
              <a:t>Файл в этом случае является разделяемым ресурсом, а, значит, файловая система должна решать весь комплекс проблем, связанных с такими ресурсами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380559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частности, в однопользовательских мультипрограммных ФС должны быть предусмотрены средства блокировки файла и его частей, предотвращения гонок, исключение тупиков, согласование копий и т. п.</a:t>
            </a:r>
          </a:p>
          <a:p>
            <a:pPr marL="0" indent="0">
              <a:buNone/>
            </a:pPr>
            <a:r>
              <a:rPr lang="ru-RU" dirty="0">
                <a:latin typeface="Cambria" panose="02040503050406030204" pitchFamily="18" charset="0"/>
                <a:ea typeface="Cambria" panose="02040503050406030204" pitchFamily="18" charset="0"/>
              </a:rPr>
              <a:t>В </a:t>
            </a:r>
            <a:r>
              <a:rPr lang="ru-RU" b="1" i="1" dirty="0">
                <a:latin typeface="Cambria" panose="02040503050406030204" pitchFamily="18" charset="0"/>
                <a:ea typeface="Cambria" panose="02040503050406030204" pitchFamily="18" charset="0"/>
              </a:rPr>
              <a:t>многопользовательских системах ФС </a:t>
            </a:r>
            <a:r>
              <a:rPr lang="ru-RU" dirty="0">
                <a:latin typeface="Cambria" panose="02040503050406030204" pitchFamily="18" charset="0"/>
                <a:ea typeface="Cambria" panose="02040503050406030204" pitchFamily="18" charset="0"/>
              </a:rPr>
              <a:t>появляется еще одна задача – защита файлов одного пользователя от несанкционированного доступа другого пользователя</a:t>
            </a:r>
          </a:p>
          <a:p>
            <a:pPr marL="0" indent="0">
              <a:buNone/>
            </a:pPr>
            <a:r>
              <a:rPr lang="ru-RU" dirty="0">
                <a:latin typeface="Cambria" panose="02040503050406030204" pitchFamily="18" charset="0"/>
                <a:ea typeface="Cambria" panose="02040503050406030204" pitchFamily="18" charset="0"/>
              </a:rPr>
              <a:t>Еще более сложными становятся функции ФС, которая работает в составе сетевой ОС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25406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Файловые системы поддерживают несколько функционально различных типов файлов, в число которых, как правило, входят: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Обычные файлы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Файлы-каталоги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Специальные файлы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Именованные конвейеры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Файлы, отображаемые на память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5043328"/>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955434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77500" lnSpcReduction="20000"/>
          </a:bodyPr>
          <a:lstStyle/>
          <a:p>
            <a:pPr marL="0" indent="0">
              <a:buNone/>
            </a:pPr>
            <a:r>
              <a:rPr lang="ru-RU" b="1" dirty="0">
                <a:latin typeface="Cambria" panose="02040503050406030204" pitchFamily="18" charset="0"/>
                <a:ea typeface="Cambria" panose="02040503050406030204" pitchFamily="18" charset="0"/>
              </a:rPr>
              <a:t>Обычные файлы</a:t>
            </a:r>
            <a:r>
              <a:rPr lang="ru-RU" dirty="0">
                <a:latin typeface="Cambria" panose="02040503050406030204" pitchFamily="18" charset="0"/>
                <a:ea typeface="Cambria" panose="02040503050406030204" pitchFamily="18" charset="0"/>
              </a:rPr>
              <a:t>, или просто </a:t>
            </a:r>
            <a:r>
              <a:rPr lang="ru-RU" b="1" dirty="0">
                <a:latin typeface="Cambria" panose="02040503050406030204" pitchFamily="18" charset="0"/>
                <a:ea typeface="Cambria" panose="02040503050406030204" pitchFamily="18" charset="0"/>
              </a:rPr>
              <a:t>файлы</a:t>
            </a:r>
            <a:r>
              <a:rPr lang="ru-RU" dirty="0">
                <a:latin typeface="Cambria" panose="02040503050406030204" pitchFamily="18" charset="0"/>
                <a:ea typeface="Cambria" panose="02040503050406030204" pitchFamily="18" charset="0"/>
              </a:rPr>
              <a:t>, содержат информацию произвольного характера, которую заносит в них пользователь или которая образуется в результате работы системных и пользовательских программ</a:t>
            </a:r>
          </a:p>
          <a:p>
            <a:pPr marL="0" indent="0">
              <a:buNone/>
            </a:pPr>
            <a:r>
              <a:rPr lang="ru-RU" dirty="0">
                <a:latin typeface="Cambria" panose="02040503050406030204" pitchFamily="18" charset="0"/>
                <a:ea typeface="Cambria" panose="02040503050406030204" pitchFamily="18" charset="0"/>
              </a:rPr>
              <a:t>Большинство современных операционных систем (например, Unix, Windows) никак не ограничивают и не контролируют содержимое и структуру обычного файла</a:t>
            </a:r>
          </a:p>
          <a:p>
            <a:pPr marL="0" indent="0">
              <a:buNone/>
            </a:pPr>
            <a:r>
              <a:rPr lang="ru-RU" b="1" dirty="0">
                <a:latin typeface="Cambria" panose="02040503050406030204" pitchFamily="18" charset="0"/>
                <a:ea typeface="Cambria" panose="02040503050406030204" pitchFamily="18" charset="0"/>
              </a:rPr>
              <a:t>Содержимое </a:t>
            </a:r>
            <a:r>
              <a:rPr lang="ru-RU" dirty="0">
                <a:latin typeface="Cambria" panose="02040503050406030204" pitchFamily="18" charset="0"/>
                <a:ea typeface="Cambria" panose="02040503050406030204" pitchFamily="18" charset="0"/>
              </a:rPr>
              <a:t>обычного файла определяется приложением, которое с ним работает</a:t>
            </a:r>
          </a:p>
          <a:p>
            <a:pPr marL="0" indent="0">
              <a:buNone/>
            </a:pPr>
            <a:r>
              <a:rPr lang="ru-RU" dirty="0">
                <a:latin typeface="Cambria" panose="02040503050406030204" pitchFamily="18" charset="0"/>
                <a:ea typeface="Cambria" panose="02040503050406030204" pitchFamily="18" charset="0"/>
              </a:rPr>
              <a:t>Например, текстовый редактор создает текстовые файлы, состоящие из строк символов, представленных в каком-либо коде. Это могут быть документы, исходные тексты программ и т. п. Текстовые файлы можно прочитать на экране и распечатать на принтере</a:t>
            </a:r>
          </a:p>
          <a:p>
            <a:pPr marL="0" indent="0">
              <a:buNone/>
            </a:pPr>
            <a:r>
              <a:rPr lang="ru-RU" dirty="0">
                <a:latin typeface="Cambria" panose="02040503050406030204" pitchFamily="18" charset="0"/>
                <a:ea typeface="Cambria" panose="02040503050406030204" pitchFamily="18" charset="0"/>
              </a:rPr>
              <a:t>Двоичные файлы не используют коды символов, они часто имеют сложную внутреннюю структуру, например исполняемый код программы или архивный файл</a:t>
            </a:r>
          </a:p>
          <a:p>
            <a:pPr marL="0" indent="0">
              <a:buNone/>
            </a:pPr>
            <a:r>
              <a:rPr lang="ru-RU" dirty="0">
                <a:latin typeface="Cambria" panose="02040503050406030204" pitchFamily="18" charset="0"/>
                <a:ea typeface="Cambria" panose="02040503050406030204" pitchFamily="18" charset="0"/>
              </a:rPr>
              <a:t>Все операционные системы должны уметь распознавать хотя бы один тип файлов – их </a:t>
            </a:r>
            <a:r>
              <a:rPr lang="ru-RU" b="1" dirty="0">
                <a:latin typeface="Cambria" panose="02040503050406030204" pitchFamily="18" charset="0"/>
                <a:ea typeface="Cambria" panose="02040503050406030204" pitchFamily="18" charset="0"/>
              </a:rPr>
              <a:t>собственные исполняемые файлы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556242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b="1" dirty="0">
                <a:latin typeface="Cambria" panose="02040503050406030204" pitchFamily="18" charset="0"/>
                <a:ea typeface="Cambria" panose="02040503050406030204" pitchFamily="18" charset="0"/>
              </a:rPr>
              <a:t>Каталоги</a:t>
            </a:r>
            <a:r>
              <a:rPr lang="ru-RU" dirty="0">
                <a:latin typeface="Cambria" panose="02040503050406030204" pitchFamily="18" charset="0"/>
                <a:ea typeface="Cambria" panose="02040503050406030204" pitchFamily="18" charset="0"/>
              </a:rPr>
              <a:t> – это особый тип файлов, которые содержат системную справочную информацию о наборе файлов, сгруппированных пользователями по какому-либо неформальному признаку (например, в одну группу объединяются файлы, содержащие документы одного договора, или файлы, составляющие один программный пакет)</a:t>
            </a:r>
          </a:p>
          <a:p>
            <a:pPr marL="0" indent="0">
              <a:buNone/>
            </a:pPr>
            <a:r>
              <a:rPr lang="ru-RU" dirty="0">
                <a:latin typeface="Cambria" panose="02040503050406030204" pitchFamily="18" charset="0"/>
                <a:ea typeface="Cambria" panose="02040503050406030204" pitchFamily="18" charset="0"/>
              </a:rPr>
              <a:t>Во многих операционных системах в каталог могут входить файлы любых типов, в том числе другие каталоги, за счет чего образуется древовидная структура, удобная для поиска</a:t>
            </a:r>
          </a:p>
          <a:p>
            <a:pPr marL="0" indent="0">
              <a:buNone/>
            </a:pPr>
            <a:r>
              <a:rPr lang="ru-RU" dirty="0">
                <a:latin typeface="Cambria" panose="02040503050406030204" pitchFamily="18" charset="0"/>
                <a:ea typeface="Cambria" panose="02040503050406030204" pitchFamily="18" charset="0"/>
              </a:rPr>
              <a:t>Каталоги устанавливают соответствие между именами файлов и их характеристиками, используемыми файловой системой для управления файлами. В число таких характеристик входит, в частности, информация (или указатель на другую структуру, содержащую эти данные) о типе файла и расположении его на диске, правах доступа к файлу и датах его создания и модификации. Во всех остальных отношениях каталоги рассматриваются файловой системой как обычные файлы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69964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Специальные файлы </a:t>
            </a:r>
            <a:r>
              <a:rPr lang="ru-RU" dirty="0">
                <a:latin typeface="Cambria" panose="02040503050406030204" pitchFamily="18" charset="0"/>
                <a:ea typeface="Cambria" panose="02040503050406030204" pitchFamily="18" charset="0"/>
              </a:rPr>
              <a:t>– это фиктивные файлы, ассоциированные с устройствами ввода-вывода, которые используются для унификации механизма доступа к файлам и внешним устройствам. </a:t>
            </a:r>
          </a:p>
          <a:p>
            <a:pPr marL="0" indent="0">
              <a:buNone/>
            </a:pPr>
            <a:r>
              <a:rPr lang="ru-RU" dirty="0">
                <a:latin typeface="Cambria" panose="02040503050406030204" pitchFamily="18" charset="0"/>
                <a:ea typeface="Cambria" panose="02040503050406030204" pitchFamily="18" charset="0"/>
              </a:rPr>
              <a:t>Специальные файлы позволяют пользователю выполнять операции ввода-вывода посредством обычных команд записи в файл или чтения из файла</a:t>
            </a:r>
          </a:p>
          <a:p>
            <a:pPr marL="0" indent="0">
              <a:buNone/>
            </a:pPr>
            <a:r>
              <a:rPr lang="ru-RU" dirty="0">
                <a:latin typeface="Cambria" panose="02040503050406030204" pitchFamily="18" charset="0"/>
                <a:ea typeface="Cambria" panose="02040503050406030204" pitchFamily="18" charset="0"/>
              </a:rPr>
              <a:t>Эти команды обрабатываются сначала программами файловой системы, а затем на некотором этапе выполнения запроса преобразуются операционной системой в команды управления соответствующим устройством</a:t>
            </a:r>
          </a:p>
          <a:p>
            <a:pPr marL="0" indent="0">
              <a:buNone/>
            </a:pPr>
            <a:r>
              <a:rPr lang="ru-RU" dirty="0">
                <a:latin typeface="Cambria" panose="02040503050406030204" pitchFamily="18" charset="0"/>
                <a:ea typeface="Cambria" panose="02040503050406030204" pitchFamily="18" charset="0"/>
              </a:rPr>
              <a:t>Современные файловые системы поддерживают и другие типы файлов, такие как символьные связи, именованные конвейеры, отображаемые на память файлы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94302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Примеры специальных файлов: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83106312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aphicFrame>
        <p:nvGraphicFramePr>
          <p:cNvPr id="2" name="Table 1">
            <a:extLst>
              <a:ext uri="{FF2B5EF4-FFF2-40B4-BE49-F238E27FC236}">
                <a16:creationId xmlns:a16="http://schemas.microsoft.com/office/drawing/2014/main" id="{7F842BDC-1E2E-6BF3-4B3C-83B5BF4EE27D}"/>
              </a:ext>
            </a:extLst>
          </p:cNvPr>
          <p:cNvGraphicFramePr>
            <a:graphicFrameLocks noGrp="1"/>
          </p:cNvGraphicFramePr>
          <p:nvPr/>
        </p:nvGraphicFramePr>
        <p:xfrm>
          <a:off x="2032000" y="2241182"/>
          <a:ext cx="8128000" cy="3505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822825090"/>
                    </a:ext>
                  </a:extLst>
                </a:gridCol>
                <a:gridCol w="4064000">
                  <a:extLst>
                    <a:ext uri="{9D8B030D-6E8A-4147-A177-3AD203B41FA5}">
                      <a16:colId xmlns:a16="http://schemas.microsoft.com/office/drawing/2014/main" val="2359820546"/>
                    </a:ext>
                  </a:extLst>
                </a:gridCol>
              </a:tblGrid>
              <a:tr h="370840">
                <a:tc>
                  <a:txBody>
                    <a:bodyPr/>
                    <a:lstStyle/>
                    <a:p>
                      <a:pPr algn="ctr"/>
                      <a:r>
                        <a:rPr lang="en-US" dirty="0">
                          <a:latin typeface="Cambria" panose="02040503050406030204" pitchFamily="18" charset="0"/>
                          <a:ea typeface="Cambria" panose="02040503050406030204" pitchFamily="18" charset="0"/>
                        </a:rPr>
                        <a:t>Windows</a:t>
                      </a:r>
                    </a:p>
                  </a:txBody>
                  <a:tcPr/>
                </a:tc>
                <a:tc>
                  <a:txBody>
                    <a:bodyPr/>
                    <a:lstStyle/>
                    <a:p>
                      <a:pPr algn="ctr"/>
                      <a:r>
                        <a:rPr lang="en-US" dirty="0">
                          <a:latin typeface="Cambria" panose="02040503050406030204" pitchFamily="18" charset="0"/>
                          <a:ea typeface="Cambria" panose="02040503050406030204" pitchFamily="18" charset="0"/>
                        </a:rPr>
                        <a:t>Linux</a:t>
                      </a:r>
                    </a:p>
                  </a:txBody>
                  <a:tcPr/>
                </a:tc>
                <a:extLst>
                  <a:ext uri="{0D108BD9-81ED-4DB2-BD59-A6C34878D82A}">
                    <a16:rowId xmlns:a16="http://schemas.microsoft.com/office/drawing/2014/main" val="4055592007"/>
                  </a:ext>
                </a:extLst>
              </a:tr>
              <a:tr h="370840">
                <a:tc>
                  <a:txBody>
                    <a:bodyPr/>
                    <a:lstStyle/>
                    <a:p>
                      <a:pPr algn="ctr"/>
                      <a:r>
                        <a:rPr lang="pt-BR" dirty="0">
                          <a:latin typeface="Cambria" panose="02040503050406030204" pitchFamily="18" charset="0"/>
                          <a:ea typeface="Cambria" panose="02040503050406030204" pitchFamily="18" charset="0"/>
                        </a:rPr>
                        <a:t>COM1, COM2, COM3, COM4, COM5, COM6, COM7, COM8, COM9</a:t>
                      </a:r>
                      <a:endParaRPr lang="en-US" dirty="0">
                        <a:latin typeface="Cambria" panose="02040503050406030204" pitchFamily="18" charset="0"/>
                        <a:ea typeface="Cambria" panose="02040503050406030204" pitchFamily="18" charset="0"/>
                      </a:endParaRPr>
                    </a:p>
                  </a:txBody>
                  <a:tcPr/>
                </a:tc>
                <a:tc>
                  <a:txBody>
                    <a:bodyPr/>
                    <a:lstStyle/>
                    <a:p>
                      <a:pPr algn="ctr"/>
                      <a:r>
                        <a:rPr lang="en-US" dirty="0">
                          <a:latin typeface="Cambria" panose="02040503050406030204" pitchFamily="18" charset="0"/>
                          <a:ea typeface="Cambria" panose="02040503050406030204" pitchFamily="18" charset="0"/>
                        </a:rPr>
                        <a:t>/dev/ttyS0, /dev/ttyS1, /dev/ttyS2… </a:t>
                      </a:r>
                    </a:p>
                  </a:txBody>
                  <a:tcPr/>
                </a:tc>
                <a:extLst>
                  <a:ext uri="{0D108BD9-81ED-4DB2-BD59-A6C34878D82A}">
                    <a16:rowId xmlns:a16="http://schemas.microsoft.com/office/drawing/2014/main" val="3261070598"/>
                  </a:ext>
                </a:extLst>
              </a:tr>
              <a:tr h="370840">
                <a:tc>
                  <a:txBody>
                    <a:bodyPr/>
                    <a:lstStyle/>
                    <a:p>
                      <a:pPr algn="ctr"/>
                      <a:r>
                        <a:rPr lang="en-US" dirty="0">
                          <a:latin typeface="Cambria" panose="02040503050406030204" pitchFamily="18" charset="0"/>
                          <a:ea typeface="Cambria" panose="02040503050406030204" pitchFamily="18" charset="0"/>
                        </a:rPr>
                        <a:t>LPT1, LPT2, LPT3, LPT4, LPT5, LPT6, LPT7, LPT8, LPT9</a:t>
                      </a:r>
                    </a:p>
                  </a:txBody>
                  <a:tcPr/>
                </a:tc>
                <a:tc>
                  <a:txBody>
                    <a:bodyPr/>
                    <a:lstStyle/>
                    <a:p>
                      <a:pPr algn="ctr"/>
                      <a:r>
                        <a:rPr lang="en-US" dirty="0">
                          <a:latin typeface="Cambria" panose="02040503050406030204" pitchFamily="18" charset="0"/>
                          <a:ea typeface="Cambria" panose="02040503050406030204" pitchFamily="18" charset="0"/>
                        </a:rPr>
                        <a:t>/dev/lp0, /dev/lp1, /dev/lp2</a:t>
                      </a:r>
                    </a:p>
                  </a:txBody>
                  <a:tcPr/>
                </a:tc>
                <a:extLst>
                  <a:ext uri="{0D108BD9-81ED-4DB2-BD59-A6C34878D82A}">
                    <a16:rowId xmlns:a16="http://schemas.microsoft.com/office/drawing/2014/main" val="2346616963"/>
                  </a:ext>
                </a:extLst>
              </a:tr>
              <a:tr h="370840">
                <a:tc>
                  <a:txBody>
                    <a:bodyPr/>
                    <a:lstStyle/>
                    <a:p>
                      <a:pPr algn="ctr"/>
                      <a:r>
                        <a:rPr lang="en-US" dirty="0">
                          <a:latin typeface="Cambria" panose="02040503050406030204" pitchFamily="18" charset="0"/>
                          <a:ea typeface="Cambria" panose="02040503050406030204" pitchFamily="18" charset="0"/>
                        </a:rPr>
                        <a:t>CON </a:t>
                      </a:r>
                    </a:p>
                  </a:txBody>
                  <a:tcPr/>
                </a:tc>
                <a:tc>
                  <a:txBody>
                    <a:bodyPr/>
                    <a:lstStyle/>
                    <a:p>
                      <a:pPr algn="ctr"/>
                      <a:r>
                        <a:rPr lang="en-US" dirty="0">
                          <a:latin typeface="Cambria" panose="02040503050406030204" pitchFamily="18" charset="0"/>
                          <a:ea typeface="Cambria" panose="02040503050406030204" pitchFamily="18" charset="0"/>
                        </a:rPr>
                        <a:t>/dev/tty1, /dev/tty2… </a:t>
                      </a:r>
                    </a:p>
                  </a:txBody>
                  <a:tcPr/>
                </a:tc>
                <a:extLst>
                  <a:ext uri="{0D108BD9-81ED-4DB2-BD59-A6C34878D82A}">
                    <a16:rowId xmlns:a16="http://schemas.microsoft.com/office/drawing/2014/main" val="932067449"/>
                  </a:ext>
                </a:extLst>
              </a:tr>
              <a:tr h="370840">
                <a:tc>
                  <a:txBody>
                    <a:bodyPr/>
                    <a:lstStyle/>
                    <a:p>
                      <a:pPr algn="ctr"/>
                      <a:r>
                        <a:rPr lang="en-US" dirty="0">
                          <a:latin typeface="Cambria" panose="02040503050406030204" pitchFamily="18" charset="0"/>
                          <a:ea typeface="Cambria" panose="02040503050406030204" pitchFamily="18" charset="0"/>
                        </a:rPr>
                        <a:t>PRN</a:t>
                      </a:r>
                    </a:p>
                  </a:txBody>
                  <a:tcPr/>
                </a:tc>
                <a:tc>
                  <a:txBody>
                    <a:bodyPr/>
                    <a:lstStyle/>
                    <a:p>
                      <a:pPr algn="ct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419577038"/>
                  </a:ext>
                </a:extLst>
              </a:tr>
              <a:tr h="370840">
                <a:tc>
                  <a:txBody>
                    <a:bodyPr/>
                    <a:lstStyle/>
                    <a:p>
                      <a:pPr algn="ctr"/>
                      <a:r>
                        <a:rPr lang="en-US" dirty="0">
                          <a:latin typeface="Cambria" panose="02040503050406030204" pitchFamily="18" charset="0"/>
                          <a:ea typeface="Cambria" panose="02040503050406030204" pitchFamily="18" charset="0"/>
                        </a:rPr>
                        <a:t>NUL</a:t>
                      </a:r>
                    </a:p>
                  </a:txBody>
                  <a:tcPr/>
                </a:tc>
                <a:tc>
                  <a:txBody>
                    <a:bodyPr/>
                    <a:lstStyle/>
                    <a:p>
                      <a:pPr algn="ctr"/>
                      <a:r>
                        <a:rPr lang="en-US" dirty="0">
                          <a:latin typeface="Cambria" panose="02040503050406030204" pitchFamily="18" charset="0"/>
                          <a:ea typeface="Cambria" panose="02040503050406030204" pitchFamily="18" charset="0"/>
                        </a:rPr>
                        <a:t>/dev/null </a:t>
                      </a:r>
                    </a:p>
                  </a:txBody>
                  <a:tcPr/>
                </a:tc>
                <a:extLst>
                  <a:ext uri="{0D108BD9-81ED-4DB2-BD59-A6C34878D82A}">
                    <a16:rowId xmlns:a16="http://schemas.microsoft.com/office/drawing/2014/main" val="3223421189"/>
                  </a:ext>
                </a:extLst>
              </a:tr>
              <a:tr h="370840">
                <a:tc>
                  <a:txBody>
                    <a:bodyPr/>
                    <a:lstStyle/>
                    <a:p>
                      <a:pPr algn="ctr"/>
                      <a:r>
                        <a:rPr lang="en-US" dirty="0">
                          <a:latin typeface="Cambria" panose="02040503050406030204" pitchFamily="18" charset="0"/>
                          <a:ea typeface="Cambria" panose="02040503050406030204" pitchFamily="18" charset="0"/>
                        </a:rPr>
                        <a:t>AUX</a:t>
                      </a:r>
                    </a:p>
                  </a:txBody>
                  <a:tcPr/>
                </a:tc>
                <a:tc>
                  <a:txBody>
                    <a:bodyPr/>
                    <a:lstStyle/>
                    <a:p>
                      <a:pPr algn="ct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56834088"/>
                  </a:ext>
                </a:extLst>
              </a:tr>
              <a:tr h="370840">
                <a:tc>
                  <a:txBody>
                    <a:bodyPr/>
                    <a:lstStyle/>
                    <a:p>
                      <a:pPr algn="ctr"/>
                      <a:endParaRPr lang="en-US">
                        <a:latin typeface="Cambria" panose="02040503050406030204" pitchFamily="18" charset="0"/>
                        <a:ea typeface="Cambria" panose="02040503050406030204" pitchFamily="18" charset="0"/>
                      </a:endParaRPr>
                    </a:p>
                  </a:txBody>
                  <a:tcPr/>
                </a:tc>
                <a:tc>
                  <a:txBody>
                    <a:bodyPr/>
                    <a:lstStyle/>
                    <a:p>
                      <a:pPr algn="ct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789371264"/>
                  </a:ext>
                </a:extLst>
              </a:tr>
            </a:tbl>
          </a:graphicData>
        </a:graphic>
      </p:graphicFrame>
    </p:spTree>
    <p:extLst>
      <p:ext uri="{BB962C8B-B14F-4D97-AF65-F5344CB8AC3E}">
        <p14:creationId xmlns:p14="http://schemas.microsoft.com/office/powerpoint/2010/main" val="18276158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dirty="0">
                <a:latin typeface="Cambria" panose="02040503050406030204" pitchFamily="18" charset="0"/>
                <a:ea typeface="Cambria" panose="02040503050406030204" pitchFamily="18" charset="0"/>
              </a:rPr>
              <a:t>Пользователи обращаются к файлам по символьным именам. Однако способности человеческой памяти ограничивают количество имен объектов, к которым пользователь может обращаться по имени</a:t>
            </a:r>
          </a:p>
          <a:p>
            <a:pPr marL="0" indent="0">
              <a:buNone/>
            </a:pPr>
            <a:r>
              <a:rPr lang="ru-RU" dirty="0">
                <a:latin typeface="Cambria" panose="02040503050406030204" pitchFamily="18" charset="0"/>
                <a:ea typeface="Cambria" panose="02040503050406030204" pitchFamily="18" charset="0"/>
              </a:rPr>
              <a:t>Иерархическая организация пространства имен позволяет значительно расширить эти границы. Именно поэтому большинство файловых систем имеет иерархическую структуру, в которой уровни создаются за счет того, что каталог более низкого уровня может входить в каталог более высокого уровня</a:t>
            </a:r>
          </a:p>
          <a:p>
            <a:pPr marL="0" indent="0">
              <a:buNone/>
            </a:pPr>
            <a:r>
              <a:rPr lang="ru-RU" dirty="0">
                <a:latin typeface="Cambria" panose="02040503050406030204" pitchFamily="18" charset="0"/>
                <a:ea typeface="Cambria" panose="02040503050406030204" pitchFamily="18" charset="0"/>
              </a:rPr>
              <a:t>При этом частным случаем иерархической структуры является одноуровневая организация, когда все файлы входят в один каталог (а)</a:t>
            </a:r>
          </a:p>
          <a:p>
            <a:pPr marL="0" indent="0">
              <a:buNone/>
            </a:pPr>
            <a:r>
              <a:rPr lang="ru-RU" dirty="0">
                <a:latin typeface="Cambria" panose="02040503050406030204" pitchFamily="18" charset="0"/>
                <a:ea typeface="Cambria" panose="02040503050406030204" pitchFamily="18" charset="0"/>
              </a:rPr>
              <a:t>Граф, описывающий иерархию каталогов, может быть деревом (б) или сетью (в)</a:t>
            </a:r>
          </a:p>
          <a:p>
            <a:pPr marL="0" indent="0">
              <a:buNone/>
            </a:pPr>
            <a:r>
              <a:rPr lang="ru-RU" dirty="0">
                <a:latin typeface="Cambria" panose="02040503050406030204" pitchFamily="18" charset="0"/>
                <a:ea typeface="Cambria" panose="02040503050406030204" pitchFamily="18" charset="0"/>
              </a:rPr>
              <a:t>Каталоги образуют </a:t>
            </a:r>
            <a:r>
              <a:rPr lang="ru-RU" b="1" dirty="0">
                <a:latin typeface="Cambria" panose="02040503050406030204" pitchFamily="18" charset="0"/>
                <a:ea typeface="Cambria" panose="02040503050406030204" pitchFamily="18" charset="0"/>
              </a:rPr>
              <a:t>дерево</a:t>
            </a:r>
            <a:r>
              <a:rPr lang="ru-RU" dirty="0">
                <a:latin typeface="Cambria" panose="02040503050406030204" pitchFamily="18" charset="0"/>
                <a:ea typeface="Cambria" panose="02040503050406030204" pitchFamily="18" charset="0"/>
              </a:rPr>
              <a:t>, если файлу разрешено входить только в один каталог, и </a:t>
            </a:r>
            <a:r>
              <a:rPr lang="ru-RU" b="1" dirty="0">
                <a:latin typeface="Cambria" panose="02040503050406030204" pitchFamily="18" charset="0"/>
                <a:ea typeface="Cambria" panose="02040503050406030204" pitchFamily="18" charset="0"/>
              </a:rPr>
              <a:t>сеть</a:t>
            </a:r>
            <a:r>
              <a:rPr lang="ru-RU" dirty="0">
                <a:latin typeface="Cambria" panose="02040503050406030204" pitchFamily="18" charset="0"/>
                <a:ea typeface="Cambria" panose="02040503050406030204" pitchFamily="18" charset="0"/>
              </a:rPr>
              <a:t>, если файл может входить сразу в несколько каталогов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02838783"/>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Иерархическая структура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784000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5F9587-2BA4-8ABB-59DD-E86ECF3BCB97}"/>
              </a:ext>
            </a:extLst>
          </p:cNvPr>
          <p:cNvPicPr>
            <a:picLocks noChangeAspect="1"/>
          </p:cNvPicPr>
          <p:nvPr/>
        </p:nvPicPr>
        <p:blipFill>
          <a:blip r:embed="rId2"/>
          <a:stretch>
            <a:fillRect/>
          </a:stretch>
        </p:blipFill>
        <p:spPr>
          <a:xfrm>
            <a:off x="3730755" y="0"/>
            <a:ext cx="4730489" cy="6858000"/>
          </a:xfrm>
          <a:prstGeom prst="rect">
            <a:avLst/>
          </a:prstGeom>
        </p:spPr>
      </p:pic>
    </p:spTree>
    <p:extLst>
      <p:ext uri="{BB962C8B-B14F-4D97-AF65-F5344CB8AC3E}">
        <p14:creationId xmlns:p14="http://schemas.microsoft.com/office/powerpoint/2010/main" val="21604447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Например, в MS-DOS и Windows каталоги образуют древовидную структуру, а в Unix – сетевую</a:t>
            </a:r>
          </a:p>
          <a:p>
            <a:pPr marL="0" indent="0">
              <a:buNone/>
            </a:pPr>
            <a:r>
              <a:rPr lang="ru-RU" dirty="0">
                <a:latin typeface="Cambria" panose="02040503050406030204" pitchFamily="18" charset="0"/>
                <a:ea typeface="Cambria" panose="02040503050406030204" pitchFamily="18" charset="0"/>
              </a:rPr>
              <a:t>В древовидной структуре каждый файл является </a:t>
            </a:r>
            <a:r>
              <a:rPr lang="ru-RU" b="1" dirty="0">
                <a:latin typeface="Cambria" panose="02040503050406030204" pitchFamily="18" charset="0"/>
                <a:ea typeface="Cambria" panose="02040503050406030204" pitchFamily="18" charset="0"/>
              </a:rPr>
              <a:t>листом</a:t>
            </a:r>
            <a:r>
              <a:rPr lang="ru-RU" dirty="0">
                <a:latin typeface="Cambria" panose="02040503050406030204" pitchFamily="18" charset="0"/>
                <a:ea typeface="Cambria" panose="02040503050406030204" pitchFamily="18" charset="0"/>
              </a:rPr>
              <a:t>. Каталог самого верхнего уровня называется </a:t>
            </a:r>
            <a:r>
              <a:rPr lang="ru-RU" b="1" dirty="0">
                <a:latin typeface="Cambria" panose="02040503050406030204" pitchFamily="18" charset="0"/>
                <a:ea typeface="Cambria" panose="02040503050406030204" pitchFamily="18" charset="0"/>
              </a:rPr>
              <a:t>корневым каталогом</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корнем</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root</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При такой организации пользователь освобожден от необходимости помнить имена всех файлов, ему достаточно примерно представлять, к какой группе может быть отнесен тот или иной файл, чтобы путем последовательного просмотра каталогов найти его</a:t>
            </a:r>
          </a:p>
          <a:p>
            <a:pPr marL="0" indent="0">
              <a:buNone/>
            </a:pPr>
            <a:r>
              <a:rPr lang="ru-RU" dirty="0">
                <a:latin typeface="Cambria" panose="02040503050406030204" pitchFamily="18" charset="0"/>
                <a:ea typeface="Cambria" panose="02040503050406030204" pitchFamily="18" charset="0"/>
              </a:rPr>
              <a:t>Иерархическая структура удобна для многопользовательской работы: каждый пользователь со своими файлами локализуется в своем каталоге или поддереве каталогов, и вместе с тем все файлы в системе логически связаны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Иерархическая структура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983543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Все типы файлов имеют символьные имена.</a:t>
            </a:r>
          </a:p>
          <a:p>
            <a:pPr marL="0" indent="0">
              <a:buNone/>
            </a:pPr>
            <a:r>
              <a:rPr lang="ru-RU" dirty="0">
                <a:latin typeface="Cambria" panose="02040503050406030204" pitchFamily="18" charset="0"/>
                <a:ea typeface="Cambria" panose="02040503050406030204" pitchFamily="18" charset="0"/>
              </a:rPr>
              <a:t>В иерархически организованных файловых системах обычно используются следующие типы имен файлов: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Простое (короткое) символьное имя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Полное (составное) символьное имя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Относительное символьное имя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Уникальное имя (числовой идентификатор)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46310920"/>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461853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Простое</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короткое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символьное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имя</a:t>
            </a:r>
            <a:r>
              <a:rPr lang="ru-RU" dirty="0">
                <a:latin typeface="Cambria" panose="02040503050406030204" pitchFamily="18" charset="0"/>
                <a:ea typeface="Cambria" panose="02040503050406030204" pitchFamily="18" charset="0"/>
              </a:rPr>
              <a:t> идентифицирует файл в пределах одного каталога</a:t>
            </a:r>
          </a:p>
          <a:p>
            <a:pPr marL="0" indent="0">
              <a:buNone/>
            </a:pPr>
            <a:r>
              <a:rPr lang="ru-RU" dirty="0">
                <a:latin typeface="Cambria" panose="02040503050406030204" pitchFamily="18" charset="0"/>
                <a:ea typeface="Cambria" panose="02040503050406030204" pitchFamily="18" charset="0"/>
              </a:rPr>
              <a:t>Простые имена присваивают файлам пользователи и программисты, при этом они должны учитывать ограничения ОС как на номенклатуру символов, так и на длину имени</a:t>
            </a:r>
          </a:p>
          <a:p>
            <a:pPr marL="0" indent="0">
              <a:buNone/>
            </a:pPr>
            <a:r>
              <a:rPr lang="ru-RU" dirty="0">
                <a:latin typeface="Cambria" panose="02040503050406030204" pitchFamily="18" charset="0"/>
                <a:ea typeface="Cambria" panose="02040503050406030204" pitchFamily="18" charset="0"/>
              </a:rPr>
              <a:t>До сравнительно недавнего времени эти границы были весьма узкими. Так, в известной файловой системе FAT MS-DOS длина имен ограничивалась схемой 8.3 (8 символов – собственно имя, 3 символа – расширение имени), а в файловой системе s5, поддерживаемой многими версиями ОС Unix, простое символьное имя не могло содержать более 14 символов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0217276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Однако пользователю гораздо удобнее работать с длинными именами, поскольку они позволяют давать файлам легко запоминающиеся названия, ясно говорящие о том, что содержится в том или ином файле</a:t>
            </a:r>
          </a:p>
          <a:p>
            <a:pPr marL="0" indent="0">
              <a:buNone/>
            </a:pPr>
            <a:r>
              <a:rPr lang="ru-RU" dirty="0">
                <a:latin typeface="Cambria" panose="02040503050406030204" pitchFamily="18" charset="0"/>
                <a:ea typeface="Cambria" panose="02040503050406030204" pitchFamily="18" charset="0"/>
              </a:rPr>
              <a:t>Поэтому современные файловые системы, а также усовершенствованные варианты уже существовавших файловых систем, как правило, поддерживают длинные простые символьные имена файлов. Например, в файловых системах NTFS и FAT32, входящих в состав ОС семейства Windows, имя файла может содержать до 255 символов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054804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Примеры простых имен файлов и каталогов:</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quest_ul.doc</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task-entran.exe</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приложение к </a:t>
            </a:r>
            <a:r>
              <a:rPr lang="en-US" dirty="0">
                <a:latin typeface="Cambria" panose="02040503050406030204" pitchFamily="18" charset="0"/>
                <a:ea typeface="Cambria" panose="02040503050406030204" pitchFamily="18" charset="0"/>
              </a:rPr>
              <a:t>CD 254L </a:t>
            </a:r>
            <a:r>
              <a:rPr lang="ru-RU" dirty="0">
                <a:latin typeface="Cambria" panose="02040503050406030204" pitchFamily="18" charset="0"/>
                <a:ea typeface="Cambria" panose="02040503050406030204" pitchFamily="18" charset="0"/>
              </a:rPr>
              <a:t>на русском языке.</a:t>
            </a:r>
            <a:r>
              <a:rPr lang="en-US" dirty="0">
                <a:latin typeface="Cambria" panose="02040503050406030204" pitchFamily="18" charset="0"/>
                <a:ea typeface="Cambria" panose="02040503050406030204" pitchFamily="18" charset="0"/>
              </a:rPr>
              <a:t>doc</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installable filesystem manager.doc</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иерархических файловых системах разным файлам разрешено иметь одинаковые простые символьные имена при условии, что они принадлежат разным каталогам</a:t>
            </a:r>
          </a:p>
          <a:p>
            <a:pPr marL="0" indent="0">
              <a:buNone/>
            </a:pPr>
            <a:r>
              <a:rPr lang="ru-RU" dirty="0">
                <a:latin typeface="Cambria" panose="02040503050406030204" pitchFamily="18" charset="0"/>
                <a:ea typeface="Cambria" panose="02040503050406030204" pitchFamily="18" charset="0"/>
              </a:rPr>
              <a:t>То есть здесь работает схема </a:t>
            </a:r>
            <a:r>
              <a:rPr lang="ru-RU" b="1" i="1" dirty="0">
                <a:latin typeface="Cambria" panose="02040503050406030204" pitchFamily="18" charset="0"/>
                <a:ea typeface="Cambria" panose="02040503050406030204" pitchFamily="18" charset="0"/>
              </a:rPr>
              <a:t>много файлов – одно простое имя</a:t>
            </a:r>
            <a:r>
              <a:rPr lang="ru-RU" dirty="0">
                <a:latin typeface="Cambria" panose="02040503050406030204" pitchFamily="18" charset="0"/>
                <a:ea typeface="Cambria" panose="02040503050406030204" pitchFamily="18" charset="0"/>
              </a:rPr>
              <a:t>. Для однозначной идентификации файла в таких системах используется так называемое </a:t>
            </a:r>
            <a:r>
              <a:rPr lang="ru-RU" b="1" dirty="0">
                <a:latin typeface="Cambria" panose="02040503050406030204" pitchFamily="18" charset="0"/>
                <a:ea typeface="Cambria" panose="02040503050406030204" pitchFamily="18" charset="0"/>
              </a:rPr>
              <a:t>полное имя</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5687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Полное имя </a:t>
            </a:r>
            <a:r>
              <a:rPr lang="ru-RU" dirty="0">
                <a:latin typeface="Cambria" panose="02040503050406030204" pitchFamily="18" charset="0"/>
                <a:ea typeface="Cambria" panose="02040503050406030204" pitchFamily="18" charset="0"/>
              </a:rPr>
              <a:t>представляет собой цепочку простых символьных имен всех каталогов, через которые проходит путь от корня до данного файла</a:t>
            </a:r>
          </a:p>
          <a:p>
            <a:pPr marL="0" indent="0">
              <a:buNone/>
            </a:pPr>
            <a:r>
              <a:rPr lang="ru-RU" dirty="0">
                <a:latin typeface="Cambria" panose="02040503050406030204" pitchFamily="18" charset="0"/>
                <a:ea typeface="Cambria" panose="02040503050406030204" pitchFamily="18" charset="0"/>
              </a:rPr>
              <a:t>Таким образом, полное имя является </a:t>
            </a:r>
            <a:r>
              <a:rPr lang="ru-RU" b="1" dirty="0">
                <a:latin typeface="Cambria" panose="02040503050406030204" pitchFamily="18" charset="0"/>
                <a:ea typeface="Cambria" panose="02040503050406030204" pitchFamily="18" charset="0"/>
              </a:rPr>
              <a:t>составным именем</a:t>
            </a:r>
            <a:r>
              <a:rPr lang="ru-RU" dirty="0">
                <a:latin typeface="Cambria" panose="02040503050406030204" pitchFamily="18" charset="0"/>
                <a:ea typeface="Cambria" panose="02040503050406030204" pitchFamily="18" charset="0"/>
              </a:rPr>
              <a:t>, в котором простые имена отделены друг от друга принятым в ОС разделителем</a:t>
            </a:r>
          </a:p>
          <a:p>
            <a:pPr marL="0" indent="0">
              <a:buNone/>
            </a:pPr>
            <a:r>
              <a:rPr lang="ru-RU" dirty="0">
                <a:latin typeface="Cambria" panose="02040503050406030204" pitchFamily="18" charset="0"/>
                <a:ea typeface="Cambria" panose="02040503050406030204" pitchFamily="18" charset="0"/>
              </a:rPr>
              <a:t>Часто в качестве разделителя используется прямой или обратный слэш, при этом принято не указывать имя корневого каталога. На </a:t>
            </a:r>
            <a:r>
              <a:rPr lang="ru-RU" dirty="0">
                <a:latin typeface="Cambria" panose="02040503050406030204" pitchFamily="18" charset="0"/>
                <a:ea typeface="Cambria" panose="02040503050406030204" pitchFamily="18" charset="0"/>
                <a:hlinkClick r:id="rId2" action="ppaction://hlinksldjump">
                  <a:extLst>
                    <a:ext uri="{A12FA001-AC4F-418D-AE19-62706E023703}">
                      <ahyp:hlinkClr xmlns:ahyp="http://schemas.microsoft.com/office/drawing/2018/hyperlinkcolor" val="tx"/>
                    </a:ext>
                  </a:extLst>
                </a:hlinkClick>
              </a:rPr>
              <a:t>рисунке</a:t>
            </a:r>
            <a:r>
              <a:rPr lang="ru-RU" dirty="0">
                <a:latin typeface="Cambria" panose="02040503050406030204" pitchFamily="18" charset="0"/>
                <a:ea typeface="Cambria" panose="02040503050406030204" pitchFamily="18" charset="0"/>
              </a:rPr>
              <a:t> два файла имеют простое имя Main.exe, однако их составные имена /</a:t>
            </a:r>
            <a:r>
              <a:rPr lang="ru-RU" dirty="0" err="1">
                <a:latin typeface="Cambria" panose="02040503050406030204" pitchFamily="18" charset="0"/>
                <a:ea typeface="Cambria" panose="02040503050406030204" pitchFamily="18" charset="0"/>
              </a:rPr>
              <a:t>depart</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Maiп.ехе</a:t>
            </a:r>
            <a:r>
              <a:rPr lang="ru-RU" dirty="0">
                <a:latin typeface="Cambria" panose="02040503050406030204" pitchFamily="18" charset="0"/>
                <a:ea typeface="Cambria" panose="02040503050406030204" pitchFamily="18" charset="0"/>
              </a:rPr>
              <a:t> и /</a:t>
            </a:r>
            <a:r>
              <a:rPr lang="ru-RU" dirty="0" err="1">
                <a:latin typeface="Cambria" panose="02040503050406030204" pitchFamily="18" charset="0"/>
                <a:ea typeface="Cambria" panose="02040503050406030204" pitchFamily="18" charset="0"/>
              </a:rPr>
              <a:t>user</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Anna</a:t>
            </a:r>
            <a:r>
              <a:rPr lang="ru-RU" dirty="0">
                <a:latin typeface="Cambria" panose="02040503050406030204" pitchFamily="18" charset="0"/>
                <a:ea typeface="Cambria" panose="02040503050406030204" pitchFamily="18" charset="0"/>
              </a:rPr>
              <a:t>/Main.exe различаются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045400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древовидной файловой системе между файлом и его полным именем имеется взаимно однозначное соответствие </a:t>
            </a:r>
            <a:r>
              <a:rPr lang="ru-RU" b="1" i="1" dirty="0">
                <a:latin typeface="Cambria" panose="02040503050406030204" pitchFamily="18" charset="0"/>
                <a:ea typeface="Cambria" panose="02040503050406030204" pitchFamily="18" charset="0"/>
              </a:rPr>
              <a:t>один файл – одно полное имя</a:t>
            </a:r>
          </a:p>
          <a:p>
            <a:pPr marL="0" indent="0">
              <a:buNone/>
            </a:pPr>
            <a:r>
              <a:rPr lang="ru-RU" dirty="0">
                <a:latin typeface="Cambria" panose="02040503050406030204" pitchFamily="18" charset="0"/>
                <a:ea typeface="Cambria" panose="02040503050406030204" pitchFamily="18" charset="0"/>
              </a:rPr>
              <a:t>В файловых системах имеющих сетевую структуру, файл может входить в несколько каталогов, а значит, иметь несколько полных имен, здесь справедливо соответствие </a:t>
            </a:r>
            <a:r>
              <a:rPr lang="ru-RU" b="1" i="1" dirty="0">
                <a:latin typeface="Cambria" panose="02040503050406030204" pitchFamily="18" charset="0"/>
                <a:ea typeface="Cambria" panose="02040503050406030204" pitchFamily="18" charset="0"/>
              </a:rPr>
              <a:t>один файл –много полных имен</a:t>
            </a:r>
          </a:p>
          <a:p>
            <a:pPr marL="0" indent="0">
              <a:buNone/>
            </a:pPr>
            <a:r>
              <a:rPr lang="ru-RU" dirty="0">
                <a:latin typeface="Cambria" panose="02040503050406030204" pitchFamily="18" charset="0"/>
                <a:ea typeface="Cambria" panose="02040503050406030204" pitchFamily="18" charset="0"/>
              </a:rPr>
              <a:t>В обоих случаях файл однозначно идентифицируется полным именем. Файл может быть идентифицирован также </a:t>
            </a:r>
            <a:r>
              <a:rPr lang="ru-RU" b="1" dirty="0">
                <a:latin typeface="Cambria" panose="02040503050406030204" pitchFamily="18" charset="0"/>
                <a:ea typeface="Cambria" panose="02040503050406030204" pitchFamily="18" charset="0"/>
              </a:rPr>
              <a:t>относительным именем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441573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Относительное имя </a:t>
            </a:r>
            <a:r>
              <a:rPr lang="ru-RU" dirty="0">
                <a:latin typeface="Cambria" panose="02040503050406030204" pitchFamily="18" charset="0"/>
                <a:ea typeface="Cambria" panose="02040503050406030204" pitchFamily="18" charset="0"/>
              </a:rPr>
              <a:t>файла определяется через понятие «текущий каталог»</a:t>
            </a:r>
          </a:p>
          <a:p>
            <a:pPr marL="0" indent="0">
              <a:buNone/>
            </a:pPr>
            <a:r>
              <a:rPr lang="ru-RU" dirty="0">
                <a:latin typeface="Cambria" panose="02040503050406030204" pitchFamily="18" charset="0"/>
                <a:ea typeface="Cambria" panose="02040503050406030204" pitchFamily="18" charset="0"/>
              </a:rPr>
              <a:t>Для каждого пользователя в каждый момент времени один из каталогов файловой системы является текущим, причем этот каталог выбирается самим пользователем по команде ОС</a:t>
            </a:r>
          </a:p>
          <a:p>
            <a:pPr marL="0" indent="0">
              <a:buNone/>
            </a:pPr>
            <a:r>
              <a:rPr lang="ru-RU" dirty="0">
                <a:latin typeface="Cambria" panose="02040503050406030204" pitchFamily="18" charset="0"/>
                <a:ea typeface="Cambria" panose="02040503050406030204" pitchFamily="18" charset="0"/>
              </a:rPr>
              <a:t>Файловая система фиксирует имя текущего каталога, чтобы затем использовать его как дополнение к относительным именам для образования полного имени файла. При применении относительных имен пользователь идентифицирует файл цепочкой имен каталогов, через которые проходят маршрут от текущего каталога до данного файла</a:t>
            </a:r>
          </a:p>
          <a:p>
            <a:pPr marL="0" indent="0">
              <a:buNone/>
            </a:pPr>
            <a:r>
              <a:rPr lang="ru-RU" dirty="0">
                <a:latin typeface="Cambria" panose="02040503050406030204" pitchFamily="18" charset="0"/>
                <a:ea typeface="Cambria" panose="02040503050406030204" pitchFamily="18" charset="0"/>
              </a:rPr>
              <a:t>Например, если текущим каталогом является каталог /</a:t>
            </a:r>
            <a:r>
              <a:rPr lang="ru-RU" dirty="0" err="1">
                <a:latin typeface="Cambria" panose="02040503050406030204" pitchFamily="18" charset="0"/>
                <a:ea typeface="Cambria" panose="02040503050406030204" pitchFamily="18" charset="0"/>
              </a:rPr>
              <a:t>user</a:t>
            </a:r>
            <a:r>
              <a:rPr lang="ru-RU" dirty="0">
                <a:latin typeface="Cambria" panose="02040503050406030204" pitchFamily="18" charset="0"/>
                <a:ea typeface="Cambria" panose="02040503050406030204" pitchFamily="18" charset="0"/>
              </a:rPr>
              <a:t>, то относительное имя файла /</a:t>
            </a:r>
            <a:r>
              <a:rPr lang="ru-RU" dirty="0" err="1">
                <a:latin typeface="Cambria" panose="02040503050406030204" pitchFamily="18" charset="0"/>
                <a:ea typeface="Cambria" panose="02040503050406030204" pitchFamily="18" charset="0"/>
              </a:rPr>
              <a:t>user</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Anna</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Main.ехе</a:t>
            </a:r>
            <a:r>
              <a:rPr lang="ru-RU" dirty="0">
                <a:latin typeface="Cambria" panose="02040503050406030204" pitchFamily="18" charset="0"/>
                <a:ea typeface="Cambria" panose="02040503050406030204" pitchFamily="18" charset="0"/>
              </a:rPr>
              <a:t> выглядит следующим образом: </a:t>
            </a:r>
            <a:r>
              <a:rPr lang="ru-RU" dirty="0" err="1">
                <a:latin typeface="Cambria" panose="02040503050406030204" pitchFamily="18" charset="0"/>
                <a:ea typeface="Cambria" panose="02040503050406030204" pitchFamily="18" charset="0"/>
              </a:rPr>
              <a:t>Anna</a:t>
            </a:r>
            <a:r>
              <a:rPr lang="ru-RU" dirty="0">
                <a:latin typeface="Cambria" panose="02040503050406030204" pitchFamily="18" charset="0"/>
                <a:ea typeface="Cambria" panose="02040503050406030204" pitchFamily="18" charset="0"/>
              </a:rPr>
              <a:t>/Main.exe</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125418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В некоторых операционных системах разрешено присваивать одному и тому же файлу несколько простых имен, которые можно интерпретировать как псевдонимы. В этом случае, так же как в системе с сетевой структурой, устанавливается соответствие </a:t>
            </a:r>
            <a:r>
              <a:rPr lang="ru-RU" b="1" i="1" dirty="0">
                <a:latin typeface="Cambria" panose="02040503050406030204" pitchFamily="18" charset="0"/>
                <a:ea typeface="Cambria" panose="02040503050406030204" pitchFamily="18" charset="0"/>
              </a:rPr>
              <a:t>один файл – много полных имен</a:t>
            </a:r>
            <a:r>
              <a:rPr lang="ru-RU" dirty="0">
                <a:latin typeface="Cambria" panose="02040503050406030204" pitchFamily="18" charset="0"/>
                <a:ea typeface="Cambria" panose="02040503050406030204" pitchFamily="18" charset="0"/>
              </a:rPr>
              <a:t>, так как каждому простому имени файла соответствует, по крайней мере, одно полное имя.</a:t>
            </a:r>
          </a:p>
          <a:p>
            <a:pPr marL="0" indent="0">
              <a:buNone/>
            </a:pPr>
            <a:r>
              <a:rPr lang="ru-RU" b="1" dirty="0">
                <a:latin typeface="Cambria" panose="02040503050406030204" pitchFamily="18" charset="0"/>
                <a:ea typeface="Cambria" panose="02040503050406030204" pitchFamily="18" charset="0"/>
              </a:rPr>
              <a:t>Символьные имена </a:t>
            </a:r>
            <a:r>
              <a:rPr lang="ru-RU" dirty="0">
                <a:latin typeface="Cambria" panose="02040503050406030204" pitchFamily="18" charset="0"/>
                <a:ea typeface="Cambria" panose="02040503050406030204" pitchFamily="18" charset="0"/>
              </a:rPr>
              <a:t>удобны для пользователя, но не для операционной системы. Для своих внутренних целей ОС присваивает файлу </a:t>
            </a:r>
            <a:r>
              <a:rPr lang="ru-RU" b="1" dirty="0">
                <a:latin typeface="Cambria" panose="02040503050406030204" pitchFamily="18" charset="0"/>
                <a:ea typeface="Cambria" panose="02040503050406030204" pitchFamily="18" charset="0"/>
              </a:rPr>
              <a:t>уникальное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имя</a:t>
            </a:r>
            <a:r>
              <a:rPr lang="ru-RU" dirty="0">
                <a:latin typeface="Cambria" panose="02040503050406030204" pitchFamily="18" charset="0"/>
                <a:ea typeface="Cambria" panose="02040503050406030204" pitchFamily="18" charset="0"/>
              </a:rPr>
              <a:t>, так что справедливо соотношение </a:t>
            </a:r>
            <a:r>
              <a:rPr lang="ru-RU" b="1" i="1" dirty="0">
                <a:latin typeface="Cambria" panose="02040503050406030204" pitchFamily="18" charset="0"/>
                <a:ea typeface="Cambria" panose="02040503050406030204" pitchFamily="18" charset="0"/>
              </a:rPr>
              <a:t>один файл – одно уникальное имя</a:t>
            </a:r>
          </a:p>
          <a:p>
            <a:pPr marL="0" indent="0">
              <a:buNone/>
            </a:pPr>
            <a:r>
              <a:rPr lang="ru-RU" dirty="0">
                <a:latin typeface="Cambria" panose="02040503050406030204" pitchFamily="18" charset="0"/>
                <a:ea typeface="Cambria" panose="02040503050406030204" pitchFamily="18" charset="0"/>
              </a:rPr>
              <a:t>Уникальное имя существует наряду с одним или несколькими символьными именами, присваиваемыми файлу пользователями или приложениями. Уникальное имя представляет собой числовой идентификатор и предназначено только для использования операционной системой. Примером такого уникального имени файла является </a:t>
            </a:r>
            <a:r>
              <a:rPr lang="ru-RU" b="1" dirty="0">
                <a:latin typeface="Cambria" panose="02040503050406030204" pitchFamily="18" charset="0"/>
                <a:ea typeface="Cambria" panose="02040503050406030204" pitchFamily="18" charset="0"/>
              </a:rPr>
              <a:t>номер индексного дескриптора (</a:t>
            </a:r>
            <a:r>
              <a:rPr lang="en-US" b="1" dirty="0" err="1">
                <a:latin typeface="Cambria" panose="02040503050406030204" pitchFamily="18" charset="0"/>
                <a:ea typeface="Cambria" panose="02040503050406030204" pitchFamily="18" charset="0"/>
              </a:rPr>
              <a:t>inode</a:t>
            </a:r>
            <a:r>
              <a:rPr lang="en-US"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системе Unix</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9400431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общем случае вычислительная система может иметь несколько дисковых устройств. Даже типичный персональный компьютер обычно имеет один накопитель на жестком диске, один накопитель на гибких дисках и накопитель для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компакт-дисков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Мощные же компьютеры, как правило, оснащены большим количеством дисковых накопителей, на которые устанавливаются пакеты дисков</a:t>
            </a:r>
          </a:p>
          <a:p>
            <a:pPr marL="0" indent="0">
              <a:buNone/>
            </a:pPr>
            <a:r>
              <a:rPr lang="ru-RU" dirty="0">
                <a:latin typeface="Cambria" panose="02040503050406030204" pitchFamily="18" charset="0"/>
                <a:ea typeface="Cambria" panose="02040503050406030204" pitchFamily="18" charset="0"/>
              </a:rPr>
              <a:t>Более того, даже одно физическое устройство с помощью средств операционной системы может быть представлено в виде нескольких логических устройств, в частности, путем разбиения дискового пространства на разделы</a:t>
            </a:r>
          </a:p>
          <a:p>
            <a:pPr marL="0" indent="0">
              <a:buNone/>
            </a:pPr>
            <a:r>
              <a:rPr lang="ru-RU" dirty="0">
                <a:latin typeface="Cambria" panose="02040503050406030204" pitchFamily="18" charset="0"/>
                <a:ea typeface="Cambria" panose="02040503050406030204" pitchFamily="18" charset="0"/>
              </a:rPr>
              <a:t>Возникает вопрос, каким образом организовать хранение файлов в системе,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имеющей несколько устройств внешней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6928014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Монтирование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496464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Первое решение состоит в том, что на каждом из устройств размещается автономная файловая система, то есть файлы, находящиеся на этом устройстве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описываются деревом каталогов, никак не связанным с деревьями каталогов на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других устройствах. В таком случае для однозначной идентификации файла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пользователь наряду с составным символьным именем файла должен указывать</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идентификатор логического устройства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Примером такого автономного существования файловых систем является операционная система MS-DOS, в которой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полное имя файла включает буквенный идентификатор логического диска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при обращении к файлу, расположенному на диске А, пользователь должен указать имя этого диска: A:\privat\letter\uni\letl.doc1</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Монтирование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5150273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Другим вариантом является такая организация хранения файлов, при которой пользователю предоставляется возможность объединять файловые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системы, находящиеся на разных устройствах, в единую файловую систему,</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описываемую единым деревом каталогов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Такая операция называется </a:t>
            </a:r>
            <a:r>
              <a:rPr lang="ru-RU" b="1" dirty="0">
                <a:latin typeface="Cambria" panose="02040503050406030204" pitchFamily="18" charset="0"/>
                <a:ea typeface="Cambria" panose="02040503050406030204" pitchFamily="18" charset="0"/>
              </a:rPr>
              <a:t>монтированием</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Рассмотрим, как осуществляется эта операция на примере ОС Unix</a:t>
            </a:r>
          </a:p>
          <a:p>
            <a:pPr marL="0" indent="0">
              <a:buNone/>
            </a:pPr>
            <a:r>
              <a:rPr lang="ru-RU" dirty="0">
                <a:latin typeface="Cambria" panose="02040503050406030204" pitchFamily="18" charset="0"/>
                <a:ea typeface="Cambria" panose="02040503050406030204" pitchFamily="18" charset="0"/>
              </a:rPr>
              <a:t>Среди всех имеющихся в системе логических дисковых устройств операционная система выделяет одно устройство, называемое системным</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Пусть имеются две файловые системы, расположенные на разных логических дисках,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причем один из дисков является системным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Монтирование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4145272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9F29AA-7562-5503-80E4-CCAA892D66DF}"/>
              </a:ext>
            </a:extLst>
          </p:cNvPr>
          <p:cNvPicPr>
            <a:picLocks noChangeAspect="1"/>
          </p:cNvPicPr>
          <p:nvPr/>
        </p:nvPicPr>
        <p:blipFill>
          <a:blip r:embed="rId2"/>
          <a:stretch>
            <a:fillRect/>
          </a:stretch>
        </p:blipFill>
        <p:spPr>
          <a:xfrm>
            <a:off x="2775980" y="0"/>
            <a:ext cx="6640039" cy="6858000"/>
          </a:xfrm>
          <a:prstGeom prst="rect">
            <a:avLst/>
          </a:prstGeom>
        </p:spPr>
      </p:pic>
    </p:spTree>
    <p:extLst>
      <p:ext uri="{BB962C8B-B14F-4D97-AF65-F5344CB8AC3E}">
        <p14:creationId xmlns:p14="http://schemas.microsoft.com/office/powerpoint/2010/main" val="17134513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Файловая система, расположенная на системном диске, назначается </a:t>
            </a:r>
            <a:r>
              <a:rPr lang="ru-RU" b="1" dirty="0">
                <a:latin typeface="Cambria" panose="02040503050406030204" pitchFamily="18" charset="0"/>
                <a:ea typeface="Cambria" panose="02040503050406030204" pitchFamily="18" charset="0"/>
              </a:rPr>
              <a:t>корневой</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Для связи иерархий файлов в корневой файловой системе выбирается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некоторый существующий каталог, в данном примере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каталог </a:t>
            </a:r>
            <a:r>
              <a:rPr lang="ru-RU" dirty="0" err="1">
                <a:latin typeface="Cambria" panose="02040503050406030204" pitchFamily="18" charset="0"/>
                <a:ea typeface="Cambria" panose="02040503050406030204" pitchFamily="18" charset="0"/>
              </a:rPr>
              <a:t>man</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После выполнения монтирования выбранный каталог </a:t>
            </a:r>
            <a:r>
              <a:rPr lang="ru-RU" dirty="0" err="1">
                <a:latin typeface="Cambria" panose="02040503050406030204" pitchFamily="18" charset="0"/>
                <a:ea typeface="Cambria" panose="02040503050406030204" pitchFamily="18" charset="0"/>
              </a:rPr>
              <a:t>man</a:t>
            </a:r>
            <a:r>
              <a:rPr lang="ru-RU" dirty="0">
                <a:latin typeface="Cambria" panose="02040503050406030204" pitchFamily="18" charset="0"/>
                <a:ea typeface="Cambria" panose="02040503050406030204" pitchFamily="18" charset="0"/>
              </a:rPr>
              <a:t> становится корневым каталогом второй файловой системы. </a:t>
            </a:r>
          </a:p>
          <a:p>
            <a:pPr marL="0" indent="0">
              <a:buNone/>
            </a:pPr>
            <a:r>
              <a:rPr lang="ru-RU" dirty="0">
                <a:latin typeface="Cambria" panose="02040503050406030204" pitchFamily="18" charset="0"/>
                <a:ea typeface="Cambria" panose="02040503050406030204" pitchFamily="18" charset="0"/>
              </a:rPr>
              <a:t>Через этот каталог монтируемая файловая система подсоединяется как поддерево к общему дереву</a:t>
            </a:r>
          </a:p>
          <a:p>
            <a:pPr marL="0" indent="0">
              <a:buNone/>
            </a:pPr>
            <a:r>
              <a:rPr lang="ru-RU" dirty="0">
                <a:latin typeface="Cambria" panose="02040503050406030204" pitchFamily="18" charset="0"/>
                <a:ea typeface="Cambria" panose="02040503050406030204" pitchFamily="18" charset="0"/>
              </a:rPr>
              <a:t>После монтирования общей файловой системы для пользователя нет логической разницы между корневой и смонтированной файловыми системами, в частности, именование файлов производится так же, как если бы система с самого начала была единой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Монтирование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862011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9F29AA-7562-5503-80E4-CCAA892D66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75980" y="1011964"/>
            <a:ext cx="6640039" cy="4834072"/>
          </a:xfrm>
          <a:prstGeom prst="rect">
            <a:avLst/>
          </a:prstGeom>
        </p:spPr>
      </p:pic>
    </p:spTree>
    <p:extLst>
      <p:ext uri="{BB962C8B-B14F-4D97-AF65-F5344CB8AC3E}">
        <p14:creationId xmlns:p14="http://schemas.microsoft.com/office/powerpoint/2010/main" val="19266832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1553309"/>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Понятие «файл» включает не только хранимые им данные и имя, но и атрибуты. </a:t>
            </a:r>
            <a:r>
              <a:rPr lang="ru-RU" b="1" dirty="0">
                <a:latin typeface="Cambria" panose="02040503050406030204" pitchFamily="18" charset="0"/>
                <a:ea typeface="Cambria" panose="02040503050406030204" pitchFamily="18" charset="0"/>
              </a:rPr>
              <a:t>Атрибуты</a:t>
            </a:r>
            <a:r>
              <a:rPr lang="ru-RU" dirty="0">
                <a:latin typeface="Cambria" panose="02040503050406030204" pitchFamily="18" charset="0"/>
                <a:ea typeface="Cambria" panose="02040503050406030204" pitchFamily="18" charset="0"/>
              </a:rPr>
              <a:t> – это информация, описывающая свойства файла. Примеры возможных атрибутов 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3517108"/>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Объект 2">
            <a:extLst>
              <a:ext uri="{FF2B5EF4-FFF2-40B4-BE49-F238E27FC236}">
                <a16:creationId xmlns:a16="http://schemas.microsoft.com/office/drawing/2014/main" id="{CDF42AF5-3520-278A-8E3A-FF13DCE0EEBE}"/>
              </a:ext>
            </a:extLst>
          </p:cNvPr>
          <p:cNvSpPr txBox="1">
            <a:spLocks/>
          </p:cNvSpPr>
          <p:nvPr/>
        </p:nvSpPr>
        <p:spPr>
          <a:xfrm>
            <a:off x="879348" y="3048000"/>
            <a:ext cx="10474453" cy="3444872"/>
          </a:xfrm>
          <a:prstGeom prst="rect">
            <a:avLst/>
          </a:prstGeom>
        </p:spPr>
        <p:txBody>
          <a:bodyPr vert="horz" wrap="square" lIns="91440" tIns="45720" rIns="91440" bIns="45720" numCol="2"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Тип файла (обычный файл, каталог, специальный файл и т. п.)</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Владелец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Создатель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Пароль для доступа к файлу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Информация о разрешенных операциях доступа к файлу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Времена создания, последнего доступа и последнего изменения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Текущий размер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Максимальный размер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«только для чтения»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«скрытый файл»</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«системный файл»</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«архивный файл»</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«двоичный/символьный»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«временный» (удалить после завершения процесса)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блокировки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Длина записи в файле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Указатель на ключевое поле в записи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Длина ключа</a:t>
            </a:r>
          </a:p>
        </p:txBody>
      </p:sp>
    </p:spTree>
    <p:extLst>
      <p:ext uri="{BB962C8B-B14F-4D97-AF65-F5344CB8AC3E}">
        <p14:creationId xmlns:p14="http://schemas.microsoft.com/office/powerpoint/2010/main" val="235646613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Набор атрибутов файла определяется спецификой файловой системы: в файловых системах разного типа для характеристики файлов могут использоваться разные наборы атрибутов</a:t>
            </a:r>
          </a:p>
          <a:p>
            <a:pPr marL="0" indent="0">
              <a:buNone/>
            </a:pPr>
            <a:r>
              <a:rPr lang="ru-RU" dirty="0">
                <a:latin typeface="Cambria" panose="02040503050406030204" pitchFamily="18" charset="0"/>
                <a:ea typeface="Cambria" panose="02040503050406030204" pitchFamily="18" charset="0"/>
              </a:rPr>
              <a:t>Например, в файловых системах, поддерживающих неструктурированные файлы, нет необходимости в трех последних атрибутах из приведенного списка, поскольку они связанны со структуризацией файла</a:t>
            </a:r>
          </a:p>
          <a:p>
            <a:pPr marL="0" indent="0">
              <a:buNone/>
            </a:pPr>
            <a:r>
              <a:rPr lang="ru-RU" dirty="0">
                <a:latin typeface="Cambria" panose="02040503050406030204" pitchFamily="18" charset="0"/>
                <a:ea typeface="Cambria" panose="02040503050406030204" pitchFamily="18" charset="0"/>
              </a:rPr>
              <a:t>В однопользовательской ОС в наборе атрибутов будут отсутствовать атрибуты, имеющие отношение к пользователям и защите, такие как владелец файла, создатель файла, пароль для доступа к файлу, информация о разрешен ном доступе к файлу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1959603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790385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Пользователь может получать доступ к атрибутам с помощью средств, предоставленных для этих целей файловой системой </a:t>
            </a:r>
          </a:p>
          <a:p>
            <a:pPr marL="0" indent="0">
              <a:buNone/>
            </a:pPr>
            <a:r>
              <a:rPr lang="ru-RU" dirty="0">
                <a:latin typeface="Cambria" panose="02040503050406030204" pitchFamily="18" charset="0"/>
                <a:ea typeface="Cambria" panose="02040503050406030204" pitchFamily="18" charset="0"/>
              </a:rPr>
              <a:t>Обычно разрешается читать значения любых атрибутов, а изменять – только некоторые</a:t>
            </a:r>
          </a:p>
          <a:p>
            <a:pPr marL="0" indent="0">
              <a:buNone/>
            </a:pPr>
            <a:r>
              <a:rPr lang="ru-RU" dirty="0">
                <a:latin typeface="Cambria" panose="02040503050406030204" pitchFamily="18" charset="0"/>
                <a:ea typeface="Cambria" panose="02040503050406030204" pitchFamily="18" charset="0"/>
              </a:rPr>
              <a:t>Например, пользователь может изменить права доступа к файлу (при условии, что он обладает необходимыми для этого полномочиями), но изменять дату создания или текущий размер файла ему не разрешается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36272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Значения атрибутов файлов могут непосредственно содержаться в каталогах, как это было сделано в файловой системе MS-DOS. На рисунке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представлена структура записи в каталоге, содержащая простое символьное имя и атрибуты файла</a:t>
            </a:r>
          </a:p>
          <a:p>
            <a:pPr marL="0" indent="0">
              <a:buNone/>
            </a:pPr>
            <a:r>
              <a:rPr lang="ru-RU" dirty="0">
                <a:latin typeface="Cambria" panose="02040503050406030204" pitchFamily="18" charset="0"/>
                <a:ea typeface="Cambria" panose="02040503050406030204" pitchFamily="18" charset="0"/>
              </a:rPr>
              <a:t>Здесь буквами обозначены признаки файла: R – только для чтения, А – архивный, </a:t>
            </a:r>
            <a:r>
              <a:rPr lang="en-US" dirty="0">
                <a:latin typeface="Cambria" panose="02040503050406030204" pitchFamily="18" charset="0"/>
                <a:ea typeface="Cambria" panose="02040503050406030204" pitchFamily="18" charset="0"/>
              </a:rPr>
              <a:t>H</a:t>
            </a:r>
            <a:r>
              <a:rPr lang="ru-RU" dirty="0">
                <a:latin typeface="Cambria" panose="02040503050406030204" pitchFamily="18" charset="0"/>
                <a:ea typeface="Cambria" panose="02040503050406030204" pitchFamily="18" charset="0"/>
              </a:rPr>
              <a:t> – скрытый, S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системный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1A1B84D-9576-AC3E-AC7C-56D0E6D47B75}"/>
              </a:ext>
            </a:extLst>
          </p:cNvPr>
          <p:cNvPicPr>
            <a:picLocks noChangeAspect="1"/>
          </p:cNvPicPr>
          <p:nvPr/>
        </p:nvPicPr>
        <p:blipFill>
          <a:blip r:embed="rId2"/>
          <a:stretch>
            <a:fillRect/>
          </a:stretch>
        </p:blipFill>
        <p:spPr>
          <a:xfrm>
            <a:off x="2498787" y="4431086"/>
            <a:ext cx="7153275" cy="2352675"/>
          </a:xfrm>
          <a:prstGeom prst="rect">
            <a:avLst/>
          </a:prstGeom>
        </p:spPr>
      </p:pic>
    </p:spTree>
    <p:extLst>
      <p:ext uri="{BB962C8B-B14F-4D97-AF65-F5344CB8AC3E}">
        <p14:creationId xmlns:p14="http://schemas.microsoft.com/office/powerpoint/2010/main" val="84382996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вариантом является размещение атрибутов в специальных таблицах,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когда в каталогах содержатся только ссылки на эти таблицы</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Такой подход реализован, например, в файловой системе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ОС Unix. В этой файловой системе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структура каталога очень простая. Запись о каждом файле содержит короткое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символьное имя файла и указатель на </a:t>
            </a:r>
            <a:r>
              <a:rPr lang="ru-RU" b="1" dirty="0">
                <a:latin typeface="Cambria" panose="02040503050406030204" pitchFamily="18" charset="0"/>
                <a:ea typeface="Cambria" panose="02040503050406030204" pitchFamily="18" charset="0"/>
              </a:rPr>
              <a:t>индексный дескриптор файла</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inode</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так называется в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таблица, в которой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сосредоточены значения атрибутов 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Picture 4">
            <a:extLst>
              <a:ext uri="{FF2B5EF4-FFF2-40B4-BE49-F238E27FC236}">
                <a16:creationId xmlns:a16="http://schemas.microsoft.com/office/drawing/2014/main" id="{AE626A47-6431-DD5F-8A8D-0D3AAB0DB115}"/>
              </a:ext>
            </a:extLst>
          </p:cNvPr>
          <p:cNvPicPr>
            <a:picLocks noChangeAspect="1"/>
          </p:cNvPicPr>
          <p:nvPr/>
        </p:nvPicPr>
        <p:blipFill>
          <a:blip r:embed="rId2"/>
          <a:stretch>
            <a:fillRect/>
          </a:stretch>
        </p:blipFill>
        <p:spPr>
          <a:xfrm>
            <a:off x="2486025" y="5223003"/>
            <a:ext cx="7219950" cy="1381125"/>
          </a:xfrm>
          <a:prstGeom prst="rect">
            <a:avLst/>
          </a:prstGeom>
        </p:spPr>
      </p:pic>
    </p:spTree>
    <p:extLst>
      <p:ext uri="{BB962C8B-B14F-4D97-AF65-F5344CB8AC3E}">
        <p14:creationId xmlns:p14="http://schemas.microsoft.com/office/powerpoint/2010/main" val="25164745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том и другом вариантах каталоги обеспечивают связь между именами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файлов и собственно файлами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Однако подход, когда имя файла отделено от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его атрибутов, делает систему более гибкой</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Например, файл может быть легко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включен сразу в несколько каталогов. Записи об этом файле в разных каталогах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могут содержать разные простые имена, но в поле ссылки будет указан один</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тот же номер индексного дескриптора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5777477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В общем случае данные, содержащиеся в файле, имеют некую </a:t>
            </a:r>
            <a:r>
              <a:rPr lang="ru-RU" b="1" i="1" dirty="0">
                <a:latin typeface="Cambria" panose="02040503050406030204" pitchFamily="18" charset="0"/>
                <a:ea typeface="Cambria" panose="02040503050406030204" pitchFamily="18" charset="0"/>
              </a:rPr>
              <a:t>логическую структуру</a:t>
            </a:r>
            <a:r>
              <a:rPr lang="ru-RU" dirty="0">
                <a:latin typeface="Cambria" panose="02040503050406030204" pitchFamily="18" charset="0"/>
                <a:ea typeface="Cambria" panose="02040503050406030204" pitchFamily="18" charset="0"/>
              </a:rPr>
              <a:t>. Эта структура является базой при разработке программы, предназначенной для обработки этих данных</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Например, чтобы текст мог быть правильно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выведен на экран, программа должна иметь возможность выделить отдельные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слова, строки, абзацы и т. д. Признаками, отделяющими один структурный элемент от другого, могут служить определенные кодовые последовательности или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просто известные программе значения смещений этих структурных элементов относительно начала файла</a:t>
            </a:r>
          </a:p>
          <a:p>
            <a:pPr marL="0" indent="0">
              <a:buNone/>
            </a:pPr>
            <a:r>
              <a:rPr lang="ru-RU" dirty="0">
                <a:latin typeface="Cambria" panose="02040503050406030204" pitchFamily="18" charset="0"/>
                <a:ea typeface="Cambria" panose="02040503050406030204" pitchFamily="18" charset="0"/>
              </a:rPr>
              <a:t>Поддержание структуры данных может быть либо целиком возложено на приложение, либо в той или иной степени эту работу может взять на себя файловая система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6028626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587779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первом случае, когда все действия, связанные со структуризацией и интерпретацией содержимого файла, целиком относятся к ведению приложения, файл представляется ФС </a:t>
            </a:r>
            <a:r>
              <a:rPr lang="ru-RU" b="1" i="1" dirty="0">
                <a:latin typeface="Cambria" panose="02040503050406030204" pitchFamily="18" charset="0"/>
                <a:ea typeface="Cambria" panose="02040503050406030204" pitchFamily="18" charset="0"/>
              </a:rPr>
              <a:t>неструктурированной </a:t>
            </a:r>
            <a:r>
              <a:rPr lang="ru-RU" dirty="0">
                <a:latin typeface="Cambria" panose="02040503050406030204" pitchFamily="18" charset="0"/>
                <a:ea typeface="Cambria" panose="02040503050406030204" pitchFamily="18" charset="0"/>
              </a:rPr>
              <a:t>последовательностью данных</a:t>
            </a:r>
          </a:p>
          <a:p>
            <a:pPr marL="0" indent="0">
              <a:buNone/>
            </a:pPr>
            <a:r>
              <a:rPr lang="ru-RU" dirty="0">
                <a:latin typeface="Cambria" panose="02040503050406030204" pitchFamily="18" charset="0"/>
                <a:ea typeface="Cambria" panose="02040503050406030204" pitchFamily="18" charset="0"/>
              </a:rPr>
              <a:t>Приложение формулирует запросы к файловой системе на ввод-вывод, используя общие для всех приложений системные средства, например, указывая смещение от начала файла и количество байтов, которые необходимо считать или записать</a:t>
            </a:r>
          </a:p>
          <a:p>
            <a:pPr marL="0" indent="0">
              <a:buNone/>
            </a:pPr>
            <a:r>
              <a:rPr lang="ru-RU" dirty="0">
                <a:latin typeface="Cambria" panose="02040503050406030204" pitchFamily="18" charset="0"/>
                <a:ea typeface="Cambria" panose="02040503050406030204" pitchFamily="18" charset="0"/>
              </a:rPr>
              <a:t>Поступивший к приложению поток байтов интерпретируется в соответствии с заложенной в программе логикой</a:t>
            </a:r>
          </a:p>
          <a:p>
            <a:pPr marL="0" indent="0">
              <a:buNone/>
            </a:pPr>
            <a:r>
              <a:rPr lang="ru-RU" dirty="0">
                <a:latin typeface="Cambria" panose="02040503050406030204" pitchFamily="18" charset="0"/>
                <a:ea typeface="Cambria" panose="02040503050406030204" pitchFamily="18" charset="0"/>
              </a:rPr>
              <a:t>Подчеркнем, что интерпретация данных никак не связана с действительным способом их хранения в файловой системе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99223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Модель файла, в соответствии с которой содержимое файла представляется неструктурированной последовательностью (потоком) байтов, стала популярной вместе с ОС Unix, а теперь она широко используется и в большинстве современных ОС, в том числе во всех версиях ОС Windows и </a:t>
            </a:r>
            <a:r>
              <a:rPr lang="ru-RU" dirty="0" err="1">
                <a:latin typeface="Cambria" panose="02040503050406030204" pitchFamily="18" charset="0"/>
                <a:ea typeface="Cambria" panose="02040503050406030204" pitchFamily="18" charset="0"/>
              </a:rPr>
              <a:t>NetWare</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Неструктурированная модель файла позволяет легко организовать разделение файла между несколькими приложениями: разные приложения могут по-своему структурировать и интерпретировать данные, содержащиеся в файле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1393570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Другая модель файла, которая применялась в ОС OS/360, DEC RSX и VMS, а в настоящее время используется достаточно редко, – это </a:t>
            </a:r>
            <a:r>
              <a:rPr lang="ru-RU" b="1" i="1" dirty="0">
                <a:latin typeface="Cambria" panose="02040503050406030204" pitchFamily="18" charset="0"/>
                <a:ea typeface="Cambria" panose="02040503050406030204" pitchFamily="18" charset="0"/>
              </a:rPr>
              <a:t>структурированный</a:t>
            </a:r>
            <a:r>
              <a:rPr lang="ru-RU" dirty="0">
                <a:latin typeface="Cambria" panose="02040503050406030204" pitchFamily="18" charset="0"/>
                <a:ea typeface="Cambria" panose="02040503050406030204" pitchFamily="18" charset="0"/>
              </a:rPr>
              <a:t> файл</a:t>
            </a:r>
          </a:p>
          <a:p>
            <a:pPr marL="0" indent="0">
              <a:buNone/>
            </a:pPr>
            <a:r>
              <a:rPr lang="ru-RU" dirty="0">
                <a:latin typeface="Cambria" panose="02040503050406030204" pitchFamily="18" charset="0"/>
                <a:ea typeface="Cambria" panose="02040503050406030204" pitchFamily="18" charset="0"/>
              </a:rPr>
              <a:t>В этом случае поддержание структуры файла поручается файловой системе. Файловая система видит файл как упорядоченную последовательность </a:t>
            </a:r>
            <a:r>
              <a:rPr lang="ru-RU" b="1" dirty="0">
                <a:latin typeface="Cambria" panose="02040503050406030204" pitchFamily="18" charset="0"/>
                <a:ea typeface="Cambria" panose="02040503050406030204" pitchFamily="18" charset="0"/>
              </a:rPr>
              <a:t>логических записей</a:t>
            </a:r>
          </a:p>
          <a:p>
            <a:pPr marL="0" indent="0">
              <a:buNone/>
            </a:pPr>
            <a:r>
              <a:rPr lang="ru-RU" dirty="0">
                <a:latin typeface="Cambria" panose="02040503050406030204" pitchFamily="18" charset="0"/>
                <a:ea typeface="Cambria" panose="02040503050406030204" pitchFamily="18" charset="0"/>
              </a:rPr>
              <a:t>Приложение может обращаться к ФС с запросами на ввод-вывод на уровне записей, например, «считать запись 25 из файла FILE.DOC». Файловая система должна обладать информацией о структуре файла, достаточной для того, чтобы выделить любую запись. ФС предоставляет приложению доступ к записи, а вся дальнейшая обработка данных, содержащихся в этой записи, выполняется приложением</a:t>
            </a:r>
          </a:p>
          <a:p>
            <a:pPr marL="0" indent="0">
              <a:buNone/>
            </a:pPr>
            <a:r>
              <a:rPr lang="ru-RU" dirty="0">
                <a:latin typeface="Cambria" panose="02040503050406030204" pitchFamily="18" charset="0"/>
                <a:ea typeface="Cambria" panose="02040503050406030204" pitchFamily="18" charset="0"/>
              </a:rPr>
              <a:t>Развитием этого подхода стали системы управления базами данных (СУБД), которые поддерживают не только сложную структуру данных, но и взаимосвязи между ними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969952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Логическая запись </a:t>
            </a:r>
            <a:r>
              <a:rPr lang="ru-RU" dirty="0">
                <a:latin typeface="Cambria" panose="02040503050406030204" pitchFamily="18" charset="0"/>
                <a:ea typeface="Cambria" panose="02040503050406030204" pitchFamily="18" charset="0"/>
              </a:rPr>
              <a:t>является наименьшим элементом данных, которым может оперировать программист при организации обмена с внешним устройством</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Даже если физический обмен с устройством осуществляется большими единицами, операционная система должна обеспечивать программисту доступ</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 отдельной логической записи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Файловая система может использовать два способа доступа к логическим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записям: читать или записывать логические записи последовательно (</a:t>
            </a:r>
            <a:r>
              <a:rPr lang="ru-RU" b="1" dirty="0">
                <a:latin typeface="Cambria" panose="02040503050406030204" pitchFamily="18" charset="0"/>
                <a:ea typeface="Cambria" panose="02040503050406030204" pitchFamily="18" charset="0"/>
              </a:rPr>
              <a:t>последовательный доступ</a:t>
            </a:r>
            <a:r>
              <a:rPr lang="ru-RU" dirty="0">
                <a:latin typeface="Cambria" panose="02040503050406030204" pitchFamily="18" charset="0"/>
                <a:ea typeface="Cambria" panose="02040503050406030204" pitchFamily="18" charset="0"/>
              </a:rPr>
              <a:t>) или позиционировать файл на запись с указанным номером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прямой доступ</a:t>
            </a:r>
            <a:r>
              <a:rPr lang="ru-RU" dirty="0">
                <a:latin typeface="Cambria" panose="02040503050406030204" pitchFamily="18" charset="0"/>
                <a:ea typeface="Cambria" panose="02040503050406030204" pitchFamily="18" charset="0"/>
              </a:rPr>
              <a:t>)</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548775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Очевидно, что ОС не может поддерживать все возможные способы структурирования данных в файле, поэтому в тех ОС, в которых вообще поддерживается логическая структуризация файлов, поддержка реализована для небольшого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числа широко распространенных схем логической организации файла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К числу таких способов структуризации относится представление данных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виде </a:t>
            </a:r>
            <a:r>
              <a:rPr lang="ru-RU" b="1" dirty="0">
                <a:latin typeface="Cambria" panose="02040503050406030204" pitchFamily="18" charset="0"/>
                <a:ea typeface="Cambria" panose="02040503050406030204" pitchFamily="18" charset="0"/>
              </a:rPr>
              <a:t>записей фиксированной длины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а). В этом случае доступ к </a:t>
            </a:r>
            <a:r>
              <a:rPr lang="en-US"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записи осуществляется либо путем последовательного чтения (</a:t>
            </a:r>
            <a:r>
              <a:rPr lang="en-US"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 - 1) предшествующих записей, либо прямо по адресу, вычисленному по ее порядковому номеру</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Например, если </a:t>
            </a:r>
            <a:r>
              <a:rPr lang="en-US" dirty="0">
                <a:latin typeface="Cambria" panose="02040503050406030204" pitchFamily="18" charset="0"/>
                <a:ea typeface="Cambria" panose="02040503050406030204" pitchFamily="18" charset="0"/>
              </a:rPr>
              <a:t>L</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длина записи, то начальный адрес </a:t>
            </a:r>
            <a:r>
              <a:rPr lang="en-US"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-й записи равен</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L</a:t>
            </a:r>
            <a:r>
              <a:rPr lang="en-US"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 Заметим, что при такой логической организации размер записи фиксирован в пределах файла, а записи в различных файлах, принадлежащих одной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той же файловой системе, могут иметь различный размер</a:t>
            </a:r>
            <a:endParaRPr lang="en-US"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287887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AAAD80-6B96-28E7-0153-CD45BEF8193F}"/>
              </a:ext>
            </a:extLst>
          </p:cNvPr>
          <p:cNvPicPr>
            <a:picLocks noChangeAspect="1"/>
          </p:cNvPicPr>
          <p:nvPr/>
        </p:nvPicPr>
        <p:blipFill>
          <a:blip r:embed="rId2"/>
          <a:stretch>
            <a:fillRect/>
          </a:stretch>
        </p:blipFill>
        <p:spPr>
          <a:xfrm>
            <a:off x="2378283" y="0"/>
            <a:ext cx="7435433" cy="6858000"/>
          </a:xfrm>
          <a:prstGeom prst="rect">
            <a:avLst/>
          </a:prstGeom>
        </p:spPr>
      </p:pic>
    </p:spTree>
    <p:extLst>
      <p:ext uri="{BB962C8B-B14F-4D97-AF65-F5344CB8AC3E}">
        <p14:creationId xmlns:p14="http://schemas.microsoft.com/office/powerpoint/2010/main" val="178389341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Другой способ структуризации состоит в представлении данных в виде </a:t>
            </a:r>
            <a:r>
              <a:rPr lang="ru-RU" b="1" dirty="0">
                <a:latin typeface="Cambria" panose="02040503050406030204" pitchFamily="18" charset="0"/>
                <a:ea typeface="Cambria" panose="02040503050406030204" pitchFamily="18" charset="0"/>
              </a:rPr>
              <a:t>последовательности записей переменного размера</a:t>
            </a:r>
            <a:r>
              <a:rPr lang="ru-RU" dirty="0">
                <a:latin typeface="Cambria" panose="02040503050406030204" pitchFamily="18" charset="0"/>
                <a:ea typeface="Cambria" panose="02040503050406030204" pitchFamily="18" charset="0"/>
              </a:rPr>
              <a:t>. Если расположить значения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длин записей так, как это показано на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рисунке (б), то для поиска нужной записи система должна последовательно считать все предшествующие записи</a:t>
            </a:r>
          </a:p>
          <a:p>
            <a:pPr marL="0" indent="0">
              <a:buNone/>
            </a:pPr>
            <a:r>
              <a:rPr lang="ru-RU" dirty="0">
                <a:latin typeface="Cambria" panose="02040503050406030204" pitchFamily="18" charset="0"/>
                <a:ea typeface="Cambria" panose="02040503050406030204" pitchFamily="18" charset="0"/>
              </a:rPr>
              <a:t>Вычислить адрес нужной записи по ее номеру при такой логической организации файла невозможно, а следовательно, не может быть применен более эффективный метод прямого доступа</a:t>
            </a:r>
          </a:p>
          <a:p>
            <a:pPr marL="0" indent="0">
              <a:buNone/>
            </a:pPr>
            <a:r>
              <a:rPr lang="ru-RU" dirty="0">
                <a:latin typeface="Cambria" panose="02040503050406030204" pitchFamily="18" charset="0"/>
                <a:ea typeface="Cambria" panose="02040503050406030204" pitchFamily="18" charset="0"/>
              </a:rPr>
              <a:t>Файлы, доступ к записям которых осуществляется последовательно, по номерам позиций, называются </a:t>
            </a:r>
            <a:r>
              <a:rPr lang="ru-RU" b="1" dirty="0">
                <a:latin typeface="Cambria" panose="02040503050406030204" pitchFamily="18" charset="0"/>
                <a:ea typeface="Cambria" panose="02040503050406030204" pitchFamily="18" charset="0"/>
              </a:rPr>
              <a:t>неиндексированными</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последовательными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файлами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091919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Другим типом файлов являются </a:t>
            </a:r>
            <a:r>
              <a:rPr lang="ru-RU" b="1" dirty="0">
                <a:latin typeface="Cambria" panose="02040503050406030204" pitchFamily="18" charset="0"/>
                <a:ea typeface="Cambria" panose="02040503050406030204" pitchFamily="18" charset="0"/>
              </a:rPr>
              <a:t>индексированные файлы</a:t>
            </a:r>
            <a:r>
              <a:rPr lang="ru-RU" dirty="0">
                <a:latin typeface="Cambria" panose="02040503050406030204" pitchFamily="18" charset="0"/>
                <a:ea typeface="Cambria" panose="02040503050406030204" pitchFamily="18" charset="0"/>
              </a:rPr>
              <a:t>; они допускают более быстрый прямой доступ к отдельной логической записи. В индексированном файле (в) записи имеют одно или более ключевых (индексных) полей и могут адресоваться путем указания значений этих полей</a:t>
            </a:r>
          </a:p>
          <a:p>
            <a:pPr marL="0" indent="0">
              <a:buNone/>
            </a:pPr>
            <a:r>
              <a:rPr lang="ru-RU" dirty="0">
                <a:latin typeface="Cambria" panose="02040503050406030204" pitchFamily="18" charset="0"/>
                <a:ea typeface="Cambria" panose="02040503050406030204" pitchFamily="18" charset="0"/>
              </a:rPr>
              <a:t>Для быстрого поиска данных в индексированном файле предусматривается специальная индексная таблица, в которой значениям ключевых полей ставится в соответствие адрес внешней памяти. Этот адрес может указывать либо непосредственно на искомую запись, либо на некоторую область внешней памяти, занимаемую не сколькими записями, в число которых входит искомая запись</a:t>
            </a:r>
          </a:p>
          <a:p>
            <a:pPr marL="0" indent="0">
              <a:buNone/>
            </a:pPr>
            <a:r>
              <a:rPr lang="ru-RU" dirty="0">
                <a:latin typeface="Cambria" panose="02040503050406030204" pitchFamily="18" charset="0"/>
                <a:ea typeface="Cambria" panose="02040503050406030204" pitchFamily="18" charset="0"/>
              </a:rPr>
              <a:t>В последнем случае говорят, что файл имеет </a:t>
            </a:r>
            <a:r>
              <a:rPr lang="ru-RU" b="1" dirty="0">
                <a:latin typeface="Cambria" panose="02040503050406030204" pitchFamily="18" charset="0"/>
                <a:ea typeface="Cambria" panose="02040503050406030204" pitchFamily="18" charset="0"/>
              </a:rPr>
              <a:t>индексно-последовательную</a:t>
            </a:r>
            <a:r>
              <a:rPr lang="ru-RU" dirty="0">
                <a:latin typeface="Cambria" panose="02040503050406030204" pitchFamily="18" charset="0"/>
                <a:ea typeface="Cambria" panose="02040503050406030204" pitchFamily="18" charset="0"/>
              </a:rPr>
              <a:t> организацию, так как поиск включает два этапа: прямой доступ по индексу к указанной облаете диска, а затем последовательный просмотр записей в указанной области. Ведение индексных таблиц берет на себя файловая система. Понятно, что записи в индексированных файлах могут иметь произвольную длину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169353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Все сказанное в большей степени относится к обычным файлам, которые могут быть как структурированными, так и неструктурированными. Что же касается других типов файлов, таких как каталоги или файлы типа «символьная связь», то они обладают вполне определенной специфической для своего типа структурой, которая известна и «понятна» файловой системе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7711318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013068" y="3635622"/>
            <a:ext cx="816586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Функции операционной системы по управлению файлами и устройствами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2"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2"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a:t>
            </a:r>
            <a:r>
              <a:rPr lang="ru-RU" sz="2800" dirty="0">
                <a:latin typeface="Cambria" panose="02040503050406030204" pitchFamily="18" charset="0"/>
                <a:ea typeface="Cambria" panose="02040503050406030204" pitchFamily="18" charset="0"/>
              </a:rPr>
              <a:t>5</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095198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38025</TotalTime>
  <Words>9680</Words>
  <Application>Microsoft Office PowerPoint</Application>
  <PresentationFormat>Widescreen</PresentationFormat>
  <Paragraphs>508</Paragraphs>
  <Slides>121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121</vt:i4>
      </vt:variant>
    </vt:vector>
  </HeadingPairs>
  <TitlesOfParts>
    <vt:vector size="128"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1760</cp:revision>
  <cp:lastPrinted>2025-11-01T06:17:20Z</cp:lastPrinted>
  <dcterms:created xsi:type="dcterms:W3CDTF">2024-09-04T11:03:42Z</dcterms:created>
  <dcterms:modified xsi:type="dcterms:W3CDTF">2025-12-22T06:55:38Z</dcterms:modified>
</cp:coreProperties>
</file>